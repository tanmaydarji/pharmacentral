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0"/>
  </p:notesMasterIdLst>
  <p:sldIdLst>
    <p:sldId id="278" r:id="rId2"/>
    <p:sldId id="257" r:id="rId3"/>
    <p:sldId id="329" r:id="rId4"/>
    <p:sldId id="258" r:id="rId5"/>
    <p:sldId id="259" r:id="rId6"/>
    <p:sldId id="330" r:id="rId7"/>
    <p:sldId id="331" r:id="rId8"/>
    <p:sldId id="332" r:id="rId9"/>
    <p:sldId id="260" r:id="rId10"/>
    <p:sldId id="261" r:id="rId11"/>
    <p:sldId id="262" r:id="rId12"/>
    <p:sldId id="263" r:id="rId13"/>
    <p:sldId id="333" r:id="rId14"/>
    <p:sldId id="334" r:id="rId15"/>
    <p:sldId id="335" r:id="rId16"/>
    <p:sldId id="264" r:id="rId17"/>
    <p:sldId id="265" r:id="rId18"/>
    <p:sldId id="275" r:id="rId19"/>
    <p:sldId id="276" r:id="rId20"/>
    <p:sldId id="277" r:id="rId21"/>
    <p:sldId id="336" r:id="rId22"/>
    <p:sldId id="267" r:id="rId23"/>
    <p:sldId id="268" r:id="rId24"/>
    <p:sldId id="304" r:id="rId25"/>
    <p:sldId id="305" r:id="rId26"/>
    <p:sldId id="306" r:id="rId27"/>
    <p:sldId id="269" r:id="rId28"/>
    <p:sldId id="270" r:id="rId29"/>
    <p:sldId id="271" r:id="rId30"/>
    <p:sldId id="272" r:id="rId31"/>
    <p:sldId id="273" r:id="rId32"/>
    <p:sldId id="274" r:id="rId33"/>
    <p:sldId id="279" r:id="rId34"/>
    <p:sldId id="281" r:id="rId35"/>
    <p:sldId id="282" r:id="rId36"/>
    <p:sldId id="285" r:id="rId37"/>
    <p:sldId id="286" r:id="rId38"/>
    <p:sldId id="287" r:id="rId39"/>
    <p:sldId id="288" r:id="rId40"/>
    <p:sldId id="289" r:id="rId41"/>
    <p:sldId id="290" r:id="rId42"/>
    <p:sldId id="291" r:id="rId43"/>
    <p:sldId id="293" r:id="rId44"/>
    <p:sldId id="294" r:id="rId45"/>
    <p:sldId id="295" r:id="rId46"/>
    <p:sldId id="296" r:id="rId47"/>
    <p:sldId id="297" r:id="rId48"/>
    <p:sldId id="298" r:id="rId49"/>
    <p:sldId id="299" r:id="rId50"/>
    <p:sldId id="300" r:id="rId51"/>
    <p:sldId id="301" r:id="rId52"/>
    <p:sldId id="302" r:id="rId53"/>
    <p:sldId id="303" r:id="rId54"/>
    <p:sldId id="307" r:id="rId55"/>
    <p:sldId id="308"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37" r:id="rId69"/>
    <p:sldId id="338" r:id="rId70"/>
    <p:sldId id="339" r:id="rId71"/>
    <p:sldId id="322" r:id="rId72"/>
    <p:sldId id="323" r:id="rId73"/>
    <p:sldId id="324" r:id="rId74"/>
    <p:sldId id="325" r:id="rId75"/>
    <p:sldId id="326" r:id="rId76"/>
    <p:sldId id="327" r:id="rId77"/>
    <p:sldId id="328" r:id="rId78"/>
    <p:sldId id="292"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CBC364-0904-4896-BAEE-D62638E7F90F}"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D09693-55A8-4A73-9D36-8AA942A4C1D6}" type="slidenum">
              <a:rPr lang="en-IN" smtClean="0"/>
              <a:t>‹#›</a:t>
            </a:fld>
            <a:endParaRPr lang="en-IN"/>
          </a:p>
        </p:txBody>
      </p:sp>
    </p:spTree>
    <p:extLst>
      <p:ext uri="{BB962C8B-B14F-4D97-AF65-F5344CB8AC3E}">
        <p14:creationId xmlns:p14="http://schemas.microsoft.com/office/powerpoint/2010/main" val="1805549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abebb1548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37abebb1548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ED09693-55A8-4A73-9D36-8AA942A4C1D6}" type="slidenum">
              <a:rPr lang="en-IN" smtClean="0"/>
              <a:t>17</a:t>
            </a:fld>
            <a:endParaRPr lang="en-IN"/>
          </a:p>
        </p:txBody>
      </p:sp>
    </p:spTree>
    <p:extLst>
      <p:ext uri="{BB962C8B-B14F-4D97-AF65-F5344CB8AC3E}">
        <p14:creationId xmlns:p14="http://schemas.microsoft.com/office/powerpoint/2010/main" val="1152182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3D6CF-BD07-69DC-7E36-75E67F5B39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E1C8653-08D4-2C37-01D8-132D3CCB6A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8937C0-4AFB-58B1-9C1C-59BC0961596E}"/>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7B3AE859-1970-76EB-2CC1-1CCCC734E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7B9F29-7C4B-7A0B-156A-A2E222B43708}"/>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213026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213AB-F1D4-F4BE-97A2-09823CB18F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D6E077-34BA-3A2F-E2EC-ED84F2C6B8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6F5A83-6DD3-577F-254C-5676D7E34207}"/>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ADBD2881-B3FA-EAF0-0295-34FBB2F4A1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409BFD-D0CB-C18B-5307-EC47B5E3A0A6}"/>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605804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B7809-2846-584A-8CE3-4D7F92FDE0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7D9A61-21E2-3CBD-8408-61BA6E4B85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63C3D9-4C8A-3D51-FD52-6F7AE943D2AB}"/>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15A7196D-0831-C663-F577-B924D242DC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65F231-8499-2454-CE73-553ED55456F7}"/>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312091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AF89-5D04-7077-91E7-D381893E8F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2B550B-8AC6-85B4-7681-B864E426B2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F02A3D-206E-A3E0-B1E4-330BF57CBE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9FF70C-7522-2CFC-8870-B450436CC00F}"/>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6" name="Footer Placeholder 5">
            <a:extLst>
              <a:ext uri="{FF2B5EF4-FFF2-40B4-BE49-F238E27FC236}">
                <a16:creationId xmlns:a16="http://schemas.microsoft.com/office/drawing/2014/main" id="{F1B6347E-BF7C-C0CA-D4EC-70F5E38613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48EF44-81FC-CE90-8623-0B1940B5E849}"/>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2864606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4AD9D-74F4-8300-D08E-6067AF6FB5D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F99E95-6415-4072-8ACB-CAF22E47E7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12907A-E8AC-304B-F724-000B794F63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6418D5-8F8D-C722-791D-EC12B95877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042042-AEC3-5A50-8138-35EE9C1778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0688D94-0933-6075-BFB2-53A0A6948560}"/>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8" name="Footer Placeholder 7">
            <a:extLst>
              <a:ext uri="{FF2B5EF4-FFF2-40B4-BE49-F238E27FC236}">
                <a16:creationId xmlns:a16="http://schemas.microsoft.com/office/drawing/2014/main" id="{7FFBBE58-1BFB-9CAA-BCF3-BF322BD6DAB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DF499A-1BBF-2814-E3EC-0347038A6D79}"/>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9102822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098DF-3665-0073-677A-5E429498AA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4852BD-6FD2-6536-4456-02CCC850571B}"/>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4" name="Footer Placeholder 3">
            <a:extLst>
              <a:ext uri="{FF2B5EF4-FFF2-40B4-BE49-F238E27FC236}">
                <a16:creationId xmlns:a16="http://schemas.microsoft.com/office/drawing/2014/main" id="{D873654E-D908-07A7-815A-340BCA7721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C4FF54-421B-0FAB-1475-C0E315042D72}"/>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603637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35E9E-51AC-CEBB-D700-3109A9AF1568}"/>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3" name="Footer Placeholder 2">
            <a:extLst>
              <a:ext uri="{FF2B5EF4-FFF2-40B4-BE49-F238E27FC236}">
                <a16:creationId xmlns:a16="http://schemas.microsoft.com/office/drawing/2014/main" id="{18D25CF4-851B-8D08-F1C5-929AE1C3E7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DBB05C3-35A3-32D4-7117-F137D417315B}"/>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640765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B73D2-ADC8-83B9-59AA-6423562272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AFEE8D-4341-8629-C59D-FB15FB0FA0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CFBCCD-D796-E4F0-BA5C-072F4FDE9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D57D02-37B1-F470-A632-A73BA662064B}"/>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6" name="Footer Placeholder 5">
            <a:extLst>
              <a:ext uri="{FF2B5EF4-FFF2-40B4-BE49-F238E27FC236}">
                <a16:creationId xmlns:a16="http://schemas.microsoft.com/office/drawing/2014/main" id="{FB6A8BC4-C148-27A3-1523-E845DF53A0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88331D-E7EB-6D2E-3FFD-9BF382FC661E}"/>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139459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4F78-F3D5-14ED-AB8D-4435159E48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4F28AC-1E55-C922-1FB1-91CB85DEE4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27D9606-EF62-3645-B5CF-FFD1968E4C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089C10-B0A8-B68A-BD2B-FE856AE14E88}"/>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6" name="Footer Placeholder 5">
            <a:extLst>
              <a:ext uri="{FF2B5EF4-FFF2-40B4-BE49-F238E27FC236}">
                <a16:creationId xmlns:a16="http://schemas.microsoft.com/office/drawing/2014/main" id="{9615D8F8-7F33-0587-4F70-6B28ADC1B4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62BC3B-A634-8320-EB4F-715B25F1969D}"/>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2737265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6514B-3A9A-5B61-D527-AFCE86F8FA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37F866F-8D90-E941-B218-30A8EBBFCA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3CA0CE-2D03-55DB-625E-9F79E4F05F5E}"/>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1ADFE020-EF38-3C84-3DD1-C847AFAF49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5B1492-2178-07AF-E402-39B811AD38DF}"/>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2007510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9A1982-0304-23C4-7006-6CB65D4413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2A394B-60C7-E277-FD13-49F07C6CCB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8E0517-8145-6715-CACD-526929AEA1E3}"/>
              </a:ext>
            </a:extLst>
          </p:cNvPr>
          <p:cNvSpPr>
            <a:spLocks noGrp="1"/>
          </p:cNvSpPr>
          <p:nvPr>
            <p:ph type="dt" sz="half" idx="10"/>
          </p:nvPr>
        </p:nvSpPr>
        <p:spPr/>
        <p:txBody>
          <a:body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1186CD86-94CA-6122-94A3-C237560DD1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0CE797-D9AE-1535-999E-0D5D7BF730F6}"/>
              </a:ext>
            </a:extLst>
          </p:cNvPr>
          <p:cNvSpPr>
            <a:spLocks noGrp="1"/>
          </p:cNvSpPr>
          <p:nvPr>
            <p:ph type="sldNum" sz="quarter" idx="12"/>
          </p:nvPr>
        </p:nvSpPr>
        <p:spPr/>
        <p:txBody>
          <a:bodyPr/>
          <a:lstStyle/>
          <a:p>
            <a:fld id="{248AA8F3-6B8F-4E07-9686-E72E98635C40}" type="slidenum">
              <a:rPr lang="en-IN" smtClean="0"/>
              <a:t>‹#›</a:t>
            </a:fld>
            <a:endParaRPr lang="en-IN"/>
          </a:p>
        </p:txBody>
      </p:sp>
    </p:spTree>
    <p:extLst>
      <p:ext uri="{BB962C8B-B14F-4D97-AF65-F5344CB8AC3E}">
        <p14:creationId xmlns:p14="http://schemas.microsoft.com/office/powerpoint/2010/main" val="3234666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D265F2-1226-DC24-6937-1BA91CCDF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85C473-CE65-D0DB-5C26-6A496ACE0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0B356B-AD7D-4056-FEB9-90C590463B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E230F7-5958-45E9-8C13-85438F3141FD}" type="datetimeFigureOut">
              <a:rPr lang="en-IN" smtClean="0"/>
              <a:t>09-04-2026</a:t>
            </a:fld>
            <a:endParaRPr lang="en-IN"/>
          </a:p>
        </p:txBody>
      </p:sp>
      <p:sp>
        <p:nvSpPr>
          <p:cNvPr id="5" name="Footer Placeholder 4">
            <a:extLst>
              <a:ext uri="{FF2B5EF4-FFF2-40B4-BE49-F238E27FC236}">
                <a16:creationId xmlns:a16="http://schemas.microsoft.com/office/drawing/2014/main" id="{7671F3CF-FA37-58C4-2C06-14F094FB3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D00274-290C-87B0-AA32-30700B1D1B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A8F3-6B8F-4E07-9686-E72E98635C40}" type="slidenum">
              <a:rPr lang="en-IN" smtClean="0"/>
              <a:t>‹#›</a:t>
            </a:fld>
            <a:endParaRPr lang="en-IN"/>
          </a:p>
        </p:txBody>
      </p:sp>
    </p:spTree>
    <p:extLst>
      <p:ext uri="{BB962C8B-B14F-4D97-AF65-F5344CB8AC3E}">
        <p14:creationId xmlns:p14="http://schemas.microsoft.com/office/powerpoint/2010/main" val="3029114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213857" y="698541"/>
            <a:ext cx="6988400" cy="613210"/>
          </a:xfrm>
          <a:prstGeom prst="rect">
            <a:avLst/>
          </a:prstGeom>
          <a:noFill/>
          <a:ln>
            <a:noFill/>
          </a:ln>
        </p:spPr>
        <p:txBody>
          <a:bodyPr spcFirstLastPara="1" vert="horz" wrap="square" lIns="0" tIns="22000" rIns="0" bIns="0" rtlCol="0" anchor="t" anchorCtr="0">
            <a:spAutoFit/>
          </a:bodyPr>
          <a:lstStyle/>
          <a:p>
            <a:pPr marL="16933">
              <a:spcBef>
                <a:spcPts val="0"/>
              </a:spcBef>
              <a:buClr>
                <a:schemeClr val="dk1"/>
              </a:buClr>
              <a:buSzPts val="3200"/>
            </a:pPr>
            <a:r>
              <a:rPr lang="en" sz="4267" dirty="0">
                <a:latin typeface="Times New Roman"/>
                <a:ea typeface="Times New Roman"/>
                <a:cs typeface="Times New Roman"/>
                <a:sym typeface="Times New Roman"/>
              </a:rPr>
              <a:t>Kadi Sarva Vishwavidyalaya</a:t>
            </a:r>
            <a:endParaRPr sz="4267" dirty="0">
              <a:latin typeface="Times New Roman"/>
              <a:ea typeface="Times New Roman"/>
              <a:cs typeface="Times New Roman"/>
              <a:sym typeface="Times New Roman"/>
            </a:endParaRPr>
          </a:p>
        </p:txBody>
      </p:sp>
      <p:sp>
        <p:nvSpPr>
          <p:cNvPr id="61" name="Google Shape;61;p14"/>
          <p:cNvSpPr txBox="1"/>
          <p:nvPr/>
        </p:nvSpPr>
        <p:spPr>
          <a:xfrm>
            <a:off x="1574691" y="1492934"/>
            <a:ext cx="9370400" cy="2174201"/>
          </a:xfrm>
          <a:prstGeom prst="rect">
            <a:avLst/>
          </a:prstGeom>
          <a:noFill/>
          <a:ln>
            <a:noFill/>
          </a:ln>
        </p:spPr>
        <p:txBody>
          <a:bodyPr spcFirstLastPara="1" wrap="square" lIns="0" tIns="141367" rIns="0" bIns="0" anchor="t" anchorCtr="0">
            <a:spAutoFit/>
          </a:bodyPr>
          <a:lstStyle/>
          <a:p>
            <a:pPr marL="982109" indent="-965176">
              <a:lnSpc>
                <a:spcPct val="69700"/>
              </a:lnSpc>
            </a:pPr>
            <a:r>
              <a:rPr lang="en" sz="2667" dirty="0">
                <a:solidFill>
                  <a:schemeClr val="dk1"/>
                </a:solidFill>
                <a:latin typeface="Times New Roman"/>
                <a:ea typeface="Times New Roman"/>
                <a:cs typeface="Times New Roman"/>
                <a:sym typeface="Times New Roman"/>
              </a:rPr>
              <a:t>S.K. Patel Institute of Management &amp; Computer Studies- MCA</a:t>
            </a:r>
            <a:endParaRPr sz="2667" dirty="0">
              <a:solidFill>
                <a:schemeClr val="dk1"/>
              </a:solidFill>
              <a:latin typeface="Times New Roman"/>
              <a:ea typeface="Times New Roman"/>
              <a:cs typeface="Times New Roman"/>
              <a:sym typeface="Times New Roman"/>
            </a:endParaRPr>
          </a:p>
          <a:p>
            <a:pPr marL="1913419" marR="1811821" algn="ctr">
              <a:lnSpc>
                <a:spcPct val="119500"/>
              </a:lnSpc>
              <a:spcBef>
                <a:spcPts val="2000"/>
              </a:spcBef>
            </a:pPr>
            <a:r>
              <a:rPr lang="en" sz="2400" b="1" dirty="0">
                <a:solidFill>
                  <a:schemeClr val="dk1"/>
                </a:solidFill>
                <a:latin typeface="Times New Roman"/>
                <a:ea typeface="Times New Roman"/>
                <a:cs typeface="Times New Roman"/>
                <a:sym typeface="Times New Roman"/>
              </a:rPr>
              <a:t>MCA SEMESTER–</a:t>
            </a:r>
            <a:r>
              <a:rPr lang="en-IN" sz="2400" b="1" dirty="0">
                <a:solidFill>
                  <a:schemeClr val="dk1"/>
                </a:solidFill>
                <a:latin typeface="Times New Roman"/>
                <a:ea typeface="Times New Roman"/>
                <a:cs typeface="Times New Roman"/>
                <a:sym typeface="Times New Roman"/>
              </a:rPr>
              <a:t>IV</a:t>
            </a:r>
            <a:r>
              <a:rPr lang="en" sz="2400" b="1" dirty="0">
                <a:solidFill>
                  <a:schemeClr val="dk1"/>
                </a:solidFill>
                <a:latin typeface="Times New Roman"/>
                <a:ea typeface="Times New Roman"/>
                <a:cs typeface="Times New Roman"/>
                <a:sym typeface="Times New Roman"/>
              </a:rPr>
              <a:t> </a:t>
            </a:r>
            <a:r>
              <a:rPr lang="en-IN" sz="2400" b="1" dirty="0">
                <a:solidFill>
                  <a:schemeClr val="dk1"/>
                </a:solidFill>
                <a:latin typeface="Times New Roman"/>
                <a:ea typeface="Times New Roman"/>
                <a:cs typeface="Times New Roman"/>
                <a:sym typeface="Times New Roman"/>
              </a:rPr>
              <a:t>MCA-41</a:t>
            </a:r>
          </a:p>
          <a:p>
            <a:pPr marL="1913419" marR="1811821" algn="ctr">
              <a:lnSpc>
                <a:spcPct val="119500"/>
              </a:lnSpc>
              <a:spcBef>
                <a:spcPts val="2000"/>
              </a:spcBef>
            </a:pPr>
            <a:endParaRPr sz="2267" dirty="0">
              <a:solidFill>
                <a:schemeClr val="dk1"/>
              </a:solidFill>
              <a:latin typeface="Times New Roman"/>
              <a:ea typeface="Times New Roman"/>
              <a:cs typeface="Times New Roman"/>
              <a:sym typeface="Times New Roman"/>
            </a:endParaRPr>
          </a:p>
          <a:p>
            <a:pPr marL="101597" algn="ctr"/>
            <a:r>
              <a:rPr lang="en" sz="2400" b="1" dirty="0">
                <a:solidFill>
                  <a:schemeClr val="dk1"/>
                </a:solidFill>
                <a:latin typeface="Times New Roman"/>
                <a:ea typeface="Times New Roman"/>
                <a:cs typeface="Times New Roman"/>
                <a:sym typeface="Times New Roman"/>
              </a:rPr>
              <a:t>“</a:t>
            </a:r>
            <a:r>
              <a:rPr lang="en-IN" sz="2400" b="1" dirty="0">
                <a:solidFill>
                  <a:schemeClr val="dk1"/>
                </a:solidFill>
                <a:latin typeface="Times New Roman"/>
                <a:ea typeface="Times New Roman"/>
                <a:cs typeface="Times New Roman"/>
                <a:sym typeface="Times New Roman"/>
              </a:rPr>
              <a:t>INDUSTRY PROJECT</a:t>
            </a:r>
            <a:r>
              <a:rPr lang="en" sz="2400" b="1" dirty="0">
                <a:solidFill>
                  <a:schemeClr val="dk1"/>
                </a:solidFill>
                <a:latin typeface="Times New Roman"/>
                <a:ea typeface="Times New Roman"/>
                <a:cs typeface="Times New Roman"/>
                <a:sym typeface="Times New Roman"/>
              </a:rPr>
              <a:t>”</a:t>
            </a:r>
            <a:endParaRPr sz="2400" dirty="0">
              <a:solidFill>
                <a:schemeClr val="dk1"/>
              </a:solidFill>
              <a:latin typeface="Times New Roman"/>
              <a:ea typeface="Times New Roman"/>
              <a:cs typeface="Times New Roman"/>
              <a:sym typeface="Times New Roman"/>
            </a:endParaRPr>
          </a:p>
        </p:txBody>
      </p:sp>
      <p:sp>
        <p:nvSpPr>
          <p:cNvPr id="62" name="Google Shape;62;p14"/>
          <p:cNvSpPr txBox="1"/>
          <p:nvPr/>
        </p:nvSpPr>
        <p:spPr>
          <a:xfrm>
            <a:off x="1410800" y="4009393"/>
            <a:ext cx="9370400" cy="663429"/>
          </a:xfrm>
          <a:prstGeom prst="rect">
            <a:avLst/>
          </a:prstGeom>
          <a:noFill/>
          <a:ln>
            <a:noFill/>
          </a:ln>
        </p:spPr>
        <p:txBody>
          <a:bodyPr spcFirstLastPara="1" wrap="square" lIns="0" tIns="16933" rIns="0" bIns="0" anchor="t" anchorCtr="0">
            <a:spAutoFit/>
          </a:bodyPr>
          <a:lstStyle/>
          <a:p>
            <a:pPr marL="16933" algn="ctr"/>
            <a:r>
              <a:rPr lang="en-IN" sz="2400" b="1" dirty="0" err="1">
                <a:solidFill>
                  <a:schemeClr val="dk1"/>
                </a:solidFill>
                <a:latin typeface="Times New Roman"/>
                <a:ea typeface="Times New Roman"/>
                <a:cs typeface="Times New Roman"/>
                <a:sym typeface="Times New Roman"/>
              </a:rPr>
              <a:t>PharmaCentral</a:t>
            </a:r>
            <a:endParaRPr lang="en-IN" sz="2400" b="1" dirty="0">
              <a:solidFill>
                <a:schemeClr val="dk1"/>
              </a:solidFill>
              <a:latin typeface="Times New Roman"/>
              <a:ea typeface="Times New Roman"/>
              <a:cs typeface="Times New Roman"/>
              <a:sym typeface="Times New Roman"/>
            </a:endParaRPr>
          </a:p>
          <a:p>
            <a:pPr marL="16933" algn="ctr"/>
            <a:r>
              <a:rPr lang="en-IN" b="1" dirty="0">
                <a:solidFill>
                  <a:schemeClr val="dk1"/>
                </a:solidFill>
                <a:latin typeface="Times New Roman"/>
                <a:ea typeface="Times New Roman"/>
                <a:cs typeface="Times New Roman"/>
                <a:sym typeface="Times New Roman"/>
              </a:rPr>
              <a:t>Group No. : 60</a:t>
            </a:r>
            <a:endParaRPr b="1" dirty="0">
              <a:solidFill>
                <a:schemeClr val="dk1"/>
              </a:solidFill>
              <a:latin typeface="Times New Roman"/>
              <a:ea typeface="Times New Roman"/>
              <a:cs typeface="Times New Roman"/>
              <a:sym typeface="Times New Roman"/>
            </a:endParaRPr>
          </a:p>
        </p:txBody>
      </p:sp>
      <p:graphicFrame>
        <p:nvGraphicFramePr>
          <p:cNvPr id="63" name="Google Shape;63;p14"/>
          <p:cNvGraphicFramePr/>
          <p:nvPr>
            <p:extLst>
              <p:ext uri="{D42A27DB-BD31-4B8C-83A1-F6EECF244321}">
                <p14:modId xmlns:p14="http://schemas.microsoft.com/office/powerpoint/2010/main" val="4018792487"/>
              </p:ext>
            </p:extLst>
          </p:nvPr>
        </p:nvGraphicFramePr>
        <p:xfrm>
          <a:off x="2580838" y="4988712"/>
          <a:ext cx="7030324" cy="1368187"/>
        </p:xfrm>
        <a:graphic>
          <a:graphicData uri="http://schemas.openxmlformats.org/drawingml/2006/table">
            <a:tbl>
              <a:tblPr firstRow="1" bandRow="1">
                <a:tableStyleId>{00A15C55-8517-42AA-B614-E9B94910E393}</a:tableStyleId>
              </a:tblPr>
              <a:tblGrid>
                <a:gridCol w="2545352">
                  <a:extLst>
                    <a:ext uri="{9D8B030D-6E8A-4147-A177-3AD203B41FA5}">
                      <a16:colId xmlns:a16="http://schemas.microsoft.com/office/drawing/2014/main" val="20000"/>
                    </a:ext>
                  </a:extLst>
                </a:gridCol>
                <a:gridCol w="2582680">
                  <a:extLst>
                    <a:ext uri="{9D8B030D-6E8A-4147-A177-3AD203B41FA5}">
                      <a16:colId xmlns:a16="http://schemas.microsoft.com/office/drawing/2014/main" val="20002"/>
                    </a:ext>
                  </a:extLst>
                </a:gridCol>
                <a:gridCol w="1902292">
                  <a:extLst>
                    <a:ext uri="{9D8B030D-6E8A-4147-A177-3AD203B41FA5}">
                      <a16:colId xmlns:a16="http://schemas.microsoft.com/office/drawing/2014/main" val="3017322904"/>
                    </a:ext>
                  </a:extLst>
                </a:gridCol>
              </a:tblGrid>
              <a:tr h="597727">
                <a:tc>
                  <a:txBody>
                    <a:bodyPr/>
                    <a:lstStyle/>
                    <a:p>
                      <a:pPr marL="406400" marR="0" lvl="0" indent="0" algn="l" rtl="0">
                        <a:lnSpc>
                          <a:spcPct val="100000"/>
                        </a:lnSpc>
                        <a:spcBef>
                          <a:spcPts val="0"/>
                        </a:spcBef>
                        <a:spcAft>
                          <a:spcPts val="0"/>
                        </a:spcAft>
                        <a:buNone/>
                      </a:pPr>
                      <a:r>
                        <a:rPr lang="en" sz="1900" b="1" u="none" strike="noStrike" cap="none" dirty="0">
                          <a:solidFill>
                            <a:schemeClr val="tx1"/>
                          </a:solidFill>
                          <a:sym typeface="Times New Roman"/>
                        </a:rPr>
                        <a:t>STUDENT NAME</a:t>
                      </a:r>
                      <a:endParaRPr sz="1900" u="none" strike="noStrike" cap="none" dirty="0">
                        <a:solidFill>
                          <a:schemeClr val="tx1"/>
                        </a:solidFill>
                        <a:latin typeface="Times New Roman"/>
                        <a:ea typeface="Times New Roman"/>
                        <a:cs typeface="Times New Roman"/>
                        <a:sym typeface="Times New Roman"/>
                      </a:endParaRPr>
                    </a:p>
                  </a:txBody>
                  <a:tcPr marL="0" marR="0" marT="28767" marB="0">
                    <a:solidFill>
                      <a:schemeClr val="accent1">
                        <a:lumMod val="60000"/>
                        <a:lumOff val="40000"/>
                      </a:schemeClr>
                    </a:solidFill>
                  </a:tcPr>
                </a:tc>
                <a:tc>
                  <a:txBody>
                    <a:bodyPr/>
                    <a:lstStyle/>
                    <a:p>
                      <a:pPr marL="0" marR="0" lvl="0" indent="0" algn="ctr" rtl="0">
                        <a:lnSpc>
                          <a:spcPct val="100000"/>
                        </a:lnSpc>
                        <a:spcBef>
                          <a:spcPts val="0"/>
                        </a:spcBef>
                        <a:spcAft>
                          <a:spcPts val="0"/>
                        </a:spcAft>
                        <a:buNone/>
                      </a:pPr>
                      <a:r>
                        <a:rPr lang="en" sz="1900" b="1" u="none" strike="noStrike" cap="none" dirty="0">
                          <a:solidFill>
                            <a:schemeClr val="tx1"/>
                          </a:solidFill>
                          <a:sym typeface="Times New Roman"/>
                        </a:rPr>
                        <a:t>ENROLLMENT NUMBER</a:t>
                      </a:r>
                      <a:endParaRPr sz="1900" u="none" strike="noStrike" cap="none" dirty="0">
                        <a:solidFill>
                          <a:schemeClr val="tx1"/>
                        </a:solidFill>
                        <a:latin typeface="Times New Roman"/>
                        <a:ea typeface="Times New Roman"/>
                        <a:cs typeface="Times New Roman"/>
                        <a:sym typeface="Times New Roman"/>
                      </a:endParaRPr>
                    </a:p>
                  </a:txBody>
                  <a:tcPr marL="0" marR="0" marT="28767" marB="0">
                    <a:solidFill>
                      <a:schemeClr val="accent1">
                        <a:lumMod val="60000"/>
                        <a:lumOff val="40000"/>
                      </a:schemeClr>
                    </a:solidFill>
                  </a:tcPr>
                </a:tc>
                <a:tc>
                  <a:txBody>
                    <a:bodyPr/>
                    <a:lstStyle/>
                    <a:p>
                      <a:pPr marL="0" marR="0" lvl="0" indent="0" algn="ctr" rtl="0">
                        <a:lnSpc>
                          <a:spcPct val="100000"/>
                        </a:lnSpc>
                        <a:spcBef>
                          <a:spcPts val="0"/>
                        </a:spcBef>
                        <a:spcAft>
                          <a:spcPts val="0"/>
                        </a:spcAft>
                        <a:buNone/>
                      </a:pPr>
                      <a:r>
                        <a:rPr lang="en-IN" sz="1900" u="none" strike="noStrike" cap="none" dirty="0">
                          <a:solidFill>
                            <a:schemeClr val="tx1"/>
                          </a:solidFill>
                          <a:latin typeface="+mn-lt"/>
                          <a:ea typeface="Times New Roman"/>
                          <a:cs typeface="Times New Roman"/>
                          <a:sym typeface="Times New Roman"/>
                        </a:rPr>
                        <a:t>Exam Number</a:t>
                      </a:r>
                      <a:endParaRPr sz="1900" u="none" strike="noStrike" cap="none" dirty="0">
                        <a:solidFill>
                          <a:schemeClr val="tx1"/>
                        </a:solidFill>
                        <a:latin typeface="+mn-lt"/>
                        <a:ea typeface="Times New Roman"/>
                        <a:cs typeface="Times New Roman"/>
                        <a:sym typeface="Times New Roman"/>
                      </a:endParaRPr>
                    </a:p>
                  </a:txBody>
                  <a:tcPr marL="0" marR="0" marT="28767" marB="0">
                    <a:solidFill>
                      <a:schemeClr val="accent1">
                        <a:lumMod val="60000"/>
                        <a:lumOff val="40000"/>
                      </a:schemeClr>
                    </a:solidFill>
                  </a:tcPr>
                </a:tc>
                <a:extLst>
                  <a:ext uri="{0D108BD9-81ED-4DB2-BD59-A6C34878D82A}">
                    <a16:rowId xmlns:a16="http://schemas.microsoft.com/office/drawing/2014/main" val="10000"/>
                  </a:ext>
                </a:extLst>
              </a:tr>
              <a:tr h="394527">
                <a:tc>
                  <a:txBody>
                    <a:bodyPr/>
                    <a:lstStyle/>
                    <a:p>
                      <a:pPr marL="50800" marR="0" lvl="0" indent="0" algn="l" rtl="0">
                        <a:lnSpc>
                          <a:spcPct val="100000"/>
                        </a:lnSpc>
                        <a:spcBef>
                          <a:spcPts val="0"/>
                        </a:spcBef>
                        <a:spcAft>
                          <a:spcPts val="0"/>
                        </a:spcAft>
                        <a:buNone/>
                      </a:pPr>
                      <a:r>
                        <a:rPr lang="en" sz="1900" u="none" strike="noStrike" cap="none" dirty="0">
                          <a:latin typeface="Times New Roman"/>
                          <a:ea typeface="Times New Roman"/>
                          <a:cs typeface="Times New Roman"/>
                          <a:sym typeface="Times New Roman"/>
                        </a:rPr>
                        <a:t>Tanmay Darji</a:t>
                      </a:r>
                      <a:endParaRPr sz="1900" u="none" strike="noStrike" cap="none" dirty="0">
                        <a:latin typeface="Times New Roman"/>
                        <a:ea typeface="Times New Roman"/>
                        <a:cs typeface="Times New Roman"/>
                        <a:sym typeface="Times New Roman"/>
                      </a:endParaRPr>
                    </a:p>
                  </a:txBody>
                  <a:tcPr marL="0" marR="0" marT="28767" marB="0">
                    <a:solidFill>
                      <a:schemeClr val="accent1">
                        <a:lumMod val="40000"/>
                        <a:lumOff val="60000"/>
                      </a:schemeClr>
                    </a:solidFill>
                  </a:tcPr>
                </a:tc>
                <a:tc>
                  <a:txBody>
                    <a:bodyPr/>
                    <a:lstStyle/>
                    <a:p>
                      <a:pPr marL="0" marR="0" lvl="0" indent="0" algn="ctr" rtl="0">
                        <a:lnSpc>
                          <a:spcPct val="100000"/>
                        </a:lnSpc>
                        <a:spcBef>
                          <a:spcPts val="0"/>
                        </a:spcBef>
                        <a:spcAft>
                          <a:spcPts val="0"/>
                        </a:spcAft>
                        <a:buNone/>
                      </a:pPr>
                      <a:r>
                        <a:rPr lang="en" sz="1900" u="none" strike="noStrike" cap="none" dirty="0">
                          <a:sym typeface="Times New Roman"/>
                        </a:rPr>
                        <a:t>2</a:t>
                      </a:r>
                      <a:r>
                        <a:rPr lang="en" sz="1900" dirty="0">
                          <a:sym typeface="Times New Roman"/>
                        </a:rPr>
                        <a:t>4MCA02017</a:t>
                      </a:r>
                      <a:endParaRPr sz="1900" u="none" strike="noStrike" cap="none" dirty="0">
                        <a:latin typeface="Times New Roman"/>
                        <a:ea typeface="Times New Roman"/>
                        <a:cs typeface="Times New Roman"/>
                        <a:sym typeface="Times New Roman"/>
                      </a:endParaRPr>
                    </a:p>
                  </a:txBody>
                  <a:tcPr marL="0" marR="0" marT="28767" marB="0">
                    <a:solidFill>
                      <a:schemeClr val="accent1">
                        <a:lumMod val="40000"/>
                        <a:lumOff val="60000"/>
                      </a:schemeClr>
                    </a:solidFill>
                  </a:tcPr>
                </a:tc>
                <a:tc>
                  <a:txBody>
                    <a:bodyPr/>
                    <a:lstStyle/>
                    <a:p>
                      <a:pPr marL="0" marR="0" lvl="0" indent="0" algn="ctr" rtl="0">
                        <a:lnSpc>
                          <a:spcPct val="100000"/>
                        </a:lnSpc>
                        <a:spcBef>
                          <a:spcPts val="0"/>
                        </a:spcBef>
                        <a:spcAft>
                          <a:spcPts val="0"/>
                        </a:spcAft>
                        <a:buNone/>
                      </a:pPr>
                      <a:r>
                        <a:rPr lang="en-IN" sz="1900" u="none" strike="noStrike" cap="none" dirty="0">
                          <a:latin typeface="Times New Roman"/>
                          <a:ea typeface="Times New Roman"/>
                          <a:cs typeface="Times New Roman"/>
                          <a:sym typeface="Times New Roman"/>
                        </a:rPr>
                        <a:t>1144022</a:t>
                      </a:r>
                      <a:endParaRPr sz="1900" u="none" strike="noStrike" cap="none" dirty="0">
                        <a:latin typeface="Times New Roman"/>
                        <a:ea typeface="Times New Roman"/>
                        <a:cs typeface="Times New Roman"/>
                        <a:sym typeface="Times New Roman"/>
                      </a:endParaRPr>
                    </a:p>
                  </a:txBody>
                  <a:tcPr marL="0" marR="0" marT="28767" marB="0">
                    <a:solidFill>
                      <a:schemeClr val="accent1">
                        <a:lumMod val="40000"/>
                        <a:lumOff val="60000"/>
                      </a:schemeClr>
                    </a:solidFill>
                  </a:tcPr>
                </a:tc>
                <a:extLst>
                  <a:ext uri="{0D108BD9-81ED-4DB2-BD59-A6C34878D82A}">
                    <a16:rowId xmlns:a16="http://schemas.microsoft.com/office/drawing/2014/main" val="10001"/>
                  </a:ext>
                </a:extLst>
              </a:tr>
              <a:tr h="375933">
                <a:tc>
                  <a:txBody>
                    <a:bodyPr/>
                    <a:lstStyle/>
                    <a:p>
                      <a:pPr marL="50800" marR="0" lvl="0" indent="0" algn="l" rtl="0">
                        <a:lnSpc>
                          <a:spcPct val="100000"/>
                        </a:lnSpc>
                        <a:spcBef>
                          <a:spcPts val="0"/>
                        </a:spcBef>
                        <a:spcAft>
                          <a:spcPts val="0"/>
                        </a:spcAft>
                        <a:buNone/>
                      </a:pPr>
                      <a:r>
                        <a:rPr lang="en-IN" sz="1900" u="none" strike="noStrike" cap="none" dirty="0">
                          <a:latin typeface="Times New Roman"/>
                          <a:ea typeface="Times New Roman"/>
                          <a:cs typeface="Times New Roman"/>
                          <a:sym typeface="Times New Roman"/>
                        </a:rPr>
                        <a:t>Parth Patel </a:t>
                      </a:r>
                      <a:endParaRPr sz="1900" u="none" strike="noStrike" cap="none" dirty="0">
                        <a:latin typeface="Times New Roman"/>
                        <a:ea typeface="Times New Roman"/>
                        <a:cs typeface="Times New Roman"/>
                        <a:sym typeface="Times New Roman"/>
                      </a:endParaRPr>
                    </a:p>
                  </a:txBody>
                  <a:tcPr marL="0" marR="0" marT="28767" marB="0">
                    <a:solidFill>
                      <a:schemeClr val="accent1">
                        <a:lumMod val="20000"/>
                        <a:lumOff val="80000"/>
                      </a:schemeClr>
                    </a:solidFill>
                  </a:tcPr>
                </a:tc>
                <a:tc>
                  <a:txBody>
                    <a:bodyPr/>
                    <a:lstStyle/>
                    <a:p>
                      <a:pPr marL="0" marR="0" lvl="0" indent="0" algn="ctr" rtl="0">
                        <a:lnSpc>
                          <a:spcPct val="100000"/>
                        </a:lnSpc>
                        <a:spcBef>
                          <a:spcPts val="0"/>
                        </a:spcBef>
                        <a:spcAft>
                          <a:spcPts val="0"/>
                        </a:spcAft>
                        <a:buNone/>
                      </a:pPr>
                      <a:r>
                        <a:rPr lang="en" sz="1900" u="none" strike="noStrike" cap="none" dirty="0">
                          <a:sym typeface="Times New Roman"/>
                        </a:rPr>
                        <a:t>24</a:t>
                      </a:r>
                      <a:r>
                        <a:rPr lang="en" sz="1900" dirty="0">
                          <a:sym typeface="Times New Roman"/>
                        </a:rPr>
                        <a:t>MCA02083</a:t>
                      </a:r>
                      <a:endParaRPr sz="1900" u="none" strike="noStrike" cap="none" dirty="0">
                        <a:latin typeface="Times New Roman"/>
                        <a:ea typeface="Times New Roman"/>
                        <a:cs typeface="Times New Roman"/>
                        <a:sym typeface="Times New Roman"/>
                      </a:endParaRPr>
                    </a:p>
                  </a:txBody>
                  <a:tcPr marL="0" marR="0" marT="28767" marB="0">
                    <a:solidFill>
                      <a:schemeClr val="accent1">
                        <a:lumMod val="20000"/>
                        <a:lumOff val="80000"/>
                      </a:schemeClr>
                    </a:solidFill>
                  </a:tcPr>
                </a:tc>
                <a:tc>
                  <a:txBody>
                    <a:bodyPr/>
                    <a:lstStyle/>
                    <a:p>
                      <a:pPr marL="0" marR="0" lvl="0" indent="0" algn="ctr" rtl="0">
                        <a:lnSpc>
                          <a:spcPct val="100000"/>
                        </a:lnSpc>
                        <a:spcBef>
                          <a:spcPts val="0"/>
                        </a:spcBef>
                        <a:spcAft>
                          <a:spcPts val="0"/>
                        </a:spcAft>
                        <a:buNone/>
                      </a:pPr>
                      <a:r>
                        <a:rPr lang="en-IN" sz="1900" u="none" strike="noStrike" cap="none" dirty="0">
                          <a:latin typeface="Times New Roman"/>
                          <a:ea typeface="Times New Roman"/>
                          <a:cs typeface="Times New Roman"/>
                          <a:sym typeface="Times New Roman"/>
                        </a:rPr>
                        <a:t>1144078</a:t>
                      </a:r>
                      <a:endParaRPr sz="1900" u="none" strike="noStrike" cap="none" dirty="0">
                        <a:latin typeface="Times New Roman"/>
                        <a:ea typeface="Times New Roman"/>
                        <a:cs typeface="Times New Roman"/>
                        <a:sym typeface="Times New Roman"/>
                      </a:endParaRPr>
                    </a:p>
                  </a:txBody>
                  <a:tcPr marL="0" marR="0" marT="28767" marB="0">
                    <a:solidFill>
                      <a:schemeClr val="accent1">
                        <a:lumMod val="20000"/>
                        <a:lumOff val="80000"/>
                      </a:schemeClr>
                    </a:solidFill>
                  </a:tcPr>
                </a:tc>
                <a:extLst>
                  <a:ext uri="{0D108BD9-81ED-4DB2-BD59-A6C34878D82A}">
                    <a16:rowId xmlns:a16="http://schemas.microsoft.com/office/drawing/2014/main" val="10002"/>
                  </a:ext>
                </a:extLst>
              </a:tr>
            </a:tbl>
          </a:graphicData>
        </a:graphic>
      </p:graphicFrame>
      <p:pic>
        <p:nvPicPr>
          <p:cNvPr id="64" name="Google Shape;64;p14"/>
          <p:cNvPicPr preferRelativeResize="0"/>
          <p:nvPr/>
        </p:nvPicPr>
        <p:blipFill rotWithShape="1">
          <a:blip r:embed="rId3">
            <a:alphaModFix/>
          </a:blip>
          <a:srcRect/>
          <a:stretch/>
        </p:blipFill>
        <p:spPr>
          <a:xfrm>
            <a:off x="29939" y="70010"/>
            <a:ext cx="1209052" cy="1241729"/>
          </a:xfrm>
          <a:prstGeom prst="rect">
            <a:avLst/>
          </a:prstGeom>
          <a:noFill/>
          <a:ln>
            <a:noFill/>
          </a:ln>
        </p:spPr>
      </p:pic>
      <p:pic>
        <p:nvPicPr>
          <p:cNvPr id="65" name="Google Shape;65;p14"/>
          <p:cNvPicPr preferRelativeResize="0"/>
          <p:nvPr/>
        </p:nvPicPr>
        <p:blipFill rotWithShape="1">
          <a:blip r:embed="rId4">
            <a:alphaModFix/>
          </a:blip>
          <a:srcRect/>
          <a:stretch/>
        </p:blipFill>
        <p:spPr>
          <a:xfrm>
            <a:off x="10781200" y="19227"/>
            <a:ext cx="1350268" cy="135862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8375-3163-5612-8D37-7BD1FF5A53B8}"/>
              </a:ext>
            </a:extLst>
          </p:cNvPr>
          <p:cNvSpPr>
            <a:spLocks noGrp="1"/>
          </p:cNvSpPr>
          <p:nvPr>
            <p:ph type="title"/>
          </p:nvPr>
        </p:nvSpPr>
        <p:spPr/>
        <p:txBody>
          <a:bodyPr>
            <a:normAutofit/>
          </a:bodyPr>
          <a:lstStyle/>
          <a:p>
            <a:pPr marL="571500" indent="-571500">
              <a:buFont typeface="Wingdings" panose="05000000000000000000" pitchFamily="2" charset="2"/>
              <a:buChar char="§"/>
            </a:pPr>
            <a:r>
              <a:rPr lang="en-IN" sz="3200" b="1" u="sng" dirty="0">
                <a:latin typeface="+mn-lt"/>
              </a:rPr>
              <a:t>Introduction</a:t>
            </a:r>
            <a:r>
              <a:rPr lang="en-IN" sz="3200" b="1" dirty="0"/>
              <a:t> :- </a:t>
            </a:r>
          </a:p>
        </p:txBody>
      </p:sp>
      <p:sp>
        <p:nvSpPr>
          <p:cNvPr id="3" name="Content Placeholder 2">
            <a:extLst>
              <a:ext uri="{FF2B5EF4-FFF2-40B4-BE49-F238E27FC236}">
                <a16:creationId xmlns:a16="http://schemas.microsoft.com/office/drawing/2014/main" id="{E019BD26-C400-E29C-3C95-164EDF8EC09C}"/>
              </a:ext>
            </a:extLst>
          </p:cNvPr>
          <p:cNvSpPr>
            <a:spLocks noGrp="1"/>
          </p:cNvSpPr>
          <p:nvPr>
            <p:ph idx="1"/>
          </p:nvPr>
        </p:nvSpPr>
        <p:spPr/>
        <p:txBody>
          <a:bodyPr>
            <a:normAutofit fontScale="92500" lnSpcReduction="20000"/>
          </a:bodyPr>
          <a:lstStyle/>
          <a:p>
            <a:pPr algn="just">
              <a:buFont typeface="Wingdings" panose="05000000000000000000" pitchFamily="2" charset="2"/>
              <a:buChar char="Ø"/>
            </a:pPr>
            <a:r>
              <a:rPr lang="en-US" dirty="0" err="1"/>
              <a:t>PharmaCentral</a:t>
            </a:r>
            <a:r>
              <a:rPr lang="en-US" dirty="0"/>
              <a:t> is a pharmacy management system that helps make pharmacy work easier and faster. It allows the pharmacy to store, update, and check information such as medicines, sales and customers  in real time. The system also helps users quickly find medicines by searching using the drug name, drug code, or description.</a:t>
            </a:r>
          </a:p>
          <a:p>
            <a:pPr marL="0" indent="0" algn="just">
              <a:buNone/>
            </a:pPr>
            <a:endParaRPr lang="en-US" dirty="0"/>
          </a:p>
          <a:p>
            <a:pPr algn="just">
              <a:buFont typeface="Wingdings" panose="05000000000000000000" pitchFamily="2" charset="2"/>
              <a:buChar char="Ø"/>
            </a:pPr>
            <a:r>
              <a:rPr lang="en-US" dirty="0"/>
              <a:t>The system keeps track of medicine quantity and expiration dates. It gives alerts when a medicine is running low or when it has expired. This helps the pharmacist manage stock properly and avoid selling expired drugs. As the number of customers increases, </a:t>
            </a:r>
            <a:r>
              <a:rPr lang="en-US" dirty="0" err="1"/>
              <a:t>PharmaCentral</a:t>
            </a:r>
            <a:r>
              <a:rPr lang="en-US" dirty="0"/>
              <a:t> reduces the workload of the pharmacist by saving time and keeping records organized. Overall, it helps the pharmacy work efficiently and provide better service to customers.</a:t>
            </a:r>
            <a:endParaRPr lang="en-IN" dirty="0"/>
          </a:p>
        </p:txBody>
      </p:sp>
    </p:spTree>
    <p:extLst>
      <p:ext uri="{BB962C8B-B14F-4D97-AF65-F5344CB8AC3E}">
        <p14:creationId xmlns:p14="http://schemas.microsoft.com/office/powerpoint/2010/main" val="16623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3C06-EBFD-E77F-D2A9-E74B170A2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8FEF5-C62F-C1B1-C447-79568DC3D409}"/>
              </a:ext>
            </a:extLst>
          </p:cNvPr>
          <p:cNvSpPr>
            <a:spLocks noGrp="1"/>
          </p:cNvSpPr>
          <p:nvPr>
            <p:ph type="title"/>
          </p:nvPr>
        </p:nvSpPr>
        <p:spPr/>
        <p:txBody>
          <a:bodyPr>
            <a:normAutofit/>
          </a:bodyPr>
          <a:lstStyle/>
          <a:p>
            <a:pPr marL="457200" indent="-457200">
              <a:buFont typeface="Wingdings" panose="05000000000000000000" pitchFamily="2" charset="2"/>
              <a:buChar char="§"/>
            </a:pPr>
            <a:r>
              <a:rPr lang="en-IN" sz="3200" b="1" u="sng" dirty="0">
                <a:latin typeface="+mn-lt"/>
                <a:cs typeface="Times New Roman" panose="02020603050405020304" pitchFamily="18" charset="0"/>
              </a:rPr>
              <a:t>Current / Existing System</a:t>
            </a:r>
          </a:p>
        </p:txBody>
      </p:sp>
      <p:sp>
        <p:nvSpPr>
          <p:cNvPr id="3" name="Content Placeholder 2">
            <a:extLst>
              <a:ext uri="{FF2B5EF4-FFF2-40B4-BE49-F238E27FC236}">
                <a16:creationId xmlns:a16="http://schemas.microsoft.com/office/drawing/2014/main" id="{6BCA51B0-70D8-C593-F5B6-47C32867337D}"/>
              </a:ext>
            </a:extLst>
          </p:cNvPr>
          <p:cNvSpPr>
            <a:spLocks noGrp="1"/>
          </p:cNvSpPr>
          <p:nvPr>
            <p:ph idx="1"/>
          </p:nvPr>
        </p:nvSpPr>
        <p:spPr>
          <a:xfrm>
            <a:off x="838200" y="1844479"/>
            <a:ext cx="10515600" cy="4351338"/>
          </a:xfrm>
        </p:spPr>
        <p:txBody>
          <a:bodyPr>
            <a:normAutofit fontScale="85000" lnSpcReduction="20000"/>
          </a:bodyPr>
          <a:lstStyle/>
          <a:p>
            <a:pPr>
              <a:buFont typeface="Wingdings" panose="05000000000000000000" pitchFamily="2" charset="2"/>
              <a:buChar char="Ø"/>
            </a:pPr>
            <a:r>
              <a:rPr lang="en-US" dirty="0"/>
              <a:t>The existing system flowchart describes the manual process followed in a pharmacy for handling customer prescriptions and dispensing medicines. The process begins when a customer visits the pharmacy and submits a prescription. The pharmacist then checks whether the required drug is available. If the medicine is not immediately found, a manual search is performed using the drug name or drug code. </a:t>
            </a:r>
          </a:p>
          <a:p>
            <a:pPr>
              <a:buFont typeface="Wingdings" panose="05000000000000000000" pitchFamily="2" charset="2"/>
              <a:buChar char="Ø"/>
            </a:pPr>
            <a:r>
              <a:rPr lang="en-US" dirty="0"/>
              <a:t>Once the drug is located, the pharmacist manually verifies the expiry date. If the medicine is expired, it is marked as unavailable and not dispensed to the customer. If the drug is valid and not expired, the pharmacist dispenses the medicine to the customer. After dispensing, payment is collected and the process ends. </a:t>
            </a:r>
          </a:p>
          <a:p>
            <a:pPr>
              <a:buFont typeface="Wingdings" panose="05000000000000000000" pitchFamily="2" charset="2"/>
              <a:buChar char="Ø"/>
            </a:pPr>
            <a:r>
              <a:rPr lang="en-US" dirty="0"/>
              <a:t>This existing system relies heavily on manual searching, manual stock checking, and manual expiry verification. As a result, the process is </a:t>
            </a:r>
            <a:r>
              <a:rPr lang="en-US" dirty="0" err="1"/>
              <a:t>timeconsuming</a:t>
            </a:r>
            <a:r>
              <a:rPr lang="en-US" dirty="0"/>
              <a:t>, prone to human errors, and inefficient, especially when handling a large number of medicines and customers. </a:t>
            </a:r>
            <a:endParaRPr lang="en-IN" dirty="0"/>
          </a:p>
        </p:txBody>
      </p:sp>
    </p:spTree>
    <p:extLst>
      <p:ext uri="{BB962C8B-B14F-4D97-AF65-F5344CB8AC3E}">
        <p14:creationId xmlns:p14="http://schemas.microsoft.com/office/powerpoint/2010/main" val="3973734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4A532-B417-3631-82E1-0C46B374BB75}"/>
              </a:ext>
            </a:extLst>
          </p:cNvPr>
          <p:cNvSpPr>
            <a:spLocks noGrp="1"/>
          </p:cNvSpPr>
          <p:nvPr>
            <p:ph idx="1"/>
          </p:nvPr>
        </p:nvSpPr>
        <p:spPr/>
        <p:txBody>
          <a:bodyPr/>
          <a:lstStyle/>
          <a:p>
            <a:pPr>
              <a:buFont typeface="Wingdings" panose="05000000000000000000" pitchFamily="2" charset="2"/>
              <a:buChar char="Ø"/>
            </a:pPr>
            <a:r>
              <a:rPr lang="en-IN" dirty="0"/>
              <a:t>Flow Process :-</a:t>
            </a:r>
          </a:p>
        </p:txBody>
      </p:sp>
      <p:pic>
        <p:nvPicPr>
          <p:cNvPr id="6" name="Picture 5">
            <a:extLst>
              <a:ext uri="{FF2B5EF4-FFF2-40B4-BE49-F238E27FC236}">
                <a16:creationId xmlns:a16="http://schemas.microsoft.com/office/drawing/2014/main" id="{95D9EAAB-C1E0-747D-A0AC-ECE7FAC2A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6647" y="1376314"/>
            <a:ext cx="3607179" cy="5392132"/>
          </a:xfrm>
          <a:prstGeom prst="rect">
            <a:avLst/>
          </a:prstGeom>
        </p:spPr>
      </p:pic>
    </p:spTree>
    <p:extLst>
      <p:ext uri="{BB962C8B-B14F-4D97-AF65-F5344CB8AC3E}">
        <p14:creationId xmlns:p14="http://schemas.microsoft.com/office/powerpoint/2010/main" val="3241261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44A59-ECA3-DAB0-56C0-0DD63A33FD87}"/>
              </a:ext>
            </a:extLst>
          </p:cNvPr>
          <p:cNvSpPr>
            <a:spLocks noGrp="1"/>
          </p:cNvSpPr>
          <p:nvPr>
            <p:ph idx="1"/>
          </p:nvPr>
        </p:nvSpPr>
        <p:spPr>
          <a:xfrm>
            <a:off x="838200" y="1439126"/>
            <a:ext cx="10515600" cy="4351338"/>
          </a:xfrm>
        </p:spPr>
        <p:txBody>
          <a:bodyPr>
            <a:normAutofit fontScale="92500" lnSpcReduction="20000"/>
          </a:bodyPr>
          <a:lstStyle/>
          <a:p>
            <a:pPr>
              <a:buFont typeface="Wingdings" panose="05000000000000000000" pitchFamily="2" charset="2"/>
              <a:buChar char="Ø"/>
            </a:pPr>
            <a:r>
              <a:rPr lang="en-IN" sz="3200" b="1" u="sng" dirty="0"/>
              <a:t>Drawbacks</a:t>
            </a:r>
            <a:r>
              <a:rPr lang="en-IN" sz="3200" b="1" dirty="0"/>
              <a:t> :-</a:t>
            </a:r>
            <a:r>
              <a:rPr lang="en-IN" sz="3200" b="1" u="sng" dirty="0"/>
              <a:t> </a:t>
            </a:r>
          </a:p>
          <a:p>
            <a:pPr marL="0" indent="0">
              <a:buNone/>
            </a:pPr>
            <a:endParaRPr lang="en-IN" dirty="0"/>
          </a:p>
          <a:p>
            <a:pPr>
              <a:buFont typeface="Wingdings" panose="05000000000000000000" pitchFamily="2" charset="2"/>
              <a:buChar char="Ø"/>
            </a:pPr>
            <a:r>
              <a:rPr lang="en-US" sz="2600" b="1" dirty="0"/>
              <a:t>The existing system is mostly manual and time-consuming.</a:t>
            </a:r>
          </a:p>
          <a:p>
            <a:pPr marL="0" indent="0" algn="just">
              <a:buNone/>
            </a:pPr>
            <a:r>
              <a:rPr lang="en-US" sz="2600" dirty="0"/>
              <a:t>In the current system, all pharmacy activities such as searching for medicines, checking stock, verifying expiry dates, and recording sales are performed manually. The pharmacist must go through registers or files to find information, which takes a significant amount of time and slows down customer service. </a:t>
            </a:r>
          </a:p>
          <a:p>
            <a:pPr marL="0" indent="0" algn="just">
              <a:buNone/>
            </a:pPr>
            <a:endParaRPr lang="en-US" sz="2600" dirty="0"/>
          </a:p>
          <a:p>
            <a:pPr>
              <a:buFont typeface="Wingdings" panose="05000000000000000000" pitchFamily="2" charset="2"/>
              <a:buChar char="Ø"/>
            </a:pPr>
            <a:r>
              <a:rPr lang="en-US" sz="2600" b="1" dirty="0"/>
              <a:t>There is a high chance of human errors in maintaining records.</a:t>
            </a:r>
          </a:p>
          <a:p>
            <a:pPr marL="0" indent="0">
              <a:buNone/>
            </a:pPr>
            <a:r>
              <a:rPr lang="en-US" sz="2600" dirty="0"/>
              <a:t>Since the records are maintained manually, mistakes such as incorrect drug entries, wrong quantity updates, and missing expiry dates may occur. These errors can lead to incorrect inventory information, financial losses, and difficulty in tracking medicines accurately. </a:t>
            </a:r>
          </a:p>
        </p:txBody>
      </p:sp>
    </p:spTree>
    <p:extLst>
      <p:ext uri="{BB962C8B-B14F-4D97-AF65-F5344CB8AC3E}">
        <p14:creationId xmlns:p14="http://schemas.microsoft.com/office/powerpoint/2010/main" val="893820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60861-CD1B-D4AC-07D8-BD6B02300A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3D8F8D-D696-BA77-B758-2821E6E6A353}"/>
              </a:ext>
            </a:extLst>
          </p:cNvPr>
          <p:cNvSpPr>
            <a:spLocks noGrp="1"/>
          </p:cNvSpPr>
          <p:nvPr>
            <p:ph idx="1"/>
          </p:nvPr>
        </p:nvSpPr>
        <p:spPr>
          <a:xfrm>
            <a:off x="838200" y="1439126"/>
            <a:ext cx="10515600" cy="4351338"/>
          </a:xfrm>
        </p:spPr>
        <p:txBody>
          <a:bodyPr>
            <a:normAutofit/>
          </a:bodyPr>
          <a:lstStyle/>
          <a:p>
            <a:pPr algn="just">
              <a:buFont typeface="Wingdings" panose="05000000000000000000" pitchFamily="2" charset="2"/>
              <a:buChar char="Ø"/>
            </a:pPr>
            <a:r>
              <a:rPr lang="en-US" sz="2400" b="1" dirty="0"/>
              <a:t>Drug availability and expiry dates are not monitored automatically. </a:t>
            </a:r>
          </a:p>
          <a:p>
            <a:pPr marL="0" indent="0" algn="just">
              <a:buNone/>
            </a:pPr>
            <a:r>
              <a:rPr lang="en-US" sz="2400" dirty="0"/>
              <a:t>The pharmacist must manually check whether a medicine is available and verify its expiry date. There is no automatic alert for expired medicines or low stock levels. This increases the risk of selling expired drugs or running out of essential medicines. </a:t>
            </a:r>
          </a:p>
          <a:p>
            <a:pPr marL="0" indent="0" algn="just">
              <a:buNone/>
            </a:pPr>
            <a:endParaRPr lang="en-US" sz="2400" dirty="0"/>
          </a:p>
          <a:p>
            <a:pPr algn="just">
              <a:buFont typeface="Wingdings" panose="05000000000000000000" pitchFamily="2" charset="2"/>
              <a:buChar char="Ø"/>
            </a:pPr>
            <a:r>
              <a:rPr lang="en-US" sz="2400" b="1" dirty="0"/>
              <a:t>Managing inventory and customers becomes difficult as the business grows. </a:t>
            </a:r>
          </a:p>
          <a:p>
            <a:pPr marL="0" indent="0" algn="just">
              <a:buNone/>
            </a:pPr>
            <a:r>
              <a:rPr lang="en-US" sz="2400" dirty="0"/>
              <a:t>As the number of customers and medicines increases, maintaining records manually becomes more complex. Tracking customer details, debtor information, and stock levels becomes harder, leading to delays, poor inventory control, and reduced customer satisfaction. </a:t>
            </a:r>
            <a:endParaRPr lang="en-US" sz="2600" dirty="0"/>
          </a:p>
        </p:txBody>
      </p:sp>
    </p:spTree>
    <p:extLst>
      <p:ext uri="{BB962C8B-B14F-4D97-AF65-F5344CB8AC3E}">
        <p14:creationId xmlns:p14="http://schemas.microsoft.com/office/powerpoint/2010/main" val="2376325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25D13-0FAF-0895-3771-D4A2D0C3CA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72284-0096-A514-9ED5-78D7B06DFFBA}"/>
              </a:ext>
            </a:extLst>
          </p:cNvPr>
          <p:cNvSpPr>
            <a:spLocks noGrp="1"/>
          </p:cNvSpPr>
          <p:nvPr>
            <p:ph type="title"/>
          </p:nvPr>
        </p:nvSpPr>
        <p:spPr/>
        <p:txBody>
          <a:bodyPr>
            <a:normAutofit/>
          </a:bodyPr>
          <a:lstStyle/>
          <a:p>
            <a:pPr marL="457200" indent="-457200">
              <a:buFont typeface="Wingdings" panose="05000000000000000000" pitchFamily="2" charset="2"/>
              <a:buChar char="§"/>
            </a:pPr>
            <a:r>
              <a:rPr lang="en-IN" sz="3200" b="1" u="sng" dirty="0">
                <a:latin typeface="+mn-lt"/>
              </a:rPr>
              <a:t>Proposed System(Modules, Features, Scopes)</a:t>
            </a:r>
          </a:p>
        </p:txBody>
      </p:sp>
      <p:sp>
        <p:nvSpPr>
          <p:cNvPr id="3" name="Content Placeholder 2">
            <a:extLst>
              <a:ext uri="{FF2B5EF4-FFF2-40B4-BE49-F238E27FC236}">
                <a16:creationId xmlns:a16="http://schemas.microsoft.com/office/drawing/2014/main" id="{1B2F4DC3-BB59-BF79-D517-3D8C7959AB5F}"/>
              </a:ext>
            </a:extLst>
          </p:cNvPr>
          <p:cNvSpPr>
            <a:spLocks noGrp="1"/>
          </p:cNvSpPr>
          <p:nvPr>
            <p:ph idx="1"/>
          </p:nvPr>
        </p:nvSpPr>
        <p:spPr/>
        <p:txBody>
          <a:bodyPr>
            <a:normAutofit lnSpcReduction="10000"/>
          </a:bodyPr>
          <a:lstStyle/>
          <a:p>
            <a:pPr algn="just">
              <a:buFont typeface="Wingdings" panose="05000000000000000000" pitchFamily="2" charset="2"/>
              <a:buChar char="Ø"/>
            </a:pPr>
            <a:r>
              <a:rPr lang="en-US" sz="2400" dirty="0"/>
              <a:t>The proposed system is an automated pharmacy management system called </a:t>
            </a:r>
            <a:r>
              <a:rPr lang="en-US" sz="2400" dirty="0" err="1"/>
              <a:t>PharmaCentral</a:t>
            </a:r>
            <a:r>
              <a:rPr lang="en-US" sz="2400" dirty="0"/>
              <a:t> designed to manage medicine inventory, sales, customer records, and expiry tracking efficiently. The system replaces manual operations with a </a:t>
            </a:r>
            <a:r>
              <a:rPr lang="en-US" sz="2400" dirty="0" err="1"/>
              <a:t>computerised</a:t>
            </a:r>
            <a:r>
              <a:rPr lang="en-US" sz="2400" dirty="0"/>
              <a:t> solution that allows real-time data entry, quick searching of medicines, and automatic monitoring of stock levels and expiry dates. This improves accuracy, reduces workload, and enhances customer service.</a:t>
            </a:r>
          </a:p>
          <a:p>
            <a:pPr marL="0" indent="0" algn="just">
              <a:buNone/>
            </a:pPr>
            <a:endParaRPr lang="en-US" sz="2400" dirty="0"/>
          </a:p>
          <a:p>
            <a:pPr algn="just">
              <a:buFont typeface="Wingdings" panose="05000000000000000000" pitchFamily="2" charset="2"/>
              <a:buChar char="Ø"/>
            </a:pPr>
            <a:r>
              <a:rPr lang="en-US" sz="2400" dirty="0"/>
              <a:t>The proposed </a:t>
            </a:r>
            <a:r>
              <a:rPr lang="en-US" sz="2400" dirty="0" err="1"/>
              <a:t>PharmaCentral</a:t>
            </a:r>
            <a:r>
              <a:rPr lang="en-US" sz="2400" dirty="0"/>
              <a:t> system automates all pharmacy operations including medicine management, customer handling, sales tracking, and stock monitoring. The system uses string searching techniques to quickly locate medicines using drug name, drug code, or description. It also monitors minimum quantity levels and expiry dates automatically, generating alerts when stock is low or medicines are expired.</a:t>
            </a:r>
            <a:endParaRPr lang="en-IN" sz="2400" dirty="0"/>
          </a:p>
        </p:txBody>
      </p:sp>
    </p:spTree>
    <p:extLst>
      <p:ext uri="{BB962C8B-B14F-4D97-AF65-F5344CB8AC3E}">
        <p14:creationId xmlns:p14="http://schemas.microsoft.com/office/powerpoint/2010/main" val="339173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BFA64-14AB-75F5-C3CD-C428C03595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6AF443-C99F-3175-3F37-2968FA130507}"/>
              </a:ext>
            </a:extLst>
          </p:cNvPr>
          <p:cNvSpPr>
            <a:spLocks noGrp="1"/>
          </p:cNvSpPr>
          <p:nvPr>
            <p:ph idx="1"/>
          </p:nvPr>
        </p:nvSpPr>
        <p:spPr>
          <a:xfrm>
            <a:off x="838200" y="2871231"/>
            <a:ext cx="10515600" cy="1115538"/>
          </a:xfrm>
        </p:spPr>
        <p:txBody>
          <a:bodyPr>
            <a:normAutofit/>
          </a:bodyPr>
          <a:lstStyle/>
          <a:p>
            <a:pPr algn="just">
              <a:buFont typeface="Wingdings" panose="05000000000000000000" pitchFamily="2" charset="2"/>
              <a:buChar char="Ø"/>
            </a:pPr>
            <a:r>
              <a:rPr lang="en-US" sz="2400" dirty="0"/>
              <a:t>The administrator can efficiently control inventory, track customer data, and manage pharmacy operations from a single system. This reduces manual effort, </a:t>
            </a:r>
            <a:r>
              <a:rPr lang="en-US" sz="2400" dirty="0" err="1"/>
              <a:t>minimises</a:t>
            </a:r>
            <a:r>
              <a:rPr lang="en-US" sz="2400" dirty="0"/>
              <a:t> errors, and improves overall efficiency.</a:t>
            </a:r>
            <a:endParaRPr lang="en-IN" sz="2400" dirty="0"/>
          </a:p>
        </p:txBody>
      </p:sp>
    </p:spTree>
    <p:extLst>
      <p:ext uri="{BB962C8B-B14F-4D97-AF65-F5344CB8AC3E}">
        <p14:creationId xmlns:p14="http://schemas.microsoft.com/office/powerpoint/2010/main" val="2943006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27D5BA-057E-539D-E792-9D3A0203BB0D}"/>
              </a:ext>
            </a:extLst>
          </p:cNvPr>
          <p:cNvSpPr>
            <a:spLocks noGrp="1"/>
          </p:cNvSpPr>
          <p:nvPr>
            <p:ph idx="1"/>
          </p:nvPr>
        </p:nvSpPr>
        <p:spPr>
          <a:xfrm>
            <a:off x="838200" y="1253331"/>
            <a:ext cx="10515600" cy="4351338"/>
          </a:xfrm>
        </p:spPr>
        <p:txBody>
          <a:bodyPr/>
          <a:lstStyle/>
          <a:p>
            <a:pPr>
              <a:buFont typeface="Wingdings" panose="05000000000000000000" pitchFamily="2" charset="2"/>
              <a:buChar char="Ø"/>
            </a:pPr>
            <a:r>
              <a:rPr lang="en-IN" sz="3200" b="1" u="sng" dirty="0"/>
              <a:t>Modules</a:t>
            </a:r>
            <a:r>
              <a:rPr lang="en-IN" sz="3200" b="1" dirty="0"/>
              <a:t> :-</a:t>
            </a:r>
            <a:r>
              <a:rPr lang="en-IN" sz="3200" b="1" u="sng" dirty="0"/>
              <a:t> </a:t>
            </a:r>
          </a:p>
          <a:p>
            <a:pPr marL="514350" indent="-514350">
              <a:buFont typeface="+mj-lt"/>
              <a:buAutoNum type="arabicPeriod"/>
            </a:pPr>
            <a:r>
              <a:rPr lang="en-IN" sz="2400" b="1" dirty="0"/>
              <a:t>User Management Module :- </a:t>
            </a:r>
            <a:r>
              <a:rPr lang="en-IN" dirty="0"/>
              <a:t>                                                                                            - </a:t>
            </a:r>
            <a:r>
              <a:rPr lang="en-IN" sz="2400" dirty="0"/>
              <a:t>Admin login and authentication</a:t>
            </a:r>
          </a:p>
          <a:p>
            <a:pPr marL="0" indent="0">
              <a:buNone/>
            </a:pPr>
            <a:r>
              <a:rPr lang="en-IN" sz="2400" dirty="0"/>
              <a:t>       -  </a:t>
            </a:r>
            <a:r>
              <a:rPr lang="en-US" sz="2400" dirty="0"/>
              <a:t>Role-based access (Admin, Pharmacist)</a:t>
            </a:r>
          </a:p>
          <a:p>
            <a:pPr marL="0" indent="0">
              <a:buNone/>
            </a:pPr>
            <a:endParaRPr lang="en-US" sz="2400" dirty="0"/>
          </a:p>
          <a:p>
            <a:pPr marL="0" indent="0">
              <a:buNone/>
            </a:pPr>
            <a:r>
              <a:rPr lang="en-US" sz="2400" b="1" dirty="0"/>
              <a:t>2</a:t>
            </a:r>
            <a:r>
              <a:rPr lang="en-US" dirty="0"/>
              <a:t>.  </a:t>
            </a:r>
            <a:r>
              <a:rPr lang="en-IN" b="1" dirty="0"/>
              <a:t>Inventory Management Module :- </a:t>
            </a:r>
          </a:p>
          <a:p>
            <a:pPr marL="0" indent="0">
              <a:buNone/>
            </a:pPr>
            <a:r>
              <a:rPr lang="en-IN" sz="2400" dirty="0"/>
              <a:t>     - </a:t>
            </a:r>
            <a:r>
              <a:rPr lang="en-US" sz="2400" dirty="0"/>
              <a:t>Add, update, and delete drug records</a:t>
            </a:r>
          </a:p>
          <a:p>
            <a:pPr marL="0" indent="0">
              <a:buNone/>
            </a:pPr>
            <a:r>
              <a:rPr lang="en-US" sz="2400" dirty="0"/>
              <a:t>     - Track stock quantity and minimum stock levels</a:t>
            </a:r>
          </a:p>
          <a:p>
            <a:pPr marL="0" indent="0">
              <a:buNone/>
            </a:pPr>
            <a:r>
              <a:rPr lang="en-US" sz="2400" dirty="0"/>
              <a:t>     - Expiry date monitoring and alerts </a:t>
            </a:r>
            <a:endParaRPr lang="en-IN" sz="2400" dirty="0"/>
          </a:p>
        </p:txBody>
      </p:sp>
    </p:spTree>
    <p:extLst>
      <p:ext uri="{BB962C8B-B14F-4D97-AF65-F5344CB8AC3E}">
        <p14:creationId xmlns:p14="http://schemas.microsoft.com/office/powerpoint/2010/main" val="356447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40E991-A65B-07B9-1BD6-B9BE5AC8C91E}"/>
              </a:ext>
            </a:extLst>
          </p:cNvPr>
          <p:cNvSpPr>
            <a:spLocks noGrp="1"/>
          </p:cNvSpPr>
          <p:nvPr>
            <p:ph idx="1"/>
          </p:nvPr>
        </p:nvSpPr>
        <p:spPr>
          <a:xfrm>
            <a:off x="838200" y="1477651"/>
            <a:ext cx="10515600" cy="4204356"/>
          </a:xfrm>
        </p:spPr>
        <p:txBody>
          <a:bodyPr/>
          <a:lstStyle/>
          <a:p>
            <a:pPr marL="0" indent="0">
              <a:buNone/>
            </a:pPr>
            <a:r>
              <a:rPr lang="en-IN" sz="2400" b="1" dirty="0"/>
              <a:t>3</a:t>
            </a:r>
            <a:r>
              <a:rPr lang="en-IN" dirty="0"/>
              <a:t>. </a:t>
            </a:r>
            <a:r>
              <a:rPr lang="en-IN" sz="2400" b="1" dirty="0"/>
              <a:t>Sales Management Module :- </a:t>
            </a:r>
          </a:p>
          <a:p>
            <a:pPr marL="0" indent="0">
              <a:buNone/>
            </a:pPr>
            <a:r>
              <a:rPr lang="en-IN" sz="2400" dirty="0"/>
              <a:t>    - Record sales transactions</a:t>
            </a:r>
          </a:p>
          <a:p>
            <a:pPr marL="0" indent="0">
              <a:buNone/>
            </a:pPr>
            <a:r>
              <a:rPr lang="en-IN" sz="2400" dirty="0"/>
              <a:t>    - Generate invoices and receipts</a:t>
            </a:r>
          </a:p>
          <a:p>
            <a:pPr marL="0" indent="0">
              <a:buNone/>
            </a:pPr>
            <a:r>
              <a:rPr lang="en-IN" sz="2400" dirty="0"/>
              <a:t>    - Manage customer orders</a:t>
            </a:r>
          </a:p>
          <a:p>
            <a:pPr marL="0" indent="0">
              <a:buNone/>
            </a:pPr>
            <a:endParaRPr lang="en-IN" sz="2400" dirty="0"/>
          </a:p>
          <a:p>
            <a:pPr marL="0" indent="0">
              <a:buNone/>
            </a:pPr>
            <a:r>
              <a:rPr lang="en-IN" sz="2400" b="1" dirty="0"/>
              <a:t>4</a:t>
            </a:r>
            <a:r>
              <a:rPr lang="en-IN" sz="2400" dirty="0"/>
              <a:t>. </a:t>
            </a:r>
            <a:r>
              <a:rPr lang="en-IN" sz="2400" b="1" dirty="0"/>
              <a:t>Customer Management Module :- </a:t>
            </a:r>
          </a:p>
          <a:p>
            <a:pPr marL="0" indent="0">
              <a:buNone/>
            </a:pPr>
            <a:r>
              <a:rPr lang="en-IN" sz="2400" dirty="0"/>
              <a:t>   - Store customer details</a:t>
            </a:r>
          </a:p>
          <a:p>
            <a:pPr marL="0" indent="0">
              <a:buNone/>
            </a:pPr>
            <a:r>
              <a:rPr lang="en-IN" sz="2400" dirty="0"/>
              <a:t>   - Track purchase history</a:t>
            </a:r>
          </a:p>
          <a:p>
            <a:pPr marL="0" indent="0">
              <a:buNone/>
            </a:pPr>
            <a:r>
              <a:rPr lang="en-IN" sz="2400" dirty="0"/>
              <a:t>   - Manage debtor information</a:t>
            </a:r>
          </a:p>
        </p:txBody>
      </p:sp>
    </p:spTree>
    <p:extLst>
      <p:ext uri="{BB962C8B-B14F-4D97-AF65-F5344CB8AC3E}">
        <p14:creationId xmlns:p14="http://schemas.microsoft.com/office/powerpoint/2010/main" val="1121382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255CC3-0AC7-E9F3-E342-A79ED1C8ECD8}"/>
              </a:ext>
            </a:extLst>
          </p:cNvPr>
          <p:cNvSpPr>
            <a:spLocks noGrp="1"/>
          </p:cNvSpPr>
          <p:nvPr>
            <p:ph idx="1"/>
          </p:nvPr>
        </p:nvSpPr>
        <p:spPr>
          <a:xfrm>
            <a:off x="838200" y="869405"/>
            <a:ext cx="10515600" cy="5119189"/>
          </a:xfrm>
        </p:spPr>
        <p:txBody>
          <a:bodyPr>
            <a:normAutofit fontScale="85000" lnSpcReduction="20000"/>
          </a:bodyPr>
          <a:lstStyle/>
          <a:p>
            <a:pPr marL="0" indent="0">
              <a:buNone/>
            </a:pPr>
            <a:r>
              <a:rPr lang="en-IN" sz="2600" b="1" dirty="0"/>
              <a:t>5. Reporting &amp; Analytics Module :-</a:t>
            </a:r>
            <a:r>
              <a:rPr lang="en-IN" sz="2600" dirty="0"/>
              <a:t> </a:t>
            </a:r>
          </a:p>
          <a:p>
            <a:pPr marL="0" indent="0">
              <a:buNone/>
            </a:pPr>
            <a:r>
              <a:rPr lang="en-IN" sz="2600" dirty="0"/>
              <a:t>     -  </a:t>
            </a:r>
            <a:r>
              <a:rPr lang="en-US" sz="2600" dirty="0"/>
              <a:t>Generate daily, weekly, and monthly sales reports</a:t>
            </a:r>
          </a:p>
          <a:p>
            <a:pPr marL="0" indent="0">
              <a:buNone/>
            </a:pPr>
            <a:r>
              <a:rPr lang="en-US" sz="2600" dirty="0"/>
              <a:t>     - Stock level reports and expiry alerts</a:t>
            </a:r>
          </a:p>
          <a:p>
            <a:pPr marL="0" indent="0">
              <a:buNone/>
            </a:pPr>
            <a:r>
              <a:rPr lang="en-US" sz="2600" dirty="0"/>
              <a:t>     - Data visualization for decision making</a:t>
            </a:r>
          </a:p>
          <a:p>
            <a:pPr marL="0" indent="0">
              <a:buNone/>
            </a:pPr>
            <a:endParaRPr lang="en-US" sz="2600" dirty="0"/>
          </a:p>
          <a:p>
            <a:pPr marL="0" indent="0">
              <a:buNone/>
            </a:pPr>
            <a:r>
              <a:rPr lang="en-US" sz="2600" b="1" dirty="0"/>
              <a:t>6. </a:t>
            </a:r>
            <a:r>
              <a:rPr lang="en-IN" sz="2600" b="1" dirty="0"/>
              <a:t>Search Module  :-</a:t>
            </a:r>
          </a:p>
          <a:p>
            <a:pPr marL="0" indent="0">
              <a:buNone/>
            </a:pPr>
            <a:r>
              <a:rPr lang="en-IN" sz="2600" dirty="0"/>
              <a:t>    -  </a:t>
            </a:r>
            <a:r>
              <a:rPr lang="en-US" sz="2600" dirty="0"/>
              <a:t>Search drugs using name, code, or description</a:t>
            </a:r>
          </a:p>
          <a:p>
            <a:pPr marL="0" indent="0">
              <a:buNone/>
            </a:pPr>
            <a:r>
              <a:rPr lang="en-US" sz="2600" dirty="0"/>
              <a:t>    -  Quick access to inventory information</a:t>
            </a:r>
          </a:p>
          <a:p>
            <a:pPr marL="0" indent="0">
              <a:buNone/>
            </a:pPr>
            <a:endParaRPr lang="en-US" sz="2600" dirty="0"/>
          </a:p>
          <a:p>
            <a:pPr marL="0" indent="0">
              <a:buNone/>
            </a:pPr>
            <a:r>
              <a:rPr lang="en-US" sz="2600" b="1" dirty="0"/>
              <a:t>7. Medicine Request Module :-</a:t>
            </a:r>
            <a:r>
              <a:rPr lang="en-US" sz="2600" dirty="0"/>
              <a:t> </a:t>
            </a:r>
          </a:p>
          <a:p>
            <a:pPr marL="0" indent="0">
              <a:buNone/>
            </a:pPr>
            <a:r>
              <a:rPr lang="en-US" sz="2600" dirty="0"/>
              <a:t>    - </a:t>
            </a:r>
            <a:r>
              <a:rPr lang="en-IN" sz="2600" dirty="0"/>
              <a:t>Request Medicine</a:t>
            </a:r>
          </a:p>
          <a:p>
            <a:pPr marL="0" indent="0">
              <a:buNone/>
            </a:pPr>
            <a:r>
              <a:rPr lang="en-US" sz="2600" dirty="0"/>
              <a:t>    - </a:t>
            </a:r>
            <a:r>
              <a:rPr lang="en-IN" sz="2600" dirty="0"/>
              <a:t>View Medicine Requests</a:t>
            </a:r>
          </a:p>
          <a:p>
            <a:pPr marL="0" indent="0">
              <a:buNone/>
            </a:pPr>
            <a:r>
              <a:rPr lang="en-IN" sz="2600" dirty="0"/>
              <a:t>    - Update Request Status</a:t>
            </a:r>
          </a:p>
          <a:p>
            <a:pPr marL="0" indent="0">
              <a:buNone/>
            </a:pPr>
            <a:r>
              <a:rPr lang="en-IN" sz="2600" dirty="0"/>
              <a:t>    - Track Request History</a:t>
            </a:r>
            <a:endParaRPr lang="en-US" sz="2600" dirty="0"/>
          </a:p>
          <a:p>
            <a:pPr marL="0" indent="0">
              <a:buNone/>
            </a:pPr>
            <a:endParaRPr lang="en-IN" sz="2400" dirty="0"/>
          </a:p>
        </p:txBody>
      </p:sp>
    </p:spTree>
    <p:extLst>
      <p:ext uri="{BB962C8B-B14F-4D97-AF65-F5344CB8AC3E}">
        <p14:creationId xmlns:p14="http://schemas.microsoft.com/office/powerpoint/2010/main" val="511035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B54D2D-C5C5-0D6F-5485-B6690210049B}"/>
              </a:ext>
            </a:extLst>
          </p:cNvPr>
          <p:cNvSpPr>
            <a:spLocks noGrp="1"/>
          </p:cNvSpPr>
          <p:nvPr>
            <p:ph idx="1"/>
          </p:nvPr>
        </p:nvSpPr>
        <p:spPr>
          <a:xfrm>
            <a:off x="838200" y="1238338"/>
            <a:ext cx="10515600" cy="4381324"/>
          </a:xfrm>
        </p:spPr>
        <p:txBody>
          <a:bodyPr>
            <a:normAutofit fontScale="92500" lnSpcReduction="20000"/>
          </a:bodyPr>
          <a:lstStyle/>
          <a:p>
            <a:pPr>
              <a:buFont typeface="Wingdings" panose="05000000000000000000" pitchFamily="2" charset="2"/>
              <a:buChar char="Ø"/>
            </a:pPr>
            <a:r>
              <a:rPr lang="en-IN" sz="3500" b="1" u="sng" dirty="0"/>
              <a:t>Feature</a:t>
            </a:r>
            <a:r>
              <a:rPr lang="en-IN" sz="3500" b="1" dirty="0"/>
              <a:t> :- </a:t>
            </a:r>
          </a:p>
          <a:p>
            <a:pPr marL="0" indent="0">
              <a:buNone/>
            </a:pPr>
            <a:endParaRPr lang="en-IN" dirty="0"/>
          </a:p>
          <a:p>
            <a:pPr>
              <a:buFont typeface="Wingdings" panose="05000000000000000000" pitchFamily="2" charset="2"/>
              <a:buChar char="Ø"/>
            </a:pPr>
            <a:r>
              <a:rPr lang="en-IN" sz="2600" b="1" dirty="0"/>
              <a:t>Real-time inventory updates</a:t>
            </a:r>
          </a:p>
          <a:p>
            <a:pPr marL="0" indent="0" algn="just">
              <a:buNone/>
            </a:pPr>
            <a:r>
              <a:rPr lang="en-US" sz="2600" dirty="0"/>
              <a:t>The system automatically updates the inventory whenever a medicine is added, sold, or removed. This ensures that the stock quantity displayed in the system is always accurate. Real-time updates help pharmacists know the exact availability of medicines at any moment and reduce the chances of stock mismanagement. </a:t>
            </a:r>
          </a:p>
          <a:p>
            <a:pPr marL="0" indent="0">
              <a:buNone/>
            </a:pPr>
            <a:endParaRPr lang="en-IN" sz="2600" b="1" dirty="0"/>
          </a:p>
          <a:p>
            <a:pPr>
              <a:buFont typeface="Wingdings" panose="05000000000000000000" pitchFamily="2" charset="2"/>
              <a:buChar char="Ø"/>
            </a:pPr>
            <a:r>
              <a:rPr lang="en-IN" sz="2600" b="1" dirty="0"/>
              <a:t>Automated expiry date alerts</a:t>
            </a:r>
          </a:p>
          <a:p>
            <a:pPr marL="0" indent="0" algn="just">
              <a:buNone/>
            </a:pPr>
            <a:r>
              <a:rPr lang="en-US" sz="2600" dirty="0"/>
              <a:t>The proposed system continuously monitors the expiry dates of medicines stored in the database. If a medicine is close to its expiry date or already expired, the system generates an alert for the pharmacist. This feature helps prevent the sale of expired medicines and ensures patient safety. </a:t>
            </a:r>
            <a:endParaRPr lang="en-IN" sz="2600" b="1" dirty="0"/>
          </a:p>
          <a:p>
            <a:pPr marL="0" indent="0">
              <a:buNone/>
            </a:pPr>
            <a:endParaRPr lang="en-IN" sz="2400" b="1" dirty="0"/>
          </a:p>
        </p:txBody>
      </p:sp>
    </p:spTree>
    <p:extLst>
      <p:ext uri="{BB962C8B-B14F-4D97-AF65-F5344CB8AC3E}">
        <p14:creationId xmlns:p14="http://schemas.microsoft.com/office/powerpoint/2010/main" val="2667154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C27B2-A80C-8B4B-D3B3-50E1D79E76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BC7D4D-75CA-D4D5-0E60-21F10EFB716E}"/>
              </a:ext>
            </a:extLst>
          </p:cNvPr>
          <p:cNvSpPr>
            <a:spLocks noGrp="1"/>
          </p:cNvSpPr>
          <p:nvPr>
            <p:ph idx="1"/>
          </p:nvPr>
        </p:nvSpPr>
        <p:spPr>
          <a:xfrm>
            <a:off x="838200" y="1271332"/>
            <a:ext cx="10515600" cy="4315336"/>
          </a:xfrm>
        </p:spPr>
        <p:txBody>
          <a:bodyPr>
            <a:normAutofit/>
          </a:bodyPr>
          <a:lstStyle/>
          <a:p>
            <a:pPr algn="just">
              <a:buFont typeface="Wingdings" panose="05000000000000000000" pitchFamily="2" charset="2"/>
              <a:buChar char="Ø"/>
            </a:pPr>
            <a:r>
              <a:rPr lang="en-IN" sz="2400" b="1" dirty="0"/>
              <a:t>Minimum stock quantity notifications</a:t>
            </a:r>
          </a:p>
          <a:p>
            <a:pPr marL="0" indent="0" algn="just">
              <a:buNone/>
            </a:pPr>
            <a:r>
              <a:rPr lang="en-US" sz="2400" dirty="0"/>
              <a:t>Each medicine in the system has a predefined minimum stock level. When the quantity of a drug falls below this level, the system automatically sends a notification to the administrator. This helps the pharmacy reorder medicines on time and avoid stock shortages. </a:t>
            </a:r>
          </a:p>
          <a:p>
            <a:pPr marL="0" indent="0" algn="just">
              <a:buNone/>
            </a:pPr>
            <a:endParaRPr lang="en-IN" sz="2400" b="1" dirty="0"/>
          </a:p>
          <a:p>
            <a:pPr algn="just">
              <a:buFont typeface="Wingdings" panose="05000000000000000000" pitchFamily="2" charset="2"/>
              <a:buChar char="Ø"/>
            </a:pPr>
            <a:r>
              <a:rPr lang="en-US" sz="2400" b="1" dirty="0"/>
              <a:t>Fast and intelligent drug search using string matching</a:t>
            </a:r>
          </a:p>
          <a:p>
            <a:pPr marL="0" indent="0" algn="just">
              <a:buNone/>
            </a:pPr>
            <a:r>
              <a:rPr lang="en-US" sz="2400" dirty="0"/>
              <a:t>The proposed system continuously monitors the expiry dates of medicines stored in the database. If a medicine is close to its expiry date or already expired, the system generates an alert for the pharmacist. This feature helps prevent the sale of expired medicines and ensures patient safety. </a:t>
            </a:r>
            <a:endParaRPr lang="en-IN" sz="2400" b="1" dirty="0"/>
          </a:p>
          <a:p>
            <a:pPr>
              <a:buFont typeface="Wingdings" panose="05000000000000000000" pitchFamily="2" charset="2"/>
              <a:buChar char="Ø"/>
            </a:pPr>
            <a:endParaRPr lang="en-IN" sz="2400" b="1" dirty="0"/>
          </a:p>
        </p:txBody>
      </p:sp>
    </p:spTree>
    <p:extLst>
      <p:ext uri="{BB962C8B-B14F-4D97-AF65-F5344CB8AC3E}">
        <p14:creationId xmlns:p14="http://schemas.microsoft.com/office/powerpoint/2010/main" val="3029732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DAC36-5D86-EC56-1024-92B1946212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174C9-7812-62B8-3A90-CBADD75FFA53}"/>
              </a:ext>
            </a:extLst>
          </p:cNvPr>
          <p:cNvSpPr>
            <a:spLocks noGrp="1"/>
          </p:cNvSpPr>
          <p:nvPr>
            <p:ph idx="1"/>
          </p:nvPr>
        </p:nvSpPr>
        <p:spPr>
          <a:xfrm>
            <a:off x="838200" y="1271332"/>
            <a:ext cx="10515600" cy="4315336"/>
          </a:xfrm>
        </p:spPr>
        <p:txBody>
          <a:bodyPr>
            <a:normAutofit/>
          </a:bodyPr>
          <a:lstStyle/>
          <a:p>
            <a:pPr algn="just">
              <a:buFont typeface="Wingdings" panose="05000000000000000000" pitchFamily="2" charset="2"/>
              <a:buChar char="Ø"/>
            </a:pPr>
            <a:r>
              <a:rPr lang="en-US" sz="2400" b="1" dirty="0"/>
              <a:t>Efficient sales and customer record management </a:t>
            </a:r>
            <a:endParaRPr lang="en-IN" sz="2400" b="1" dirty="0"/>
          </a:p>
          <a:p>
            <a:pPr marL="0" indent="0" algn="just">
              <a:buNone/>
            </a:pPr>
            <a:r>
              <a:rPr lang="en-US" sz="2400" dirty="0"/>
              <a:t>The system records all sales transactions automatically and maintains customer information in a structured database. It also keeps track of debtor records and purchase history. This helps the pharmacist manage customer relationships and maintain accurate financial records.</a:t>
            </a:r>
          </a:p>
          <a:p>
            <a:pPr marL="0" indent="0" algn="just">
              <a:buNone/>
            </a:pPr>
            <a:endParaRPr lang="en-IN" sz="2400" b="1" dirty="0"/>
          </a:p>
          <a:p>
            <a:pPr algn="just">
              <a:buFont typeface="Wingdings" panose="05000000000000000000" pitchFamily="2" charset="2"/>
              <a:buChar char="Ø"/>
            </a:pPr>
            <a:r>
              <a:rPr lang="en-US" sz="2400" b="1" dirty="0"/>
              <a:t>Secure access with role-based permissions </a:t>
            </a:r>
          </a:p>
          <a:p>
            <a:pPr marL="0" indent="0" algn="just">
              <a:buNone/>
            </a:pPr>
            <a:r>
              <a:rPr lang="en-US" sz="2400" dirty="0"/>
              <a:t>The system provides secure login access to different users such as administrators and staff members. Each user is given specific permissions based on their role. For example, administrators can manage inventory and generate reports, while staff members can handle sales transactions. </a:t>
            </a:r>
            <a:endParaRPr lang="en-IN" sz="2400" b="1" dirty="0"/>
          </a:p>
        </p:txBody>
      </p:sp>
    </p:spTree>
    <p:extLst>
      <p:ext uri="{BB962C8B-B14F-4D97-AF65-F5344CB8AC3E}">
        <p14:creationId xmlns:p14="http://schemas.microsoft.com/office/powerpoint/2010/main" val="47530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BD078-B4F8-AFB3-536A-64FFC26DD8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616460-2344-48FF-56BB-5E17FE01F0CA}"/>
              </a:ext>
            </a:extLst>
          </p:cNvPr>
          <p:cNvSpPr>
            <a:spLocks noGrp="1"/>
          </p:cNvSpPr>
          <p:nvPr>
            <p:ph idx="1"/>
          </p:nvPr>
        </p:nvSpPr>
        <p:spPr>
          <a:xfrm>
            <a:off x="838200" y="1271332"/>
            <a:ext cx="10515600" cy="4315336"/>
          </a:xfrm>
        </p:spPr>
        <p:txBody>
          <a:bodyPr>
            <a:normAutofit/>
          </a:bodyPr>
          <a:lstStyle/>
          <a:p>
            <a:pPr algn="just">
              <a:buFont typeface="Wingdings" panose="05000000000000000000" pitchFamily="2" charset="2"/>
              <a:buChar char="Ø"/>
            </a:pPr>
            <a:r>
              <a:rPr lang="en-US" sz="2400" b="1" dirty="0"/>
              <a:t>Reports for sales, stock, and customer trends </a:t>
            </a:r>
          </a:p>
          <a:p>
            <a:pPr marL="0" indent="0" algn="just">
              <a:buNone/>
            </a:pPr>
            <a:r>
              <a:rPr lang="en-US" sz="2400" dirty="0"/>
              <a:t>The system can generate detailed reports related to sales performance, stock availability, and customer purchasing patterns. These reports help pharmacy administrators </a:t>
            </a:r>
            <a:r>
              <a:rPr lang="en-US" sz="2400" dirty="0" err="1"/>
              <a:t>analyse</a:t>
            </a:r>
            <a:r>
              <a:rPr lang="en-US" sz="2400" dirty="0"/>
              <a:t> business performance and make better decisions regarding inventory management and sales strategies. </a:t>
            </a:r>
          </a:p>
          <a:p>
            <a:pPr marL="0" indent="0" algn="just">
              <a:buNone/>
            </a:pPr>
            <a:endParaRPr lang="en-IN" sz="2400" b="1" dirty="0"/>
          </a:p>
          <a:p>
            <a:pPr algn="just">
              <a:buFont typeface="Wingdings" panose="05000000000000000000" pitchFamily="2" charset="2"/>
              <a:buChar char="Ø"/>
            </a:pPr>
            <a:r>
              <a:rPr lang="en-US" sz="2400" b="1" dirty="0"/>
              <a:t>Providing Medicines Requested by Customers</a:t>
            </a:r>
          </a:p>
          <a:p>
            <a:pPr marL="0" indent="0" algn="just">
              <a:buNone/>
            </a:pPr>
            <a:r>
              <a:rPr lang="en-US" sz="2400" dirty="0"/>
              <a:t>The system allows pharmacists to quickly check the availability of medicines requested by customers. If the medicine is available and not expired, it can be dispensed immediately. This improves service speed, increases customer satisfaction, and ensures accurate billing and record keeping. </a:t>
            </a:r>
            <a:endParaRPr lang="en-IN" sz="2400" b="1" dirty="0"/>
          </a:p>
        </p:txBody>
      </p:sp>
    </p:spTree>
    <p:extLst>
      <p:ext uri="{BB962C8B-B14F-4D97-AF65-F5344CB8AC3E}">
        <p14:creationId xmlns:p14="http://schemas.microsoft.com/office/powerpoint/2010/main" val="219993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CEE81-2704-5484-646A-BAF4247A5824}"/>
              </a:ext>
            </a:extLst>
          </p:cNvPr>
          <p:cNvSpPr>
            <a:spLocks noGrp="1"/>
          </p:cNvSpPr>
          <p:nvPr>
            <p:ph idx="1"/>
          </p:nvPr>
        </p:nvSpPr>
        <p:spPr>
          <a:xfrm>
            <a:off x="932469" y="1774378"/>
            <a:ext cx="10515600" cy="3290389"/>
          </a:xfrm>
        </p:spPr>
        <p:txBody>
          <a:bodyPr/>
          <a:lstStyle/>
          <a:p>
            <a:pPr>
              <a:buFont typeface="Wingdings" panose="05000000000000000000" pitchFamily="2" charset="2"/>
              <a:buChar char="Ø"/>
            </a:pPr>
            <a:r>
              <a:rPr lang="en-IN" b="1" u="sng" dirty="0"/>
              <a:t>Scope</a:t>
            </a:r>
            <a:r>
              <a:rPr lang="en-IN" b="1" dirty="0"/>
              <a:t> :-</a:t>
            </a:r>
            <a:r>
              <a:rPr lang="en-IN" dirty="0"/>
              <a:t> </a:t>
            </a:r>
          </a:p>
          <a:p>
            <a:pPr marL="0" indent="0">
              <a:buNone/>
            </a:pPr>
            <a:endParaRPr lang="en-IN" dirty="0"/>
          </a:p>
          <a:p>
            <a:pPr>
              <a:buFont typeface="Wingdings" panose="05000000000000000000" pitchFamily="2" charset="2"/>
              <a:buChar char="Ø"/>
            </a:pPr>
            <a:r>
              <a:rPr lang="en-US" sz="2400" b="1" dirty="0"/>
              <a:t>After billing, an SMS notification is not sent to the customer.</a:t>
            </a:r>
          </a:p>
          <a:p>
            <a:pPr marL="0" indent="0" algn="just">
              <a:buNone/>
            </a:pPr>
            <a:r>
              <a:rPr lang="en-US" sz="2400" dirty="0"/>
              <a:t>In the proposed system, SMS notification functionality is not included after billing. Once the payment is completed and the bill is generated, the system only records the transaction internally. Customers do not receive any SMS confirmation regarding their purchase, bill details, or payment information. This limitation means customers must rely on printed receipts for transaction records. </a:t>
            </a:r>
            <a:endParaRPr lang="en-US" sz="2400" b="1" dirty="0"/>
          </a:p>
        </p:txBody>
      </p:sp>
    </p:spTree>
    <p:extLst>
      <p:ext uri="{BB962C8B-B14F-4D97-AF65-F5344CB8AC3E}">
        <p14:creationId xmlns:p14="http://schemas.microsoft.com/office/powerpoint/2010/main" val="2394959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D706-2968-ABE3-7541-3046A3491B70}"/>
              </a:ext>
            </a:extLst>
          </p:cNvPr>
          <p:cNvSpPr>
            <a:spLocks noGrp="1"/>
          </p:cNvSpPr>
          <p:nvPr>
            <p:ph type="title"/>
          </p:nvPr>
        </p:nvSpPr>
        <p:spPr>
          <a:xfrm>
            <a:off x="838200" y="907550"/>
            <a:ext cx="10515600" cy="1325563"/>
          </a:xfrm>
        </p:spPr>
        <p:txBody>
          <a:bodyPr>
            <a:normAutofit/>
          </a:bodyPr>
          <a:lstStyle/>
          <a:p>
            <a:pPr marL="571500" indent="-571500">
              <a:buFont typeface="Wingdings" panose="05000000000000000000" pitchFamily="2" charset="2"/>
              <a:buChar char="§"/>
            </a:pPr>
            <a:r>
              <a:rPr lang="en-IN" sz="3200" b="1" u="sng" dirty="0">
                <a:latin typeface="+mn-lt"/>
              </a:rPr>
              <a:t>Hardware and Software Specification</a:t>
            </a:r>
          </a:p>
        </p:txBody>
      </p:sp>
      <p:sp>
        <p:nvSpPr>
          <p:cNvPr id="3" name="Content Placeholder 2">
            <a:extLst>
              <a:ext uri="{FF2B5EF4-FFF2-40B4-BE49-F238E27FC236}">
                <a16:creationId xmlns:a16="http://schemas.microsoft.com/office/drawing/2014/main" id="{80719741-6209-518A-60C2-5181BFF74F8B}"/>
              </a:ext>
            </a:extLst>
          </p:cNvPr>
          <p:cNvSpPr>
            <a:spLocks noGrp="1"/>
          </p:cNvSpPr>
          <p:nvPr>
            <p:ph idx="1"/>
          </p:nvPr>
        </p:nvSpPr>
        <p:spPr>
          <a:xfrm>
            <a:off x="838200" y="2362184"/>
            <a:ext cx="10515600" cy="2925484"/>
          </a:xfrm>
        </p:spPr>
        <p:txBody>
          <a:bodyPr/>
          <a:lstStyle/>
          <a:p>
            <a:pPr>
              <a:buFont typeface="Wingdings" panose="05000000000000000000" pitchFamily="2" charset="2"/>
              <a:buChar char="Ø"/>
            </a:pPr>
            <a:r>
              <a:rPr lang="en-IN" b="1" u="sng" dirty="0"/>
              <a:t>Hardware (Server):- </a:t>
            </a:r>
          </a:p>
          <a:p>
            <a:pPr marL="0" indent="0">
              <a:buNone/>
            </a:pPr>
            <a:endParaRPr lang="en-IN" dirty="0"/>
          </a:p>
          <a:p>
            <a:r>
              <a:rPr lang="en-IN" sz="2400" dirty="0"/>
              <a:t>Processor :-  </a:t>
            </a:r>
            <a:r>
              <a:rPr lang="en-US" sz="2400" dirty="0"/>
              <a:t>Pentium 2.0 GHz or Above</a:t>
            </a:r>
          </a:p>
          <a:p>
            <a:r>
              <a:rPr lang="en-US" sz="2400" dirty="0"/>
              <a:t>RAM :-  </a:t>
            </a:r>
            <a:r>
              <a:rPr lang="en-IN" sz="2400" dirty="0"/>
              <a:t>1GB – 2GB  </a:t>
            </a:r>
          </a:p>
          <a:p>
            <a:r>
              <a:rPr lang="en-IN" sz="2400" dirty="0"/>
              <a:t>Hard Disk :-  Minimum 10GB Free Space</a:t>
            </a:r>
          </a:p>
          <a:p>
            <a:r>
              <a:rPr lang="en-IN" sz="2400" dirty="0"/>
              <a:t>Internet  :- 3G / 4G / 5G</a:t>
            </a:r>
            <a:endParaRPr lang="en-US" sz="2400" dirty="0"/>
          </a:p>
          <a:p>
            <a:endParaRPr lang="en-IN" dirty="0"/>
          </a:p>
        </p:txBody>
      </p:sp>
    </p:spTree>
    <p:extLst>
      <p:ext uri="{BB962C8B-B14F-4D97-AF65-F5344CB8AC3E}">
        <p14:creationId xmlns:p14="http://schemas.microsoft.com/office/powerpoint/2010/main" val="2666910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D8D0D-31FE-0F3F-3451-18BB969574E0}"/>
              </a:ext>
            </a:extLst>
          </p:cNvPr>
          <p:cNvSpPr>
            <a:spLocks noGrp="1"/>
          </p:cNvSpPr>
          <p:nvPr>
            <p:ph idx="1"/>
          </p:nvPr>
        </p:nvSpPr>
        <p:spPr>
          <a:xfrm>
            <a:off x="838200" y="1999252"/>
            <a:ext cx="10515600" cy="2859496"/>
          </a:xfrm>
        </p:spPr>
        <p:txBody>
          <a:bodyPr/>
          <a:lstStyle/>
          <a:p>
            <a:pPr>
              <a:buFont typeface="Wingdings" panose="05000000000000000000" pitchFamily="2" charset="2"/>
              <a:buChar char="Ø"/>
            </a:pPr>
            <a:r>
              <a:rPr lang="en-IN" b="1" u="sng" dirty="0"/>
              <a:t>Hardware (Client):-</a:t>
            </a:r>
          </a:p>
          <a:p>
            <a:pPr marL="0" indent="0">
              <a:buNone/>
            </a:pPr>
            <a:endParaRPr lang="en-IN" dirty="0"/>
          </a:p>
          <a:p>
            <a:r>
              <a:rPr lang="en-IN" sz="2400" dirty="0"/>
              <a:t>CPU :- </a:t>
            </a:r>
            <a:r>
              <a:rPr lang="en-US" sz="2400" dirty="0"/>
              <a:t>2.66 GHz or Higher (Intel / AMD)</a:t>
            </a:r>
          </a:p>
          <a:p>
            <a:r>
              <a:rPr lang="en-US" sz="2400" dirty="0"/>
              <a:t>RAM :-  </a:t>
            </a:r>
            <a:r>
              <a:rPr lang="en-IN" sz="2400" dirty="0"/>
              <a:t>1GB or Higher</a:t>
            </a:r>
            <a:endParaRPr lang="en-US" sz="2400" dirty="0"/>
          </a:p>
          <a:p>
            <a:r>
              <a:rPr lang="en-US" sz="2400" dirty="0"/>
              <a:t>Hard Disk :- </a:t>
            </a:r>
            <a:r>
              <a:rPr lang="en-IN" sz="2400" dirty="0"/>
              <a:t>1.5GB or Higher</a:t>
            </a:r>
            <a:endParaRPr lang="en-US" sz="2400" dirty="0"/>
          </a:p>
          <a:p>
            <a:r>
              <a:rPr lang="en-US" sz="2400" dirty="0"/>
              <a:t>Internet :- </a:t>
            </a:r>
            <a:r>
              <a:rPr lang="en-IN" sz="2400" dirty="0"/>
              <a:t>Stable Internet Connection (Wi-Fi / 3G / 4G / 5G)</a:t>
            </a:r>
            <a:endParaRPr lang="en-US" sz="2400"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1061551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5865425-543C-A519-BE11-66A7780B2311}"/>
              </a:ext>
            </a:extLst>
          </p:cNvPr>
          <p:cNvSpPr txBox="1">
            <a:spLocks/>
          </p:cNvSpPr>
          <p:nvPr/>
        </p:nvSpPr>
        <p:spPr>
          <a:xfrm>
            <a:off x="838200" y="1975685"/>
            <a:ext cx="10515600" cy="29066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IN" b="1" u="sng" dirty="0"/>
              <a:t>Software (Server):-</a:t>
            </a:r>
          </a:p>
          <a:p>
            <a:pPr marL="0" indent="0">
              <a:buFont typeface="Arial" panose="020B0604020202020204" pitchFamily="34" charset="0"/>
              <a:buNone/>
            </a:pPr>
            <a:endParaRPr lang="en-IN" dirty="0"/>
          </a:p>
          <a:p>
            <a:r>
              <a:rPr lang="en-IN" sz="2400" dirty="0"/>
              <a:t>Operating System :- Windows 7 or Higher</a:t>
            </a:r>
          </a:p>
          <a:p>
            <a:r>
              <a:rPr lang="en-IN" sz="2400" dirty="0"/>
              <a:t>Frontend :- HTML, CSS, JavaScript</a:t>
            </a:r>
          </a:p>
          <a:p>
            <a:r>
              <a:rPr lang="en-IN" sz="2400" dirty="0"/>
              <a:t>Backend :- Python with Django </a:t>
            </a:r>
          </a:p>
          <a:p>
            <a:r>
              <a:rPr lang="en-IN" sz="2400" dirty="0"/>
              <a:t>Database :- SQLite3</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3055164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9C69D58-9560-FA17-3DFA-A951B8E76759}"/>
              </a:ext>
            </a:extLst>
          </p:cNvPr>
          <p:cNvSpPr txBox="1">
            <a:spLocks/>
          </p:cNvSpPr>
          <p:nvPr/>
        </p:nvSpPr>
        <p:spPr>
          <a:xfrm>
            <a:off x="838200" y="2197215"/>
            <a:ext cx="10515600" cy="24635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IN" b="1" u="sng" dirty="0"/>
              <a:t>Software (Client):-</a:t>
            </a:r>
          </a:p>
          <a:p>
            <a:pPr marL="0" indent="0">
              <a:buFont typeface="Arial" panose="020B0604020202020204" pitchFamily="34" charset="0"/>
              <a:buNone/>
            </a:pPr>
            <a:endParaRPr lang="en-IN" dirty="0"/>
          </a:p>
          <a:p>
            <a:r>
              <a:rPr lang="en-IN" sz="2400" dirty="0"/>
              <a:t>Operating System :-Windows XP or Higher</a:t>
            </a:r>
          </a:p>
          <a:p>
            <a:r>
              <a:rPr lang="en-IN" sz="2400" dirty="0"/>
              <a:t>Web Browser :- Chrome, Firefox, Edge</a:t>
            </a:r>
          </a:p>
          <a:p>
            <a:r>
              <a:rPr lang="en-IN" sz="2400" dirty="0"/>
              <a:t>Mobile Browser :- Chrome, Opera Mini</a:t>
            </a:r>
          </a:p>
        </p:txBody>
      </p:sp>
    </p:spTree>
    <p:extLst>
      <p:ext uri="{BB962C8B-B14F-4D97-AF65-F5344CB8AC3E}">
        <p14:creationId xmlns:p14="http://schemas.microsoft.com/office/powerpoint/2010/main" val="1235640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87917-BA3E-6A60-5427-13621C759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EDA33-0498-DF38-A5B2-9BF9BB8568C6}"/>
              </a:ext>
            </a:extLst>
          </p:cNvPr>
          <p:cNvSpPr>
            <a:spLocks noGrp="1"/>
          </p:cNvSpPr>
          <p:nvPr>
            <p:ph type="title"/>
          </p:nvPr>
        </p:nvSpPr>
        <p:spPr>
          <a:xfrm>
            <a:off x="838200" y="1552903"/>
            <a:ext cx="10515600" cy="1325563"/>
          </a:xfrm>
        </p:spPr>
        <p:txBody>
          <a:bodyPr>
            <a:normAutofit/>
          </a:bodyPr>
          <a:lstStyle/>
          <a:p>
            <a:pPr marL="457200" indent="-457200">
              <a:buFont typeface="Wingdings" panose="05000000000000000000" pitchFamily="2" charset="2"/>
              <a:buChar char="§"/>
            </a:pPr>
            <a:r>
              <a:rPr lang="en-IN" sz="3200" b="1" u="sng" dirty="0">
                <a:latin typeface="+mn-lt"/>
              </a:rPr>
              <a:t>Analysis</a:t>
            </a:r>
          </a:p>
        </p:txBody>
      </p:sp>
      <p:sp>
        <p:nvSpPr>
          <p:cNvPr id="3" name="Content Placeholder 2">
            <a:extLst>
              <a:ext uri="{FF2B5EF4-FFF2-40B4-BE49-F238E27FC236}">
                <a16:creationId xmlns:a16="http://schemas.microsoft.com/office/drawing/2014/main" id="{E29D5A2F-558C-0878-2617-0F845B96550C}"/>
              </a:ext>
            </a:extLst>
          </p:cNvPr>
          <p:cNvSpPr>
            <a:spLocks noGrp="1"/>
          </p:cNvSpPr>
          <p:nvPr>
            <p:ph idx="1"/>
          </p:nvPr>
        </p:nvSpPr>
        <p:spPr>
          <a:xfrm>
            <a:off x="838200" y="2974926"/>
            <a:ext cx="10515600" cy="1699999"/>
          </a:xfrm>
        </p:spPr>
        <p:txBody>
          <a:bodyPr/>
          <a:lstStyle/>
          <a:p>
            <a:pPr>
              <a:buFont typeface="Wingdings" panose="05000000000000000000" pitchFamily="2" charset="2"/>
              <a:buChar char="Ø"/>
            </a:pPr>
            <a:r>
              <a:rPr lang="en-IN" b="1" dirty="0"/>
              <a:t>Fact Finding Method :-  </a:t>
            </a:r>
          </a:p>
          <a:p>
            <a:pPr marL="0" indent="0" algn="just">
              <a:buNone/>
            </a:pPr>
            <a:r>
              <a:rPr lang="en-US" sz="2400" dirty="0"/>
              <a:t>Fact finding method is used to collect information about the existing system and user requirements. This information is gathered through techniques such as interviews, observation, and document analysis.</a:t>
            </a:r>
            <a:r>
              <a:rPr lang="en-US" dirty="0"/>
              <a:t> </a:t>
            </a:r>
            <a:endParaRPr lang="en-IN" b="1" dirty="0"/>
          </a:p>
        </p:txBody>
      </p:sp>
    </p:spTree>
    <p:extLst>
      <p:ext uri="{BB962C8B-B14F-4D97-AF65-F5344CB8AC3E}">
        <p14:creationId xmlns:p14="http://schemas.microsoft.com/office/powerpoint/2010/main" val="1980312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347F8CA-9403-5599-1853-628EAD77A0BC}"/>
              </a:ext>
            </a:extLst>
          </p:cNvPr>
          <p:cNvGraphicFramePr>
            <a:graphicFrameLocks noGrp="1"/>
          </p:cNvGraphicFramePr>
          <p:nvPr>
            <p:extLst>
              <p:ext uri="{D42A27DB-BD31-4B8C-83A1-F6EECF244321}">
                <p14:modId xmlns:p14="http://schemas.microsoft.com/office/powerpoint/2010/main" val="3442467430"/>
              </p:ext>
            </p:extLst>
          </p:nvPr>
        </p:nvGraphicFramePr>
        <p:xfrm>
          <a:off x="1319753" y="1121791"/>
          <a:ext cx="9285402" cy="5598872"/>
        </p:xfrm>
        <a:graphic>
          <a:graphicData uri="http://schemas.openxmlformats.org/drawingml/2006/table">
            <a:tbl>
              <a:tblPr firstRow="1" bandRow="1">
                <a:tableStyleId>{5C22544A-7EE6-4342-B048-85BDC9FD1C3A}</a:tableStyleId>
              </a:tblPr>
              <a:tblGrid>
                <a:gridCol w="3343175">
                  <a:extLst>
                    <a:ext uri="{9D8B030D-6E8A-4147-A177-3AD203B41FA5}">
                      <a16:colId xmlns:a16="http://schemas.microsoft.com/office/drawing/2014/main" val="1058356589"/>
                    </a:ext>
                  </a:extLst>
                </a:gridCol>
                <a:gridCol w="2847093">
                  <a:extLst>
                    <a:ext uri="{9D8B030D-6E8A-4147-A177-3AD203B41FA5}">
                      <a16:colId xmlns:a16="http://schemas.microsoft.com/office/drawing/2014/main" val="3523534945"/>
                    </a:ext>
                  </a:extLst>
                </a:gridCol>
                <a:gridCol w="3095134">
                  <a:extLst>
                    <a:ext uri="{9D8B030D-6E8A-4147-A177-3AD203B41FA5}">
                      <a16:colId xmlns:a16="http://schemas.microsoft.com/office/drawing/2014/main" val="3156637020"/>
                    </a:ext>
                  </a:extLst>
                </a:gridCol>
              </a:tblGrid>
              <a:tr h="763163">
                <a:tc>
                  <a:txBody>
                    <a:bodyPr/>
                    <a:lstStyle/>
                    <a:p>
                      <a:pPr algn="ctr"/>
                      <a:r>
                        <a:rPr lang="en-IN" sz="2400" dirty="0"/>
                        <a:t>Feature</a:t>
                      </a:r>
                    </a:p>
                  </a:txBody>
                  <a:tcPr marT="34350" marB="34350"/>
                </a:tc>
                <a:tc>
                  <a:txBody>
                    <a:bodyPr/>
                    <a:lstStyle/>
                    <a:p>
                      <a:pPr algn="ctr"/>
                      <a:r>
                        <a:rPr lang="en-IN" sz="2400" dirty="0"/>
                        <a:t>Manual Pharmacy (Existing System)</a:t>
                      </a:r>
                    </a:p>
                  </a:txBody>
                  <a:tcPr marT="34350" marB="34350"/>
                </a:tc>
                <a:tc>
                  <a:txBody>
                    <a:bodyPr/>
                    <a:lstStyle/>
                    <a:p>
                      <a:pPr algn="ctr"/>
                      <a:r>
                        <a:rPr lang="en-IN" sz="2400" dirty="0"/>
                        <a:t>Dava India(Existing System)</a:t>
                      </a:r>
                    </a:p>
                  </a:txBody>
                  <a:tcPr marT="34350" marB="34350"/>
                </a:tc>
                <a:extLst>
                  <a:ext uri="{0D108BD9-81ED-4DB2-BD59-A6C34878D82A}">
                    <a16:rowId xmlns:a16="http://schemas.microsoft.com/office/drawing/2014/main" val="544423205"/>
                  </a:ext>
                </a:extLst>
              </a:tr>
              <a:tr h="537068">
                <a:tc>
                  <a:txBody>
                    <a:bodyPr/>
                    <a:lstStyle/>
                    <a:p>
                      <a:pPr algn="ctr"/>
                      <a:r>
                        <a:rPr lang="en-IN" sz="1600" dirty="0"/>
                        <a:t>Digital Record Management</a:t>
                      </a:r>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2428143470"/>
                  </a:ext>
                </a:extLst>
              </a:tr>
              <a:tr h="411460">
                <a:tc>
                  <a:txBody>
                    <a:bodyPr/>
                    <a:lstStyle/>
                    <a:p>
                      <a:pPr algn="ctr"/>
                      <a:r>
                        <a:rPr lang="en-IN" sz="1600" dirty="0"/>
                        <a:t>Real-time Medicine Stock Monitoring</a:t>
                      </a:r>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3474823237"/>
                  </a:ext>
                </a:extLst>
              </a:tr>
              <a:tr h="429728">
                <a:tc>
                  <a:txBody>
                    <a:bodyPr/>
                    <a:lstStyle/>
                    <a:p>
                      <a:pPr algn="ctr"/>
                      <a:r>
                        <a:rPr lang="en-US" sz="1600" dirty="0"/>
                        <a:t>Medicine Search by Name / Code</a:t>
                      </a:r>
                      <a:endParaRPr lang="en-IN" sz="1600" dirty="0"/>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1174606329"/>
                  </a:ext>
                </a:extLst>
              </a:tr>
              <a:tr h="325910">
                <a:tc>
                  <a:txBody>
                    <a:bodyPr/>
                    <a:lstStyle/>
                    <a:p>
                      <a:pPr algn="ctr"/>
                      <a:r>
                        <a:rPr lang="en-IN" sz="1600" dirty="0"/>
                        <a:t>Expiry Date Alert</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1335643743"/>
                  </a:ext>
                </a:extLst>
              </a:tr>
              <a:tr h="325910">
                <a:tc>
                  <a:txBody>
                    <a:bodyPr/>
                    <a:lstStyle/>
                    <a:p>
                      <a:pPr algn="ctr"/>
                      <a:r>
                        <a:rPr lang="en-IN" sz="1600" dirty="0"/>
                        <a:t>Low Stock Alert</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3592924388"/>
                  </a:ext>
                </a:extLst>
              </a:tr>
              <a:tr h="325910">
                <a:tc>
                  <a:txBody>
                    <a:bodyPr/>
                    <a:lstStyle/>
                    <a:p>
                      <a:pPr algn="ctr"/>
                      <a:r>
                        <a:rPr lang="en-IN" sz="1600" dirty="0"/>
                        <a:t>Customer Management</a:t>
                      </a:r>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1383527256"/>
                  </a:ext>
                </a:extLst>
              </a:tr>
              <a:tr h="325910">
                <a:tc>
                  <a:txBody>
                    <a:bodyPr/>
                    <a:lstStyle/>
                    <a:p>
                      <a:pPr algn="ctr"/>
                      <a:r>
                        <a:rPr lang="en-IN" sz="1600" dirty="0"/>
                        <a:t>Debtor Management</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2646329290"/>
                  </a:ext>
                </a:extLst>
              </a:tr>
              <a:tr h="418220">
                <a:tc>
                  <a:txBody>
                    <a:bodyPr/>
                    <a:lstStyle/>
                    <a:p>
                      <a:pPr algn="ctr"/>
                      <a:r>
                        <a:rPr lang="en-IN" sz="1600" dirty="0"/>
                        <a:t>Medicine Request</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727146724"/>
                  </a:ext>
                </a:extLst>
              </a:tr>
              <a:tr h="394896">
                <a:tc>
                  <a:txBody>
                    <a:bodyPr/>
                    <a:lstStyle/>
                    <a:p>
                      <a:pPr algn="ctr"/>
                      <a:r>
                        <a:rPr lang="en-IN" sz="1600" dirty="0"/>
                        <a:t>Automatic Sales Calculation</a:t>
                      </a:r>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686171332"/>
                  </a:ext>
                </a:extLst>
              </a:tr>
              <a:tr h="325910">
                <a:tc>
                  <a:txBody>
                    <a:bodyPr/>
                    <a:lstStyle/>
                    <a:p>
                      <a:pPr algn="ctr"/>
                      <a:r>
                        <a:rPr lang="en-IN" sz="1600" dirty="0"/>
                        <a:t>Invoice Generation</a:t>
                      </a:r>
                    </a:p>
                  </a:txBody>
                  <a:tcPr marT="34350" marB="34350"/>
                </a:tc>
                <a:tc>
                  <a:txBody>
                    <a:bodyPr/>
                    <a:lstStyle/>
                    <a:p>
                      <a:pPr algn="ctr"/>
                      <a:r>
                        <a:rPr lang="en-IN" sz="1600" dirty="0"/>
                        <a:t>NO</a:t>
                      </a:r>
                    </a:p>
                  </a:txBody>
                  <a:tcPr marT="34350" marB="34350"/>
                </a:tc>
                <a:tc>
                  <a:txBody>
                    <a:bodyPr/>
                    <a:lstStyle/>
                    <a:p>
                      <a:pPr algn="ctr"/>
                      <a:r>
                        <a:rPr lang="en-IN" sz="1600" dirty="0"/>
                        <a:t>YES</a:t>
                      </a:r>
                    </a:p>
                  </a:txBody>
                  <a:tcPr marT="34350" marB="34350"/>
                </a:tc>
                <a:extLst>
                  <a:ext uri="{0D108BD9-81ED-4DB2-BD59-A6C34878D82A}">
                    <a16:rowId xmlns:a16="http://schemas.microsoft.com/office/drawing/2014/main" val="2804754651"/>
                  </a:ext>
                </a:extLst>
              </a:tr>
              <a:tr h="325910">
                <a:tc>
                  <a:txBody>
                    <a:bodyPr/>
                    <a:lstStyle/>
                    <a:p>
                      <a:pPr algn="ctr"/>
                      <a:r>
                        <a:rPr lang="en-IN" sz="1600" dirty="0"/>
                        <a:t>Report Generation</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3532912913"/>
                  </a:ext>
                </a:extLst>
              </a:tr>
              <a:tr h="325910">
                <a:tc>
                  <a:txBody>
                    <a:bodyPr/>
                    <a:lstStyle/>
                    <a:p>
                      <a:pPr algn="ctr">
                        <a:buNone/>
                      </a:pPr>
                      <a:r>
                        <a:rPr lang="en-IN" sz="1600" dirty="0"/>
                        <a:t>Real-time Data Access</a:t>
                      </a:r>
                    </a:p>
                  </a:txBody>
                  <a:tcPr marT="34350" marB="34350" anchor="ctr"/>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951975807"/>
                  </a:ext>
                </a:extLst>
              </a:tr>
              <a:tr h="325910">
                <a:tc>
                  <a:txBody>
                    <a:bodyPr/>
                    <a:lstStyle/>
                    <a:p>
                      <a:pPr algn="ctr"/>
                      <a:r>
                        <a:rPr lang="en-IN" sz="1600" dirty="0"/>
                        <a:t>Error Reduction</a:t>
                      </a:r>
                    </a:p>
                  </a:txBody>
                  <a:tcPr marT="34350" marB="34350"/>
                </a:tc>
                <a:tc>
                  <a:txBody>
                    <a:bodyPr/>
                    <a:lstStyle/>
                    <a:p>
                      <a:pPr algn="ctr"/>
                      <a:r>
                        <a:rPr lang="en-IN" sz="1600" dirty="0"/>
                        <a:t>NO</a:t>
                      </a:r>
                    </a:p>
                  </a:txBody>
                  <a:tcPr marT="34350" marB="34350"/>
                </a:tc>
                <a:tc>
                  <a:txBody>
                    <a:bodyPr/>
                    <a:lstStyle/>
                    <a:p>
                      <a:pPr algn="ctr"/>
                      <a:r>
                        <a:rPr lang="en-IN" sz="1600" dirty="0"/>
                        <a:t>NO</a:t>
                      </a:r>
                    </a:p>
                  </a:txBody>
                  <a:tcPr marT="34350" marB="34350"/>
                </a:tc>
                <a:extLst>
                  <a:ext uri="{0D108BD9-81ED-4DB2-BD59-A6C34878D82A}">
                    <a16:rowId xmlns:a16="http://schemas.microsoft.com/office/drawing/2014/main" val="1124152512"/>
                  </a:ext>
                </a:extLst>
              </a:tr>
            </a:tbl>
          </a:graphicData>
        </a:graphic>
      </p:graphicFrame>
    </p:spTree>
    <p:extLst>
      <p:ext uri="{BB962C8B-B14F-4D97-AF65-F5344CB8AC3E}">
        <p14:creationId xmlns:p14="http://schemas.microsoft.com/office/powerpoint/2010/main" val="424137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2AD77-669F-94FD-E4FA-270C4184FA9B}"/>
              </a:ext>
            </a:extLst>
          </p:cNvPr>
          <p:cNvSpPr>
            <a:spLocks noGrp="1"/>
          </p:cNvSpPr>
          <p:nvPr>
            <p:ph type="title"/>
          </p:nvPr>
        </p:nvSpPr>
        <p:spPr/>
        <p:txBody>
          <a:bodyPr/>
          <a:lstStyle/>
          <a:p>
            <a:pPr marL="457200" indent="-457200">
              <a:buFont typeface="Wingdings" panose="05000000000000000000" pitchFamily="2" charset="2"/>
              <a:buChar char="§"/>
            </a:pPr>
            <a:r>
              <a:rPr lang="en-IN" sz="3200" b="1" u="sng" dirty="0">
                <a:latin typeface="+mn-lt"/>
              </a:rPr>
              <a:t>Process Model</a:t>
            </a:r>
            <a:r>
              <a:rPr lang="en-IN" sz="3200" b="1" dirty="0">
                <a:latin typeface="+mn-lt"/>
              </a:rPr>
              <a:t> :-</a:t>
            </a:r>
            <a:r>
              <a:rPr lang="en-IN" sz="3200" b="1" u="sng" dirty="0">
                <a:latin typeface="+mn-lt"/>
              </a:rPr>
              <a:t> </a:t>
            </a:r>
          </a:p>
        </p:txBody>
      </p:sp>
      <p:sp>
        <p:nvSpPr>
          <p:cNvPr id="3" name="Content Placeholder 2">
            <a:extLst>
              <a:ext uri="{FF2B5EF4-FFF2-40B4-BE49-F238E27FC236}">
                <a16:creationId xmlns:a16="http://schemas.microsoft.com/office/drawing/2014/main" id="{D29D97FD-1FD2-CBE2-DC6A-C5EB180CB415}"/>
              </a:ext>
            </a:extLst>
          </p:cNvPr>
          <p:cNvSpPr>
            <a:spLocks noGrp="1"/>
          </p:cNvSpPr>
          <p:nvPr>
            <p:ph idx="1"/>
          </p:nvPr>
        </p:nvSpPr>
        <p:spPr>
          <a:xfrm>
            <a:off x="838200" y="1690688"/>
            <a:ext cx="10515600" cy="4351338"/>
          </a:xfrm>
        </p:spPr>
        <p:txBody>
          <a:bodyPr/>
          <a:lstStyle/>
          <a:p>
            <a:pPr>
              <a:buFont typeface="Wingdings" panose="05000000000000000000" pitchFamily="2" charset="2"/>
              <a:buChar char="Ø"/>
            </a:pPr>
            <a:r>
              <a:rPr lang="en-IN" b="1" u="sng" dirty="0"/>
              <a:t>Agile Model</a:t>
            </a:r>
            <a:r>
              <a:rPr lang="en-IN" b="1" dirty="0"/>
              <a:t> :-</a:t>
            </a:r>
            <a:r>
              <a:rPr lang="en-IN" sz="2400" b="1" dirty="0"/>
              <a:t> </a:t>
            </a:r>
          </a:p>
        </p:txBody>
      </p:sp>
      <p:pic>
        <p:nvPicPr>
          <p:cNvPr id="6" name="Picture 5">
            <a:extLst>
              <a:ext uri="{FF2B5EF4-FFF2-40B4-BE49-F238E27FC236}">
                <a16:creationId xmlns:a16="http://schemas.microsoft.com/office/drawing/2014/main" id="{26A5187F-6CEC-5FA4-BAA9-1528E2B012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1039" y="1690688"/>
            <a:ext cx="7183225" cy="4564863"/>
          </a:xfrm>
          <a:prstGeom prst="rect">
            <a:avLst/>
          </a:prstGeom>
        </p:spPr>
      </p:pic>
    </p:spTree>
    <p:extLst>
      <p:ext uri="{BB962C8B-B14F-4D97-AF65-F5344CB8AC3E}">
        <p14:creationId xmlns:p14="http://schemas.microsoft.com/office/powerpoint/2010/main" val="32632011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8B42A0C-AD8E-750F-3975-07C1980316FC}"/>
              </a:ext>
            </a:extLst>
          </p:cNvPr>
          <p:cNvSpPr txBox="1">
            <a:spLocks noGrp="1"/>
          </p:cNvSpPr>
          <p:nvPr>
            <p:ph idx="1"/>
          </p:nvPr>
        </p:nvSpPr>
        <p:spPr>
          <a:xfrm>
            <a:off x="838200" y="1962957"/>
            <a:ext cx="10515600" cy="2932085"/>
          </a:xfrm>
          <a:prstGeom prst="rect">
            <a:avLst/>
          </a:prstGeom>
          <a:noFill/>
        </p:spPr>
        <p:txBody>
          <a:bodyPr wrap="square">
            <a:spAutoFit/>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Agile Model is an iterative development approach where the system is developed in small parts. Each part is designed, developed, and tested step by step.</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model allows easy changes and continuous improvement of the system.</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Agile development can also lead to cost savings due to its flexible and adaptable process structure.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6278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D4DFD-DB17-C592-6377-03B088E881B3}"/>
              </a:ext>
            </a:extLst>
          </p:cNvPr>
          <p:cNvSpPr>
            <a:spLocks noGrp="1"/>
          </p:cNvSpPr>
          <p:nvPr>
            <p:ph type="title"/>
          </p:nvPr>
        </p:nvSpPr>
        <p:spPr/>
        <p:txBody>
          <a:bodyPr>
            <a:normAutofit/>
          </a:bodyPr>
          <a:lstStyle/>
          <a:p>
            <a:pPr marL="457200" indent="-457200">
              <a:buFont typeface="Wingdings" panose="05000000000000000000" pitchFamily="2" charset="2"/>
              <a:buChar char="§"/>
            </a:pPr>
            <a:r>
              <a:rPr lang="en-IN" sz="3200" b="1" u="sng" dirty="0">
                <a:latin typeface="Times New Roman" panose="02020603050405020304" pitchFamily="18" charset="0"/>
                <a:cs typeface="Times New Roman" panose="02020603050405020304" pitchFamily="18" charset="0"/>
              </a:rPr>
              <a:t>Development Strategy</a:t>
            </a:r>
            <a:endParaRPr lang="en-IN" sz="3200" b="1" u="sng" dirty="0"/>
          </a:p>
        </p:txBody>
      </p:sp>
      <p:sp>
        <p:nvSpPr>
          <p:cNvPr id="3" name="Content Placeholder 2">
            <a:extLst>
              <a:ext uri="{FF2B5EF4-FFF2-40B4-BE49-F238E27FC236}">
                <a16:creationId xmlns:a16="http://schemas.microsoft.com/office/drawing/2014/main" id="{6C999F02-17C2-E64C-66BA-E55EAB3F1FC9}"/>
              </a:ext>
            </a:extLst>
          </p:cNvPr>
          <p:cNvSpPr>
            <a:spLocks noGrp="1"/>
          </p:cNvSpPr>
          <p:nvPr>
            <p:ph idx="1"/>
          </p:nvPr>
        </p:nvSpPr>
        <p:spPr>
          <a:xfrm>
            <a:off x="838200" y="1690688"/>
            <a:ext cx="10515600" cy="4351338"/>
          </a:xfrm>
        </p:spPr>
        <p:txBody>
          <a:bodyPr>
            <a:noAutofit/>
          </a:bodyPr>
          <a:lstStyle/>
          <a:p>
            <a:pPr algn="just">
              <a:buFont typeface="Wingdings" panose="05000000000000000000" pitchFamily="2" charset="2"/>
              <a:buChar char="Ø"/>
            </a:pPr>
            <a:r>
              <a:rPr lang="en-US" sz="2400" dirty="0" err="1"/>
              <a:t>PharmaCentral</a:t>
            </a:r>
            <a:r>
              <a:rPr lang="en-US" sz="2400" dirty="0"/>
              <a:t> will be developed using an </a:t>
            </a:r>
            <a:r>
              <a:rPr lang="en-US" sz="2400" b="1" dirty="0"/>
              <a:t>Agile approach</a:t>
            </a:r>
            <a:r>
              <a:rPr lang="en-US" sz="2400" dirty="0"/>
              <a:t>, where the system is built step by step and improved regularly. First, the project requirements will be collected, such as medicine management, sales tracking, customer records, debtor management, and alert features. After that, the system design will be prepared using database tables, class diagrams, and module planning.</a:t>
            </a:r>
          </a:p>
          <a:p>
            <a:pPr algn="just">
              <a:buFont typeface="Wingdings" panose="05000000000000000000" pitchFamily="2" charset="2"/>
              <a:buChar char="Ø"/>
            </a:pPr>
            <a:r>
              <a:rPr lang="en-US" sz="2400" dirty="0"/>
              <a:t>The development will be divided into main modules such as </a:t>
            </a:r>
            <a:r>
              <a:rPr lang="en-US" sz="2400" b="1" dirty="0"/>
              <a:t>user management, inventory management, sales, customer records, debtor tracking, alerts, and reports</a:t>
            </a:r>
            <a:r>
              <a:rPr lang="en-US" sz="2400" dirty="0"/>
              <a:t>. Django will be used for backend development, while HTML, CSS, and JavaScript will be used for the user interface.</a:t>
            </a:r>
          </a:p>
          <a:p>
            <a:pPr algn="just">
              <a:buFont typeface="Wingdings" panose="05000000000000000000" pitchFamily="2" charset="2"/>
              <a:buChar char="Ø"/>
            </a:pPr>
            <a:r>
              <a:rPr lang="en-US" sz="2400" dirty="0"/>
              <a:t>The system will then be tested properly to make sure all functions work correctly, especially stock alerts, expiry checking, and billing. Finally, the project will be deployed and maintained with regular updates and improvements.</a:t>
            </a:r>
            <a:endParaRPr lang="en-IN" sz="2400" dirty="0"/>
          </a:p>
        </p:txBody>
      </p:sp>
    </p:spTree>
    <p:extLst>
      <p:ext uri="{BB962C8B-B14F-4D97-AF65-F5344CB8AC3E}">
        <p14:creationId xmlns:p14="http://schemas.microsoft.com/office/powerpoint/2010/main" val="790120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D9DF1-AA6E-EB34-856C-B9285507C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297AA-A2CE-26F2-603D-15437B4638D2}"/>
              </a:ext>
            </a:extLst>
          </p:cNvPr>
          <p:cNvSpPr>
            <a:spLocks noGrp="1"/>
          </p:cNvSpPr>
          <p:nvPr>
            <p:ph type="title"/>
          </p:nvPr>
        </p:nvSpPr>
        <p:spPr/>
        <p:txBody>
          <a:bodyPr>
            <a:normAutofit/>
          </a:bodyPr>
          <a:lstStyle/>
          <a:p>
            <a:pPr marL="571500" indent="-571500">
              <a:buFont typeface="Wingdings" panose="05000000000000000000" pitchFamily="2" charset="2"/>
              <a:buChar char="Ø"/>
            </a:pPr>
            <a:r>
              <a:rPr lang="en-IN" sz="2800" b="1" u="sng" dirty="0">
                <a:latin typeface="+mn-lt"/>
                <a:cs typeface="Times New Roman" panose="02020603050405020304" pitchFamily="18" charset="0"/>
              </a:rPr>
              <a:t>Type of System</a:t>
            </a:r>
            <a:r>
              <a:rPr lang="en-IN" sz="2800" b="1" dirty="0">
                <a:latin typeface="+mn-lt"/>
                <a:cs typeface="Times New Roman" panose="02020603050405020304" pitchFamily="18" charset="0"/>
              </a:rPr>
              <a:t> :-</a:t>
            </a:r>
            <a:endParaRPr lang="en-IN" sz="2800" b="1" dirty="0">
              <a:latin typeface="+mn-lt"/>
            </a:endParaRPr>
          </a:p>
        </p:txBody>
      </p:sp>
      <p:sp>
        <p:nvSpPr>
          <p:cNvPr id="3" name="Content Placeholder 2">
            <a:extLst>
              <a:ext uri="{FF2B5EF4-FFF2-40B4-BE49-F238E27FC236}">
                <a16:creationId xmlns:a16="http://schemas.microsoft.com/office/drawing/2014/main" id="{7F36547E-9E20-32D4-5CB4-97169D811F4C}"/>
              </a:ext>
            </a:extLst>
          </p:cNvPr>
          <p:cNvSpPr>
            <a:spLocks noGrp="1"/>
          </p:cNvSpPr>
          <p:nvPr>
            <p:ph idx="1"/>
          </p:nvPr>
        </p:nvSpPr>
        <p:spPr>
          <a:xfrm>
            <a:off x="838200" y="1618236"/>
            <a:ext cx="10515600" cy="4667250"/>
          </a:xfrm>
        </p:spPr>
        <p:txBody>
          <a:bodyPr>
            <a:noAutofit/>
          </a:bodyPr>
          <a:lstStyle/>
          <a:p>
            <a:pPr algn="just"/>
            <a:r>
              <a:rPr lang="en-US" sz="2400" dirty="0" err="1"/>
              <a:t>PharmaCentral</a:t>
            </a:r>
            <a:r>
              <a:rPr lang="en-US" sz="2400" dirty="0"/>
              <a:t> is a </a:t>
            </a:r>
            <a:r>
              <a:rPr lang="en-US" sz="2400" b="1" dirty="0"/>
              <a:t>Web-Based, Database-Driven, Inventory Management, Sales Monitoring, and Multi-User Pharmacy Management System</a:t>
            </a:r>
            <a:r>
              <a:rPr lang="en-US" sz="2400" dirty="0"/>
              <a:t>.</a:t>
            </a:r>
          </a:p>
          <a:p>
            <a:pPr algn="just"/>
            <a:r>
              <a:rPr lang="en-US" sz="2400" b="1" dirty="0"/>
              <a:t>Web-Based:</a:t>
            </a:r>
            <a:r>
              <a:rPr lang="en-US" sz="2400" dirty="0"/>
              <a:t> It is accessible through any web browser without requiring installation.</a:t>
            </a:r>
          </a:p>
          <a:p>
            <a:pPr algn="just"/>
            <a:r>
              <a:rPr lang="en-US" sz="2400" b="1" dirty="0"/>
              <a:t>Database-Driven:</a:t>
            </a:r>
            <a:r>
              <a:rPr lang="en-US" sz="2400" dirty="0"/>
              <a:t> It uses a database to store medicine details, customer records, sales transactions, debtor information, alerts, and reports.</a:t>
            </a:r>
          </a:p>
          <a:p>
            <a:pPr algn="just"/>
            <a:r>
              <a:rPr lang="en-US" sz="2400" b="1" dirty="0"/>
              <a:t>Inventory Management System:</a:t>
            </a:r>
            <a:r>
              <a:rPr lang="en-US" sz="2400" dirty="0"/>
              <a:t> It monitors medicine stock, minimum quantity, and expiry dates in real time.</a:t>
            </a:r>
          </a:p>
          <a:p>
            <a:pPr algn="just"/>
            <a:r>
              <a:rPr lang="en-US" sz="2400" b="1" dirty="0"/>
              <a:t>Sales Monitoring System:</a:t>
            </a:r>
            <a:r>
              <a:rPr lang="en-US" sz="2400" dirty="0"/>
              <a:t> It manages billing, payments, and customer purchase records efficiently.</a:t>
            </a:r>
          </a:p>
          <a:p>
            <a:pPr algn="just"/>
            <a:r>
              <a:rPr lang="en-US" sz="2400" b="1" dirty="0"/>
              <a:t>Multi-User System:</a:t>
            </a:r>
            <a:r>
              <a:rPr lang="en-US" sz="2400" dirty="0"/>
              <a:t> It supports different user roles such as Admin, Pharmacy Owner, Pharmacist, and Cashier.</a:t>
            </a:r>
            <a:endParaRPr lang="en-IN" sz="2400" dirty="0"/>
          </a:p>
        </p:txBody>
      </p:sp>
    </p:spTree>
    <p:extLst>
      <p:ext uri="{BB962C8B-B14F-4D97-AF65-F5344CB8AC3E}">
        <p14:creationId xmlns:p14="http://schemas.microsoft.com/office/powerpoint/2010/main" val="3293415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0EBC-480C-D917-95BC-221BB82E6FC9}"/>
              </a:ext>
            </a:extLst>
          </p:cNvPr>
          <p:cNvSpPr>
            <a:spLocks noGrp="1"/>
          </p:cNvSpPr>
          <p:nvPr>
            <p:ph type="title"/>
          </p:nvPr>
        </p:nvSpPr>
        <p:spPr/>
        <p:txBody>
          <a:bodyPr>
            <a:normAutofit/>
          </a:bodyPr>
          <a:lstStyle/>
          <a:p>
            <a:pPr marL="457200" indent="-457200">
              <a:buFont typeface="Wingdings" panose="05000000000000000000" pitchFamily="2" charset="2"/>
              <a:buChar char="§"/>
            </a:pPr>
            <a:r>
              <a:rPr lang="en-IN" sz="3200" b="1" u="sng" dirty="0">
                <a:latin typeface="+mn-lt"/>
              </a:rPr>
              <a:t>Diagram</a:t>
            </a:r>
          </a:p>
        </p:txBody>
      </p:sp>
      <p:sp>
        <p:nvSpPr>
          <p:cNvPr id="3" name="Content Placeholder 2">
            <a:extLst>
              <a:ext uri="{FF2B5EF4-FFF2-40B4-BE49-F238E27FC236}">
                <a16:creationId xmlns:a16="http://schemas.microsoft.com/office/drawing/2014/main" id="{BC15901D-0F8E-6C55-70E4-939A4674C879}"/>
              </a:ext>
            </a:extLst>
          </p:cNvPr>
          <p:cNvSpPr>
            <a:spLocks noGrp="1"/>
          </p:cNvSpPr>
          <p:nvPr>
            <p:ph idx="1"/>
          </p:nvPr>
        </p:nvSpPr>
        <p:spPr>
          <a:xfrm>
            <a:off x="838200" y="1310326"/>
            <a:ext cx="10515600" cy="4866637"/>
          </a:xfrm>
        </p:spPr>
        <p:txBody>
          <a:bodyPr/>
          <a:lstStyle/>
          <a:p>
            <a:pPr marL="0" indent="0" algn="just">
              <a:buNone/>
            </a:pPr>
            <a:r>
              <a:rPr lang="en-IN" dirty="0"/>
              <a:t>1. </a:t>
            </a:r>
            <a:r>
              <a:rPr lang="en-IN" b="1" dirty="0"/>
              <a:t>Estimated Gantt Chart/ Time Line Chart </a:t>
            </a:r>
          </a:p>
        </p:txBody>
      </p:sp>
      <p:graphicFrame>
        <p:nvGraphicFramePr>
          <p:cNvPr id="4" name="Table 3">
            <a:extLst>
              <a:ext uri="{FF2B5EF4-FFF2-40B4-BE49-F238E27FC236}">
                <a16:creationId xmlns:a16="http://schemas.microsoft.com/office/drawing/2014/main" id="{15F57C55-0BE0-7528-D98E-A1A9B9F6D1A0}"/>
              </a:ext>
            </a:extLst>
          </p:cNvPr>
          <p:cNvGraphicFramePr>
            <a:graphicFrameLocks noGrp="1"/>
          </p:cNvGraphicFramePr>
          <p:nvPr>
            <p:extLst>
              <p:ext uri="{D42A27DB-BD31-4B8C-83A1-F6EECF244321}">
                <p14:modId xmlns:p14="http://schemas.microsoft.com/office/powerpoint/2010/main" val="4124377312"/>
              </p:ext>
            </p:extLst>
          </p:nvPr>
        </p:nvGraphicFramePr>
        <p:xfrm>
          <a:off x="838200" y="1921825"/>
          <a:ext cx="10162876" cy="4705213"/>
        </p:xfrm>
        <a:graphic>
          <a:graphicData uri="http://schemas.openxmlformats.org/drawingml/2006/table">
            <a:tbl>
              <a:tblPr/>
              <a:tblGrid>
                <a:gridCol w="817135">
                  <a:extLst>
                    <a:ext uri="{9D8B030D-6E8A-4147-A177-3AD203B41FA5}">
                      <a16:colId xmlns:a16="http://schemas.microsoft.com/office/drawing/2014/main" val="2131803984"/>
                    </a:ext>
                  </a:extLst>
                </a:gridCol>
                <a:gridCol w="817135">
                  <a:extLst>
                    <a:ext uri="{9D8B030D-6E8A-4147-A177-3AD203B41FA5}">
                      <a16:colId xmlns:a16="http://schemas.microsoft.com/office/drawing/2014/main" val="2152225080"/>
                    </a:ext>
                  </a:extLst>
                </a:gridCol>
                <a:gridCol w="817135">
                  <a:extLst>
                    <a:ext uri="{9D8B030D-6E8A-4147-A177-3AD203B41FA5}">
                      <a16:colId xmlns:a16="http://schemas.microsoft.com/office/drawing/2014/main" val="3519076933"/>
                    </a:ext>
                  </a:extLst>
                </a:gridCol>
                <a:gridCol w="817135">
                  <a:extLst>
                    <a:ext uri="{9D8B030D-6E8A-4147-A177-3AD203B41FA5}">
                      <a16:colId xmlns:a16="http://schemas.microsoft.com/office/drawing/2014/main" val="3263250688"/>
                    </a:ext>
                  </a:extLst>
                </a:gridCol>
                <a:gridCol w="817135">
                  <a:extLst>
                    <a:ext uri="{9D8B030D-6E8A-4147-A177-3AD203B41FA5}">
                      <a16:colId xmlns:a16="http://schemas.microsoft.com/office/drawing/2014/main" val="3828844986"/>
                    </a:ext>
                  </a:extLst>
                </a:gridCol>
                <a:gridCol w="817135">
                  <a:extLst>
                    <a:ext uri="{9D8B030D-6E8A-4147-A177-3AD203B41FA5}">
                      <a16:colId xmlns:a16="http://schemas.microsoft.com/office/drawing/2014/main" val="4198553877"/>
                    </a:ext>
                  </a:extLst>
                </a:gridCol>
                <a:gridCol w="817135">
                  <a:extLst>
                    <a:ext uri="{9D8B030D-6E8A-4147-A177-3AD203B41FA5}">
                      <a16:colId xmlns:a16="http://schemas.microsoft.com/office/drawing/2014/main" val="2906201048"/>
                    </a:ext>
                  </a:extLst>
                </a:gridCol>
                <a:gridCol w="817135">
                  <a:extLst>
                    <a:ext uri="{9D8B030D-6E8A-4147-A177-3AD203B41FA5}">
                      <a16:colId xmlns:a16="http://schemas.microsoft.com/office/drawing/2014/main" val="2813621767"/>
                    </a:ext>
                  </a:extLst>
                </a:gridCol>
                <a:gridCol w="817135">
                  <a:extLst>
                    <a:ext uri="{9D8B030D-6E8A-4147-A177-3AD203B41FA5}">
                      <a16:colId xmlns:a16="http://schemas.microsoft.com/office/drawing/2014/main" val="258278311"/>
                    </a:ext>
                  </a:extLst>
                </a:gridCol>
                <a:gridCol w="817135">
                  <a:extLst>
                    <a:ext uri="{9D8B030D-6E8A-4147-A177-3AD203B41FA5}">
                      <a16:colId xmlns:a16="http://schemas.microsoft.com/office/drawing/2014/main" val="2275542103"/>
                    </a:ext>
                  </a:extLst>
                </a:gridCol>
                <a:gridCol w="817135">
                  <a:extLst>
                    <a:ext uri="{9D8B030D-6E8A-4147-A177-3AD203B41FA5}">
                      <a16:colId xmlns:a16="http://schemas.microsoft.com/office/drawing/2014/main" val="1088608990"/>
                    </a:ext>
                  </a:extLst>
                </a:gridCol>
                <a:gridCol w="1174391">
                  <a:extLst>
                    <a:ext uri="{9D8B030D-6E8A-4147-A177-3AD203B41FA5}">
                      <a16:colId xmlns:a16="http://schemas.microsoft.com/office/drawing/2014/main" val="2876461938"/>
                    </a:ext>
                  </a:extLst>
                </a:gridCol>
              </a:tblGrid>
              <a:tr h="309439">
                <a:tc>
                  <a:txBody>
                    <a:bodyPr/>
                    <a:lstStyle/>
                    <a:p>
                      <a:pPr>
                        <a:buNone/>
                      </a:pPr>
                      <a:r>
                        <a:rPr lang="en-IN" sz="600">
                          <a:effectLst/>
                        </a:rPr>
                        <a:t>2025</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Dec 10, 2025</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Dec 25, 2025</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Jan 10,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Jan 18,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Feb 7,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Feb 14,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Feb 21,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Feb 28,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Mar 7,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Mar 14,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Mar 21, 2026</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27827552"/>
                  </a:ext>
                </a:extLst>
              </a:tr>
              <a:tr h="155585">
                <a:tc>
                  <a:txBody>
                    <a:bodyPr/>
                    <a:lstStyle/>
                    <a:p>
                      <a:pPr>
                        <a:buNone/>
                      </a:pPr>
                      <a:r>
                        <a:rPr lang="en-IN" sz="600">
                          <a:effectLst/>
                        </a:rPr>
                        <a:t>Title</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698338541"/>
                  </a:ext>
                </a:extLst>
              </a:tr>
              <a:tr h="309439">
                <a:tc>
                  <a:txBody>
                    <a:bodyPr/>
                    <a:lstStyle/>
                    <a:p>
                      <a:pPr>
                        <a:buNone/>
                      </a:pPr>
                      <a:r>
                        <a:rPr lang="en-IN" sz="600">
                          <a:effectLst/>
                        </a:rPr>
                        <a:t>Project Introduction</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636010010"/>
                  </a:ext>
                </a:extLst>
              </a:tr>
              <a:tr h="309439">
                <a:tc>
                  <a:txBody>
                    <a:bodyPr/>
                    <a:lstStyle/>
                    <a:p>
                      <a:pPr>
                        <a:buNone/>
                      </a:pPr>
                      <a:r>
                        <a:rPr lang="en-IN" sz="600">
                          <a:effectLst/>
                        </a:rPr>
                        <a:t>Existing System</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dirty="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788539849"/>
                  </a:ext>
                </a:extLst>
              </a:tr>
              <a:tr h="495105">
                <a:tc>
                  <a:txBody>
                    <a:bodyPr/>
                    <a:lstStyle/>
                    <a:p>
                      <a:pPr>
                        <a:buNone/>
                      </a:pPr>
                      <a:r>
                        <a:rPr lang="en-IN" sz="600">
                          <a:effectLst/>
                        </a:rPr>
                        <a:t>Flow Chart of Existing</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dirty="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dirty="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760759325"/>
                  </a:ext>
                </a:extLst>
              </a:tr>
              <a:tr h="309439">
                <a:tc>
                  <a:txBody>
                    <a:bodyPr/>
                    <a:lstStyle/>
                    <a:p>
                      <a:pPr>
                        <a:buNone/>
                      </a:pPr>
                      <a:r>
                        <a:rPr lang="en-IN" sz="600">
                          <a:effectLst/>
                        </a:rPr>
                        <a:t>Proposed System</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641563647"/>
                  </a:ext>
                </a:extLst>
              </a:tr>
              <a:tr h="959264">
                <a:tc>
                  <a:txBody>
                    <a:bodyPr/>
                    <a:lstStyle/>
                    <a:p>
                      <a:pPr>
                        <a:buNone/>
                      </a:pPr>
                      <a:r>
                        <a:rPr lang="en-US" sz="600">
                          <a:effectLst/>
                        </a:rPr>
                        <a:t>Fact Finding &amp; Hardware and Software Specification</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dirty="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dirty="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23552751"/>
                  </a:ext>
                </a:extLst>
              </a:tr>
              <a:tr h="866433">
                <a:tc>
                  <a:txBody>
                    <a:bodyPr/>
                    <a:lstStyle/>
                    <a:p>
                      <a:pPr>
                        <a:buNone/>
                      </a:pPr>
                      <a:r>
                        <a:rPr lang="en-US" sz="600">
                          <a:effectLst/>
                        </a:rPr>
                        <a:t>Process Model, Development Strategy, Type of System</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dirty="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308093295"/>
                  </a:ext>
                </a:extLst>
              </a:tr>
              <a:tr h="309439">
                <a:tc>
                  <a:txBody>
                    <a:bodyPr/>
                    <a:lstStyle/>
                    <a:p>
                      <a:pPr>
                        <a:buNone/>
                      </a:pPr>
                      <a:r>
                        <a:rPr lang="en-IN" sz="600">
                          <a:effectLst/>
                        </a:rPr>
                        <a:t>UML Diagrams</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112512628"/>
                  </a:ext>
                </a:extLst>
              </a:tr>
              <a:tr h="309439">
                <a:tc>
                  <a:txBody>
                    <a:bodyPr/>
                    <a:lstStyle/>
                    <a:p>
                      <a:pPr>
                        <a:buNone/>
                      </a:pPr>
                      <a:r>
                        <a:rPr lang="en-IN" sz="600">
                          <a:effectLst/>
                        </a:rPr>
                        <a:t>Data Dictionary </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968232462"/>
                  </a:ext>
                </a:extLst>
              </a:tr>
              <a:tr h="155585">
                <a:tc>
                  <a:txBody>
                    <a:bodyPr/>
                    <a:lstStyle/>
                    <a:p>
                      <a:pPr>
                        <a:buNone/>
                      </a:pPr>
                      <a:r>
                        <a:rPr lang="en-IN" sz="600">
                          <a:effectLst/>
                        </a:rPr>
                        <a:t>Design</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257104022"/>
                  </a:ext>
                </a:extLst>
              </a:tr>
              <a:tr h="216607">
                <a:tc>
                  <a:txBody>
                    <a:bodyPr/>
                    <a:lstStyle/>
                    <a:p>
                      <a:pPr>
                        <a:buNone/>
                      </a:pPr>
                      <a:r>
                        <a:rPr lang="en-IN" sz="600">
                          <a:effectLst/>
                        </a:rPr>
                        <a:t>Development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endParaRPr lang="en-IN" sz="600">
                        <a:effectLst/>
                      </a:endParaRP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tc>
                  <a:txBody>
                    <a:bodyPr/>
                    <a:lstStyle/>
                    <a:p>
                      <a:pPr>
                        <a:buNone/>
                      </a:pPr>
                      <a:r>
                        <a:rPr lang="en-IN" sz="600" dirty="0">
                          <a:effectLst/>
                        </a:rPr>
                        <a:t>███</a:t>
                      </a:r>
                    </a:p>
                  </a:txBody>
                  <a:tcPr marL="29009" marR="29009" marT="14504" marB="14504" anchor="ctr">
                    <a:lnL w="7620" cap="flat" cmpd="sng" algn="ctr">
                      <a:solidFill>
                        <a:srgbClr val="D9D9D9"/>
                      </a:solidFill>
                      <a:prstDash val="solid"/>
                      <a:round/>
                      <a:headEnd type="none" w="med" len="med"/>
                      <a:tailEnd type="none" w="med" len="med"/>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7620"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3227971345"/>
                  </a:ext>
                </a:extLst>
              </a:tr>
            </a:tbl>
          </a:graphicData>
        </a:graphic>
      </p:graphicFrame>
      <p:sp>
        <p:nvSpPr>
          <p:cNvPr id="5" name="Rectangle 1">
            <a:extLst>
              <a:ext uri="{FF2B5EF4-FFF2-40B4-BE49-F238E27FC236}">
                <a16:creationId xmlns:a16="http://schemas.microsoft.com/office/drawing/2014/main" id="{F6772EFD-3CD7-EC40-65A1-8523DA172159}"/>
              </a:ext>
            </a:extLst>
          </p:cNvPr>
          <p:cNvSpPr>
            <a:spLocks noChangeArrowheads="1"/>
          </p:cNvSpPr>
          <p:nvPr/>
        </p:nvSpPr>
        <p:spPr bwMode="auto">
          <a:xfrm>
            <a:off x="-5718375" y="1541463"/>
            <a:ext cx="2892642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29114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9CA028-B318-2E73-2F0A-7A7380CCFB68}"/>
              </a:ext>
            </a:extLst>
          </p:cNvPr>
          <p:cNvSpPr>
            <a:spLocks noGrp="1"/>
          </p:cNvSpPr>
          <p:nvPr>
            <p:ph idx="1"/>
          </p:nvPr>
        </p:nvSpPr>
        <p:spPr>
          <a:xfrm>
            <a:off x="838200" y="939506"/>
            <a:ext cx="10515600" cy="4351338"/>
          </a:xfrm>
        </p:spPr>
        <p:txBody>
          <a:bodyPr/>
          <a:lstStyle/>
          <a:p>
            <a:pPr>
              <a:buFont typeface="Wingdings" panose="05000000000000000000" pitchFamily="2" charset="2"/>
              <a:buChar char="§"/>
            </a:pPr>
            <a:r>
              <a:rPr lang="en-IN" sz="3200" b="1" u="sng" dirty="0"/>
              <a:t>UML Diagrams(Use Case, Activity and Class )</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a:buFont typeface="Wingdings" panose="05000000000000000000" pitchFamily="2" charset="2"/>
              <a:buChar char="Ø"/>
            </a:pPr>
            <a:r>
              <a:rPr lang="en-IN" b="1" u="sng" dirty="0"/>
              <a:t>Use case Diagram Admin</a:t>
            </a:r>
            <a:r>
              <a:rPr lang="en-IN" b="1" dirty="0"/>
              <a:t> :-</a:t>
            </a:r>
            <a:r>
              <a:rPr lang="en-IN" b="1" u="sng" dirty="0"/>
              <a:t> </a:t>
            </a:r>
          </a:p>
        </p:txBody>
      </p:sp>
      <p:pic>
        <p:nvPicPr>
          <p:cNvPr id="4" name="Picture 3">
            <a:extLst>
              <a:ext uri="{FF2B5EF4-FFF2-40B4-BE49-F238E27FC236}">
                <a16:creationId xmlns:a16="http://schemas.microsoft.com/office/drawing/2014/main" id="{DF023F2C-C48A-F319-FA79-09B854598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3169" y="1567156"/>
            <a:ext cx="4638675" cy="5067300"/>
          </a:xfrm>
          <a:prstGeom prst="rect">
            <a:avLst/>
          </a:prstGeom>
        </p:spPr>
      </p:pic>
    </p:spTree>
    <p:extLst>
      <p:ext uri="{BB962C8B-B14F-4D97-AF65-F5344CB8AC3E}">
        <p14:creationId xmlns:p14="http://schemas.microsoft.com/office/powerpoint/2010/main" val="4133606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E4416-641F-9642-8D84-CE0E0EB28AD2}"/>
              </a:ext>
            </a:extLst>
          </p:cNvPr>
          <p:cNvSpPr>
            <a:spLocks noGrp="1"/>
          </p:cNvSpPr>
          <p:nvPr>
            <p:ph idx="1"/>
          </p:nvPr>
        </p:nvSpPr>
        <p:spPr>
          <a:xfrm>
            <a:off x="838200" y="1816198"/>
            <a:ext cx="10515600" cy="4351338"/>
          </a:xfrm>
        </p:spPr>
        <p:txBody>
          <a:bodyPr/>
          <a:lstStyle/>
          <a:p>
            <a:pPr marL="0" indent="0">
              <a:buNone/>
            </a:pPr>
            <a:endParaRPr lang="en-IN" dirty="0"/>
          </a:p>
          <a:p>
            <a:pPr marL="0" indent="0">
              <a:buNone/>
            </a:pPr>
            <a:endParaRPr lang="en-IN" dirty="0"/>
          </a:p>
          <a:p>
            <a:pPr marL="0" indent="0">
              <a:buNone/>
            </a:pPr>
            <a:endParaRPr lang="en-IN" dirty="0"/>
          </a:p>
          <a:p>
            <a:pPr>
              <a:buFont typeface="Wingdings" panose="05000000000000000000" pitchFamily="2" charset="2"/>
              <a:buChar char="Ø"/>
            </a:pPr>
            <a:r>
              <a:rPr lang="en-IN" b="1" u="sng" dirty="0"/>
              <a:t>Use case Diagram Manager</a:t>
            </a:r>
            <a:r>
              <a:rPr lang="en-IN" b="1" dirty="0"/>
              <a:t> :-</a:t>
            </a:r>
            <a:r>
              <a:rPr lang="en-IN" b="1" u="sng" dirty="0"/>
              <a:t> </a:t>
            </a:r>
          </a:p>
          <a:p>
            <a:pPr marL="0" indent="0">
              <a:buNone/>
            </a:pPr>
            <a:endParaRPr lang="en-IN" dirty="0"/>
          </a:p>
        </p:txBody>
      </p:sp>
      <p:pic>
        <p:nvPicPr>
          <p:cNvPr id="4" name="Picture 3">
            <a:extLst>
              <a:ext uri="{FF2B5EF4-FFF2-40B4-BE49-F238E27FC236}">
                <a16:creationId xmlns:a16="http://schemas.microsoft.com/office/drawing/2014/main" id="{04907C30-1BBA-2E99-0982-B017CE277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9451" y="405353"/>
            <a:ext cx="4464875" cy="6089715"/>
          </a:xfrm>
          <a:prstGeom prst="rect">
            <a:avLst/>
          </a:prstGeom>
        </p:spPr>
      </p:pic>
    </p:spTree>
    <p:extLst>
      <p:ext uri="{BB962C8B-B14F-4D97-AF65-F5344CB8AC3E}">
        <p14:creationId xmlns:p14="http://schemas.microsoft.com/office/powerpoint/2010/main" val="3686339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587C8-4E9C-8406-5838-E4C37651AB39}"/>
              </a:ext>
            </a:extLst>
          </p:cNvPr>
          <p:cNvSpPr>
            <a:spLocks noGrp="1"/>
          </p:cNvSpPr>
          <p:nvPr>
            <p:ph idx="1"/>
          </p:nvPr>
        </p:nvSpPr>
        <p:spPr>
          <a:xfrm>
            <a:off x="715652" y="1253331"/>
            <a:ext cx="10515600" cy="4351338"/>
          </a:xfrm>
        </p:spPr>
        <p:txBody>
          <a:bodyPr/>
          <a:lstStyle/>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r>
              <a:rPr lang="en-IN" b="1" u="sng" dirty="0"/>
              <a:t>Activity Diagram Admin</a:t>
            </a:r>
            <a:r>
              <a:rPr lang="en-IN" b="1" dirty="0"/>
              <a:t> :-</a:t>
            </a:r>
            <a:r>
              <a:rPr lang="en-IN" b="1" u="sng" dirty="0"/>
              <a:t> </a:t>
            </a:r>
          </a:p>
          <a:p>
            <a:pPr marL="0" indent="0">
              <a:buNone/>
            </a:pPr>
            <a:endParaRPr lang="en-IN" dirty="0"/>
          </a:p>
        </p:txBody>
      </p:sp>
      <p:pic>
        <p:nvPicPr>
          <p:cNvPr id="2" name="Picture 1">
            <a:extLst>
              <a:ext uri="{FF2B5EF4-FFF2-40B4-BE49-F238E27FC236}">
                <a16:creationId xmlns:a16="http://schemas.microsoft.com/office/drawing/2014/main" id="{D1C36AF5-9ACF-B694-D9B5-3ADDA7AAF20A}"/>
              </a:ext>
            </a:extLst>
          </p:cNvPr>
          <p:cNvPicPr>
            <a:picLocks noChangeAspect="1"/>
          </p:cNvPicPr>
          <p:nvPr/>
        </p:nvPicPr>
        <p:blipFill rotWithShape="1">
          <a:blip r:embed="rId2">
            <a:extLst>
              <a:ext uri="{28A0092B-C50C-407E-A947-70E740481C1C}">
                <a14:useLocalDpi xmlns:a14="http://schemas.microsoft.com/office/drawing/2010/main" val="0"/>
              </a:ext>
            </a:extLst>
          </a:blip>
          <a:srcRect t="4394"/>
          <a:stretch>
            <a:fillRect/>
          </a:stretch>
        </p:blipFill>
        <p:spPr bwMode="auto">
          <a:xfrm>
            <a:off x="4961877" y="829558"/>
            <a:ext cx="6416040" cy="565608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34805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059909-1B4C-FF0B-7953-A05DC474EE7D}"/>
              </a:ext>
            </a:extLst>
          </p:cNvPr>
          <p:cNvSpPr>
            <a:spLocks noGrp="1"/>
          </p:cNvSpPr>
          <p:nvPr>
            <p:ph idx="1"/>
          </p:nvPr>
        </p:nvSpPr>
        <p:spPr>
          <a:xfrm>
            <a:off x="687371" y="1253331"/>
            <a:ext cx="10515600" cy="4351338"/>
          </a:xfrm>
        </p:spPr>
        <p:txBody>
          <a:bodyPr/>
          <a:lstStyle/>
          <a:p>
            <a:pPr>
              <a:buFont typeface="Wingdings" panose="05000000000000000000" pitchFamily="2" charset="2"/>
              <a:buChar char="Ø"/>
            </a:pPr>
            <a:endParaRPr lang="en-IN" dirty="0"/>
          </a:p>
          <a:p>
            <a:pPr>
              <a:buFont typeface="Wingdings" panose="05000000000000000000" pitchFamily="2" charset="2"/>
              <a:buChar char="Ø"/>
            </a:pPr>
            <a:endParaRPr lang="en-IN" dirty="0"/>
          </a:p>
          <a:p>
            <a:pPr marL="0" indent="0">
              <a:buNone/>
            </a:pPr>
            <a:endParaRPr lang="en-IN" dirty="0"/>
          </a:p>
          <a:p>
            <a:pPr>
              <a:buFont typeface="Wingdings" panose="05000000000000000000" pitchFamily="2" charset="2"/>
              <a:buChar char="Ø"/>
            </a:pPr>
            <a:endParaRPr lang="en-IN" dirty="0"/>
          </a:p>
          <a:p>
            <a:pPr>
              <a:buFont typeface="Wingdings" panose="05000000000000000000" pitchFamily="2" charset="2"/>
              <a:buChar char="Ø"/>
            </a:pPr>
            <a:r>
              <a:rPr lang="en-IN" b="1" u="sng" dirty="0"/>
              <a:t>Activity Diagram Manager</a:t>
            </a:r>
            <a:r>
              <a:rPr lang="en-IN" b="1" dirty="0"/>
              <a:t> :-</a:t>
            </a:r>
            <a:r>
              <a:rPr lang="en-IN" b="1" u="sng" dirty="0"/>
              <a:t> </a:t>
            </a:r>
          </a:p>
          <a:p>
            <a:pPr marL="0" indent="0">
              <a:buNone/>
            </a:pPr>
            <a:endParaRPr lang="en-IN" dirty="0"/>
          </a:p>
        </p:txBody>
      </p:sp>
      <p:pic>
        <p:nvPicPr>
          <p:cNvPr id="2" name="Picture 1">
            <a:extLst>
              <a:ext uri="{FF2B5EF4-FFF2-40B4-BE49-F238E27FC236}">
                <a16:creationId xmlns:a16="http://schemas.microsoft.com/office/drawing/2014/main" id="{AC162A61-3DDC-6AE8-6F85-24A57EC783C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01558" y="669303"/>
            <a:ext cx="5801413" cy="5778631"/>
          </a:xfrm>
          <a:prstGeom prst="rect">
            <a:avLst/>
          </a:prstGeom>
          <a:noFill/>
          <a:ln>
            <a:noFill/>
          </a:ln>
        </p:spPr>
      </p:pic>
    </p:spTree>
    <p:extLst>
      <p:ext uri="{BB962C8B-B14F-4D97-AF65-F5344CB8AC3E}">
        <p14:creationId xmlns:p14="http://schemas.microsoft.com/office/powerpoint/2010/main" val="1125272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99AFA5-1195-1157-4465-D5C5F424E4C2}"/>
              </a:ext>
            </a:extLst>
          </p:cNvPr>
          <p:cNvSpPr>
            <a:spLocks noGrp="1"/>
          </p:cNvSpPr>
          <p:nvPr>
            <p:ph idx="1"/>
          </p:nvPr>
        </p:nvSpPr>
        <p:spPr>
          <a:xfrm>
            <a:off x="838200" y="1253331"/>
            <a:ext cx="10515600" cy="4351338"/>
          </a:xfrm>
        </p:spPr>
        <p:txBody>
          <a:bodyPr/>
          <a:lstStyle/>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pPr>
              <a:buFont typeface="Wingdings" panose="05000000000000000000" pitchFamily="2" charset="2"/>
              <a:buChar char="Ø"/>
            </a:pPr>
            <a:r>
              <a:rPr lang="en-IN" b="1" u="sng" dirty="0"/>
              <a:t>Class Diagram</a:t>
            </a:r>
            <a:r>
              <a:rPr lang="en-IN" b="1" dirty="0"/>
              <a:t> :-</a:t>
            </a:r>
            <a:r>
              <a:rPr lang="en-IN" b="1" u="sng" dirty="0"/>
              <a:t> </a:t>
            </a:r>
          </a:p>
          <a:p>
            <a:pPr marL="0" indent="0">
              <a:buNone/>
            </a:pPr>
            <a:endParaRPr lang="en-IN" dirty="0"/>
          </a:p>
        </p:txBody>
      </p:sp>
      <p:pic>
        <p:nvPicPr>
          <p:cNvPr id="2" name="Image 38">
            <a:extLst>
              <a:ext uri="{FF2B5EF4-FFF2-40B4-BE49-F238E27FC236}">
                <a16:creationId xmlns:a16="http://schemas.microsoft.com/office/drawing/2014/main" id="{65C43232-412C-8667-A029-A97BB53E25FF}"/>
              </a:ext>
            </a:extLst>
          </p:cNvPr>
          <p:cNvPicPr>
            <a:picLocks/>
          </p:cNvPicPr>
          <p:nvPr/>
        </p:nvPicPr>
        <p:blipFill>
          <a:blip r:embed="rId2" cstate="print"/>
          <a:stretch>
            <a:fillRect/>
          </a:stretch>
        </p:blipFill>
        <p:spPr>
          <a:xfrm>
            <a:off x="3855563" y="424815"/>
            <a:ext cx="6400800" cy="6008370"/>
          </a:xfrm>
          <a:prstGeom prst="rect">
            <a:avLst/>
          </a:prstGeom>
        </p:spPr>
      </p:pic>
    </p:spTree>
    <p:extLst>
      <p:ext uri="{BB962C8B-B14F-4D97-AF65-F5344CB8AC3E}">
        <p14:creationId xmlns:p14="http://schemas.microsoft.com/office/powerpoint/2010/main" val="39166941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B2AECA-057D-2386-CC66-F68B62F0AB07}"/>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
            </a:pPr>
            <a:r>
              <a:rPr lang="en-IN" sz="3200" b="1" u="sng" dirty="0">
                <a:latin typeface="+mn-lt"/>
              </a:rPr>
              <a:t>Design</a:t>
            </a:r>
            <a:r>
              <a:rPr lang="en-IN" sz="3200" b="1" dirty="0">
                <a:latin typeface="+mn-lt"/>
              </a:rPr>
              <a:t> :-</a:t>
            </a:r>
          </a:p>
        </p:txBody>
      </p:sp>
      <p:sp>
        <p:nvSpPr>
          <p:cNvPr id="5" name="Content Placeholder 2">
            <a:extLst>
              <a:ext uri="{FF2B5EF4-FFF2-40B4-BE49-F238E27FC236}">
                <a16:creationId xmlns:a16="http://schemas.microsoft.com/office/drawing/2014/main" id="{7EFFF5B3-78C2-FA16-6F63-42452F8CC521}"/>
              </a:ext>
            </a:extLst>
          </p:cNvPr>
          <p:cNvSpPr>
            <a:spLocks noGrp="1"/>
          </p:cNvSpPr>
          <p:nvPr>
            <p:ph idx="1"/>
          </p:nvPr>
        </p:nvSpPr>
        <p:spPr>
          <a:xfrm>
            <a:off x="838200" y="1825625"/>
            <a:ext cx="10515600" cy="4351338"/>
          </a:xfrm>
        </p:spPr>
        <p:txBody>
          <a:bodyPr/>
          <a:lstStyle/>
          <a:p>
            <a:pPr>
              <a:buFont typeface="Wingdings" panose="05000000000000000000" pitchFamily="2" charset="2"/>
              <a:buChar char="Ø"/>
            </a:pPr>
            <a:r>
              <a:rPr lang="en-IN" b="1" u="sng" dirty="0"/>
              <a:t>Database</a:t>
            </a:r>
            <a:r>
              <a:rPr lang="en-IN" b="1" dirty="0"/>
              <a:t> :-</a:t>
            </a:r>
            <a:r>
              <a:rPr lang="en-IN" dirty="0"/>
              <a:t>  </a:t>
            </a:r>
          </a:p>
          <a:p>
            <a:r>
              <a:rPr lang="en-IN" sz="2400" b="1" dirty="0"/>
              <a:t>User Table</a:t>
            </a:r>
          </a:p>
        </p:txBody>
      </p:sp>
      <p:graphicFrame>
        <p:nvGraphicFramePr>
          <p:cNvPr id="7" name="Table 6">
            <a:extLst>
              <a:ext uri="{FF2B5EF4-FFF2-40B4-BE49-F238E27FC236}">
                <a16:creationId xmlns:a16="http://schemas.microsoft.com/office/drawing/2014/main" id="{9905BC1B-7E43-D3E9-86D9-F942D3AF3784}"/>
              </a:ext>
            </a:extLst>
          </p:cNvPr>
          <p:cNvGraphicFramePr>
            <a:graphicFrameLocks noGrp="1"/>
          </p:cNvGraphicFramePr>
          <p:nvPr>
            <p:extLst>
              <p:ext uri="{D42A27DB-BD31-4B8C-83A1-F6EECF244321}">
                <p14:modId xmlns:p14="http://schemas.microsoft.com/office/powerpoint/2010/main" val="3631027100"/>
              </p:ext>
            </p:extLst>
          </p:nvPr>
        </p:nvGraphicFramePr>
        <p:xfrm>
          <a:off x="3178426" y="1747166"/>
          <a:ext cx="8175374" cy="4679582"/>
        </p:xfrm>
        <a:graphic>
          <a:graphicData uri="http://schemas.openxmlformats.org/drawingml/2006/table">
            <a:tbl>
              <a:tblPr firstRow="1" bandRow="1">
                <a:tableStyleId>{5C22544A-7EE6-4342-B048-85BDC9FD1C3A}</a:tableStyleId>
              </a:tblPr>
              <a:tblGrid>
                <a:gridCol w="878381">
                  <a:extLst>
                    <a:ext uri="{9D8B030D-6E8A-4147-A177-3AD203B41FA5}">
                      <a16:colId xmlns:a16="http://schemas.microsoft.com/office/drawing/2014/main" val="4141390153"/>
                    </a:ext>
                  </a:extLst>
                </a:gridCol>
                <a:gridCol w="1846744">
                  <a:extLst>
                    <a:ext uri="{9D8B030D-6E8A-4147-A177-3AD203B41FA5}">
                      <a16:colId xmlns:a16="http://schemas.microsoft.com/office/drawing/2014/main" val="3384884265"/>
                    </a:ext>
                  </a:extLst>
                </a:gridCol>
                <a:gridCol w="1362563">
                  <a:extLst>
                    <a:ext uri="{9D8B030D-6E8A-4147-A177-3AD203B41FA5}">
                      <a16:colId xmlns:a16="http://schemas.microsoft.com/office/drawing/2014/main" val="1827406393"/>
                    </a:ext>
                  </a:extLst>
                </a:gridCol>
                <a:gridCol w="630800">
                  <a:extLst>
                    <a:ext uri="{9D8B030D-6E8A-4147-A177-3AD203B41FA5}">
                      <a16:colId xmlns:a16="http://schemas.microsoft.com/office/drawing/2014/main" val="1898593302"/>
                    </a:ext>
                  </a:extLst>
                </a:gridCol>
                <a:gridCol w="1820495">
                  <a:extLst>
                    <a:ext uri="{9D8B030D-6E8A-4147-A177-3AD203B41FA5}">
                      <a16:colId xmlns:a16="http://schemas.microsoft.com/office/drawing/2014/main" val="2672462934"/>
                    </a:ext>
                  </a:extLst>
                </a:gridCol>
                <a:gridCol w="1636391">
                  <a:extLst>
                    <a:ext uri="{9D8B030D-6E8A-4147-A177-3AD203B41FA5}">
                      <a16:colId xmlns:a16="http://schemas.microsoft.com/office/drawing/2014/main" val="1804103740"/>
                    </a:ext>
                  </a:extLst>
                </a:gridCol>
              </a:tblGrid>
              <a:tr h="256418">
                <a:tc>
                  <a:txBody>
                    <a:bodyPr/>
                    <a:lstStyle/>
                    <a:p>
                      <a:r>
                        <a:rPr lang="en-IN" sz="1300" dirty="0"/>
                        <a:t>SR.NO.</a:t>
                      </a:r>
                    </a:p>
                  </a:txBody>
                  <a:tcPr marL="83127" marR="83127" marT="31227" marB="31227"/>
                </a:tc>
                <a:tc>
                  <a:txBody>
                    <a:bodyPr/>
                    <a:lstStyle/>
                    <a:p>
                      <a:r>
                        <a:rPr lang="en-IN" sz="1300" dirty="0"/>
                        <a:t>FILD NAME </a:t>
                      </a:r>
                    </a:p>
                  </a:txBody>
                  <a:tcPr marL="83127" marR="83127" marT="31227" marB="31227"/>
                </a:tc>
                <a:tc>
                  <a:txBody>
                    <a:bodyPr/>
                    <a:lstStyle/>
                    <a:p>
                      <a:r>
                        <a:rPr lang="en-IN" sz="1300" dirty="0"/>
                        <a:t>DATA TYPE </a:t>
                      </a:r>
                    </a:p>
                  </a:txBody>
                  <a:tcPr marL="83127" marR="83127" marT="31227" marB="31227"/>
                </a:tc>
                <a:tc>
                  <a:txBody>
                    <a:bodyPr/>
                    <a:lstStyle/>
                    <a:p>
                      <a:r>
                        <a:rPr lang="en-IN" sz="1300" dirty="0"/>
                        <a:t>SIZE </a:t>
                      </a:r>
                    </a:p>
                  </a:txBody>
                  <a:tcPr marL="83127" marR="83127" marT="31227" marB="31227"/>
                </a:tc>
                <a:tc>
                  <a:txBody>
                    <a:bodyPr/>
                    <a:lstStyle/>
                    <a:p>
                      <a:r>
                        <a:rPr lang="en-IN" sz="1300" dirty="0"/>
                        <a:t>CONSTRAINT</a:t>
                      </a:r>
                    </a:p>
                  </a:txBody>
                  <a:tcPr marL="83127" marR="83127" marT="31227" marB="31227"/>
                </a:tc>
                <a:tc>
                  <a:txBody>
                    <a:bodyPr/>
                    <a:lstStyle/>
                    <a:p>
                      <a:r>
                        <a:rPr lang="en-IN" sz="1300" dirty="0"/>
                        <a:t>DESCRIPTION</a:t>
                      </a:r>
                    </a:p>
                  </a:txBody>
                  <a:tcPr marL="83127" marR="83127" marT="31227" marB="31227"/>
                </a:tc>
                <a:extLst>
                  <a:ext uri="{0D108BD9-81ED-4DB2-BD59-A6C34878D82A}">
                    <a16:rowId xmlns:a16="http://schemas.microsoft.com/office/drawing/2014/main" val="661526261"/>
                  </a:ext>
                </a:extLst>
              </a:tr>
              <a:tr h="450382">
                <a:tc>
                  <a:txBody>
                    <a:bodyPr/>
                    <a:lstStyle/>
                    <a:p>
                      <a:r>
                        <a:rPr lang="en-IN" sz="1300" dirty="0"/>
                        <a:t>1.</a:t>
                      </a:r>
                    </a:p>
                  </a:txBody>
                  <a:tcPr marL="83127" marR="83127" marT="31227" marB="31227"/>
                </a:tc>
                <a:tc>
                  <a:txBody>
                    <a:bodyPr/>
                    <a:lstStyle/>
                    <a:p>
                      <a:r>
                        <a:rPr lang="en-IN" sz="1300" dirty="0" err="1"/>
                        <a:t>User_Id</a:t>
                      </a:r>
                      <a:r>
                        <a:rPr lang="en-IN" sz="1300" dirty="0"/>
                        <a:t> </a:t>
                      </a:r>
                    </a:p>
                  </a:txBody>
                  <a:tcPr marL="83127" marR="83127" marT="31227" marB="31227"/>
                </a:tc>
                <a:tc>
                  <a:txBody>
                    <a:bodyPr/>
                    <a:lstStyle/>
                    <a:p>
                      <a:r>
                        <a:rPr lang="en-IN" sz="1300" dirty="0"/>
                        <a:t>Integer</a:t>
                      </a:r>
                    </a:p>
                  </a:txBody>
                  <a:tcPr marL="83127" marR="83127" marT="31227" marB="31227"/>
                </a:tc>
                <a:tc>
                  <a:txBody>
                    <a:bodyPr/>
                    <a:lstStyle/>
                    <a:p>
                      <a:r>
                        <a:rPr lang="en-IN" sz="1300" dirty="0"/>
                        <a:t>4</a:t>
                      </a:r>
                    </a:p>
                  </a:txBody>
                  <a:tcPr marL="83127" marR="83127" marT="31227" marB="31227"/>
                </a:tc>
                <a:tc>
                  <a:txBody>
                    <a:bodyPr/>
                    <a:lstStyle/>
                    <a:p>
                      <a:r>
                        <a:rPr lang="en-IN" sz="1300" dirty="0"/>
                        <a:t>Primary key </a:t>
                      </a:r>
                    </a:p>
                  </a:txBody>
                  <a:tcPr marL="83127" marR="83127" marT="31227" marB="31227"/>
                </a:tc>
                <a:tc>
                  <a:txBody>
                    <a:bodyPr/>
                    <a:lstStyle/>
                    <a:p>
                      <a:r>
                        <a:rPr lang="en-IN" sz="1300" dirty="0"/>
                        <a:t>Unique identifier for user</a:t>
                      </a:r>
                    </a:p>
                  </a:txBody>
                  <a:tcPr marL="83127" marR="83127" marT="31227" marB="31227"/>
                </a:tc>
                <a:extLst>
                  <a:ext uri="{0D108BD9-81ED-4DB2-BD59-A6C34878D82A}">
                    <a16:rowId xmlns:a16="http://schemas.microsoft.com/office/drawing/2014/main" val="1622169942"/>
                  </a:ext>
                </a:extLst>
              </a:tr>
              <a:tr h="256418">
                <a:tc>
                  <a:txBody>
                    <a:bodyPr/>
                    <a:lstStyle/>
                    <a:p>
                      <a:r>
                        <a:rPr lang="en-IN" sz="1300" dirty="0"/>
                        <a:t>2.</a:t>
                      </a:r>
                    </a:p>
                  </a:txBody>
                  <a:tcPr marL="83127" marR="83127" marT="31227" marB="31227"/>
                </a:tc>
                <a:tc>
                  <a:txBody>
                    <a:bodyPr/>
                    <a:lstStyle/>
                    <a:p>
                      <a:r>
                        <a:rPr lang="en-IN" sz="1300" dirty="0"/>
                        <a:t>Username</a:t>
                      </a:r>
                    </a:p>
                  </a:txBody>
                  <a:tcPr marL="83127" marR="83127" marT="31227" marB="31227"/>
                </a:tc>
                <a:tc>
                  <a:txBody>
                    <a:bodyPr/>
                    <a:lstStyle/>
                    <a:p>
                      <a:r>
                        <a:rPr lang="en-IN" sz="1300" dirty="0"/>
                        <a:t>Varchar</a:t>
                      </a:r>
                    </a:p>
                  </a:txBody>
                  <a:tcPr marL="83127" marR="83127" marT="31227" marB="31227"/>
                </a:tc>
                <a:tc>
                  <a:txBody>
                    <a:bodyPr/>
                    <a:lstStyle/>
                    <a:p>
                      <a:r>
                        <a:rPr lang="en-IN" sz="1300" dirty="0"/>
                        <a:t>20</a:t>
                      </a:r>
                    </a:p>
                  </a:txBody>
                  <a:tcPr marL="83127" marR="83127" marT="31227" marB="31227"/>
                </a:tc>
                <a:tc>
                  <a:txBody>
                    <a:bodyPr/>
                    <a:lstStyle/>
                    <a:p>
                      <a:r>
                        <a:rPr lang="en-IN" sz="1300" dirty="0"/>
                        <a:t>Not null, Unique</a:t>
                      </a:r>
                    </a:p>
                  </a:txBody>
                  <a:tcPr marL="83127" marR="83127" marT="31227" marB="31227"/>
                </a:tc>
                <a:tc>
                  <a:txBody>
                    <a:bodyPr/>
                    <a:lstStyle/>
                    <a:p>
                      <a:r>
                        <a:rPr lang="en-IN" sz="1300" dirty="0"/>
                        <a:t>Stores username</a:t>
                      </a:r>
                    </a:p>
                  </a:txBody>
                  <a:tcPr marL="83127" marR="83127" marT="31227" marB="31227"/>
                </a:tc>
                <a:extLst>
                  <a:ext uri="{0D108BD9-81ED-4DB2-BD59-A6C34878D82A}">
                    <a16:rowId xmlns:a16="http://schemas.microsoft.com/office/drawing/2014/main" val="4271140240"/>
                  </a:ext>
                </a:extLst>
              </a:tr>
              <a:tr h="256418">
                <a:tc>
                  <a:txBody>
                    <a:bodyPr/>
                    <a:lstStyle/>
                    <a:p>
                      <a:r>
                        <a:rPr lang="en-IN" sz="1300" dirty="0"/>
                        <a:t>3.</a:t>
                      </a:r>
                    </a:p>
                  </a:txBody>
                  <a:tcPr marL="83127" marR="83127" marT="31227" marB="31227"/>
                </a:tc>
                <a:tc>
                  <a:txBody>
                    <a:bodyPr/>
                    <a:lstStyle/>
                    <a:p>
                      <a:r>
                        <a:rPr lang="en-IN" sz="1300" dirty="0" err="1"/>
                        <a:t>First_name</a:t>
                      </a:r>
                      <a:endParaRPr lang="en-IN" sz="1300" dirty="0"/>
                    </a:p>
                  </a:txBody>
                  <a:tcPr marL="83127" marR="83127" marT="31227" marB="31227"/>
                </a:tc>
                <a:tc>
                  <a:txBody>
                    <a:bodyPr/>
                    <a:lstStyle/>
                    <a:p>
                      <a:r>
                        <a:rPr lang="en-IN" sz="1300" dirty="0"/>
                        <a:t>Varchar</a:t>
                      </a:r>
                    </a:p>
                  </a:txBody>
                  <a:tcPr marL="83127" marR="83127" marT="31227" marB="31227"/>
                </a:tc>
                <a:tc>
                  <a:txBody>
                    <a:bodyPr/>
                    <a:lstStyle/>
                    <a:p>
                      <a:r>
                        <a:rPr lang="en-IN" sz="1300" dirty="0"/>
                        <a:t>20</a:t>
                      </a:r>
                    </a:p>
                  </a:txBody>
                  <a:tcPr marL="83127" marR="83127" marT="31227" marB="31227"/>
                </a:tc>
                <a:tc>
                  <a:txBody>
                    <a:bodyPr/>
                    <a:lstStyle/>
                    <a:p>
                      <a:r>
                        <a:rPr lang="en-IN" sz="1300" dirty="0"/>
                        <a:t>Not null</a:t>
                      </a:r>
                    </a:p>
                  </a:txBody>
                  <a:tcPr marL="83127" marR="83127" marT="31227" marB="31227"/>
                </a:tc>
                <a:tc>
                  <a:txBody>
                    <a:bodyPr/>
                    <a:lstStyle/>
                    <a:p>
                      <a:r>
                        <a:rPr lang="en-IN" sz="1300" dirty="0"/>
                        <a:t>Stores first name </a:t>
                      </a:r>
                    </a:p>
                  </a:txBody>
                  <a:tcPr marL="83127" marR="83127" marT="31227" marB="31227"/>
                </a:tc>
                <a:extLst>
                  <a:ext uri="{0D108BD9-81ED-4DB2-BD59-A6C34878D82A}">
                    <a16:rowId xmlns:a16="http://schemas.microsoft.com/office/drawing/2014/main" val="2901699976"/>
                  </a:ext>
                </a:extLst>
              </a:tr>
              <a:tr h="256418">
                <a:tc>
                  <a:txBody>
                    <a:bodyPr/>
                    <a:lstStyle/>
                    <a:p>
                      <a:r>
                        <a:rPr lang="en-IN" sz="1300" dirty="0"/>
                        <a:t>4.</a:t>
                      </a:r>
                    </a:p>
                  </a:txBody>
                  <a:tcPr marL="83127" marR="83127" marT="31227" marB="31227"/>
                </a:tc>
                <a:tc>
                  <a:txBody>
                    <a:bodyPr/>
                    <a:lstStyle/>
                    <a:p>
                      <a:r>
                        <a:rPr lang="en-IN" sz="1300" dirty="0" err="1"/>
                        <a:t>Last_name</a:t>
                      </a:r>
                      <a:endParaRPr lang="en-IN" sz="1300" dirty="0"/>
                    </a:p>
                  </a:txBody>
                  <a:tcPr marL="83127" marR="83127" marT="31227" marB="31227"/>
                </a:tc>
                <a:tc>
                  <a:txBody>
                    <a:bodyPr/>
                    <a:lstStyle/>
                    <a:p>
                      <a:r>
                        <a:rPr lang="en-IN" sz="1300" dirty="0"/>
                        <a:t>Varchar</a:t>
                      </a:r>
                    </a:p>
                  </a:txBody>
                  <a:tcPr marL="83127" marR="83127" marT="31227" marB="31227"/>
                </a:tc>
                <a:tc>
                  <a:txBody>
                    <a:bodyPr/>
                    <a:lstStyle/>
                    <a:p>
                      <a:r>
                        <a:rPr lang="en-IN" sz="1300" dirty="0"/>
                        <a:t>20</a:t>
                      </a:r>
                    </a:p>
                  </a:txBody>
                  <a:tcPr marL="83127" marR="83127" marT="31227" marB="31227"/>
                </a:tc>
                <a:tc>
                  <a:txBody>
                    <a:bodyPr/>
                    <a:lstStyle/>
                    <a:p>
                      <a:r>
                        <a:rPr kumimoji="0" lang="en-IN" sz="13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300" dirty="0"/>
                    </a:p>
                  </a:txBody>
                  <a:tcPr marL="83127" marR="83127" marT="31227" marB="31227"/>
                </a:tc>
                <a:tc>
                  <a:txBody>
                    <a:bodyPr/>
                    <a:lstStyle/>
                    <a:p>
                      <a:r>
                        <a:rPr lang="en-IN" sz="1300" dirty="0"/>
                        <a:t>Stores last name</a:t>
                      </a:r>
                    </a:p>
                  </a:txBody>
                  <a:tcPr marL="83127" marR="83127" marT="31227" marB="31227"/>
                </a:tc>
                <a:extLst>
                  <a:ext uri="{0D108BD9-81ED-4DB2-BD59-A6C34878D82A}">
                    <a16:rowId xmlns:a16="http://schemas.microsoft.com/office/drawing/2014/main" val="2323314125"/>
                  </a:ext>
                </a:extLst>
              </a:tr>
              <a:tr h="256418">
                <a:tc>
                  <a:txBody>
                    <a:bodyPr/>
                    <a:lstStyle/>
                    <a:p>
                      <a:r>
                        <a:rPr lang="en-IN" sz="1300" dirty="0"/>
                        <a:t>5.</a:t>
                      </a:r>
                    </a:p>
                  </a:txBody>
                  <a:tcPr marL="83127" marR="83127" marT="31227" marB="31227"/>
                </a:tc>
                <a:tc>
                  <a:txBody>
                    <a:bodyPr/>
                    <a:lstStyle/>
                    <a:p>
                      <a:r>
                        <a:rPr lang="en-IN" sz="1300" dirty="0"/>
                        <a:t>Email</a:t>
                      </a:r>
                    </a:p>
                  </a:txBody>
                  <a:tcPr marL="83127" marR="83127" marT="31227" marB="31227"/>
                </a:tc>
                <a:tc>
                  <a:txBody>
                    <a:bodyPr/>
                    <a:lstStyle/>
                    <a:p>
                      <a:r>
                        <a:rPr kumimoji="0" lang="en-IN" sz="1300" b="0" i="0" u="none" strike="noStrike" kern="1200" cap="none" spc="0" normalizeH="0" baseline="0" noProof="0">
                          <a:ln>
                            <a:noFill/>
                          </a:ln>
                          <a:solidFill>
                            <a:prstClr val="black"/>
                          </a:solidFill>
                          <a:effectLst/>
                          <a:uLnTx/>
                          <a:uFillTx/>
                          <a:latin typeface="Calibri" panose="020F0502020204030204"/>
                          <a:ea typeface="+mn-ea"/>
                          <a:cs typeface="+mn-cs"/>
                        </a:rPr>
                        <a:t>Varchar</a:t>
                      </a:r>
                      <a:endParaRPr lang="en-IN" sz="1300"/>
                    </a:p>
                  </a:txBody>
                  <a:tcPr marL="83127" marR="83127" marT="31227" marB="31227"/>
                </a:tc>
                <a:tc>
                  <a:txBody>
                    <a:bodyPr/>
                    <a:lstStyle/>
                    <a:p>
                      <a:r>
                        <a:rPr lang="en-IN" sz="1300" dirty="0"/>
                        <a:t>20</a:t>
                      </a:r>
                    </a:p>
                  </a:txBody>
                  <a:tcPr marL="83127" marR="83127" marT="31227" marB="31227"/>
                </a:tc>
                <a:tc>
                  <a:txBody>
                    <a:bodyPr/>
                    <a:lstStyle/>
                    <a:p>
                      <a:r>
                        <a:rPr kumimoji="0" lang="en-IN" sz="13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300" dirty="0"/>
                    </a:p>
                  </a:txBody>
                  <a:tcPr marL="83127" marR="83127" marT="31227" marB="31227"/>
                </a:tc>
                <a:tc>
                  <a:txBody>
                    <a:bodyPr/>
                    <a:lstStyle/>
                    <a:p>
                      <a:r>
                        <a:rPr lang="en-IN" sz="1300" dirty="0"/>
                        <a:t>Stores email</a:t>
                      </a:r>
                    </a:p>
                  </a:txBody>
                  <a:tcPr marL="83127" marR="83127" marT="31227" marB="31227"/>
                </a:tc>
                <a:extLst>
                  <a:ext uri="{0D108BD9-81ED-4DB2-BD59-A6C34878D82A}">
                    <a16:rowId xmlns:a16="http://schemas.microsoft.com/office/drawing/2014/main" val="3734285732"/>
                  </a:ext>
                </a:extLst>
              </a:tr>
              <a:tr h="256418">
                <a:tc>
                  <a:txBody>
                    <a:bodyPr/>
                    <a:lstStyle/>
                    <a:p>
                      <a:r>
                        <a:rPr lang="en-IN" sz="1300" dirty="0"/>
                        <a:t>6.</a:t>
                      </a:r>
                    </a:p>
                  </a:txBody>
                  <a:tcPr marL="83127" marR="83127" marT="31227" marB="31227"/>
                </a:tc>
                <a:tc>
                  <a:txBody>
                    <a:bodyPr/>
                    <a:lstStyle/>
                    <a:p>
                      <a:r>
                        <a:rPr lang="en-IN" sz="1300" dirty="0"/>
                        <a:t>Password</a:t>
                      </a:r>
                    </a:p>
                  </a:txBody>
                  <a:tcPr marL="83127" marR="83127" marT="31227" marB="31227"/>
                </a:tc>
                <a:tc>
                  <a:txBody>
                    <a:bodyPr/>
                    <a:lstStyle/>
                    <a:p>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Varchar</a:t>
                      </a:r>
                      <a:endParaRPr lang="en-IN" sz="1300" dirty="0"/>
                    </a:p>
                  </a:txBody>
                  <a:tcPr marL="83127" marR="83127" marT="31227" marB="31227"/>
                </a:tc>
                <a:tc>
                  <a:txBody>
                    <a:bodyPr/>
                    <a:lstStyle/>
                    <a:p>
                      <a:r>
                        <a:rPr lang="en-IN" sz="1300" dirty="0"/>
                        <a:t>10</a:t>
                      </a:r>
                    </a:p>
                  </a:txBody>
                  <a:tcPr marL="83127" marR="83127" marT="31227" marB="31227"/>
                </a:tc>
                <a:tc>
                  <a:txBody>
                    <a:bodyPr/>
                    <a:lstStyle/>
                    <a:p>
                      <a:r>
                        <a:rPr kumimoji="0" lang="en-IN" sz="13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300" dirty="0"/>
                    </a:p>
                  </a:txBody>
                  <a:tcPr marL="83127" marR="83127" marT="31227" marB="31227"/>
                </a:tc>
                <a:tc>
                  <a:txBody>
                    <a:bodyPr/>
                    <a:lstStyle/>
                    <a:p>
                      <a:r>
                        <a:rPr lang="en-IN" sz="1300" dirty="0"/>
                        <a:t>Stores  password</a:t>
                      </a:r>
                    </a:p>
                  </a:txBody>
                  <a:tcPr marL="83127" marR="83127" marT="31227" marB="31227"/>
                </a:tc>
                <a:extLst>
                  <a:ext uri="{0D108BD9-81ED-4DB2-BD59-A6C34878D82A}">
                    <a16:rowId xmlns:a16="http://schemas.microsoft.com/office/drawing/2014/main" val="2314248693"/>
                  </a:ext>
                </a:extLst>
              </a:tr>
              <a:tr h="450382">
                <a:tc>
                  <a:txBody>
                    <a:bodyPr/>
                    <a:lstStyle/>
                    <a:p>
                      <a:r>
                        <a:rPr lang="en-IN" sz="1300" dirty="0"/>
                        <a:t>7.</a:t>
                      </a:r>
                    </a:p>
                  </a:txBody>
                  <a:tcPr marL="83127" marR="83127" marT="31227" marB="31227"/>
                </a:tc>
                <a:tc>
                  <a:txBody>
                    <a:bodyPr/>
                    <a:lstStyle/>
                    <a:p>
                      <a:r>
                        <a:rPr lang="en-IN" sz="1300" dirty="0" err="1"/>
                        <a:t>Phone_number</a:t>
                      </a:r>
                      <a:endParaRPr lang="en-IN" sz="1300" dirty="0"/>
                    </a:p>
                  </a:txBody>
                  <a:tcPr marL="83127" marR="83127" marT="31227" marB="31227"/>
                </a:tc>
                <a:tc>
                  <a:txBody>
                    <a:bodyPr/>
                    <a:lstStyle/>
                    <a:p>
                      <a:r>
                        <a:rPr lang="en-IN" sz="1300" dirty="0"/>
                        <a:t>Varchar</a:t>
                      </a:r>
                    </a:p>
                  </a:txBody>
                  <a:tcPr marL="83127" marR="83127" marT="31227" marB="31227"/>
                </a:tc>
                <a:tc>
                  <a:txBody>
                    <a:bodyPr/>
                    <a:lstStyle/>
                    <a:p>
                      <a:r>
                        <a:rPr lang="en-IN" sz="1300" dirty="0"/>
                        <a:t>10</a:t>
                      </a:r>
                    </a:p>
                  </a:txBody>
                  <a:tcPr marL="83127" marR="83127" marT="31227" marB="31227"/>
                </a:tc>
                <a:tc>
                  <a:txBody>
                    <a:bodyPr/>
                    <a:lstStyle/>
                    <a:p>
                      <a:r>
                        <a:rPr kumimoji="0" lang="en-IN" sz="13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300" dirty="0"/>
                    </a:p>
                  </a:txBody>
                  <a:tcPr marL="83127" marR="83127" marT="31227" marB="31227"/>
                </a:tc>
                <a:tc>
                  <a:txBody>
                    <a:bodyPr/>
                    <a:lstStyle/>
                    <a:p>
                      <a:r>
                        <a:rPr lang="en-IN" sz="1300" dirty="0"/>
                        <a:t>Stores contact number</a:t>
                      </a:r>
                    </a:p>
                  </a:txBody>
                  <a:tcPr marL="83127" marR="83127" marT="31227" marB="31227"/>
                </a:tc>
                <a:extLst>
                  <a:ext uri="{0D108BD9-81ED-4DB2-BD59-A6C34878D82A}">
                    <a16:rowId xmlns:a16="http://schemas.microsoft.com/office/drawing/2014/main" val="407917385"/>
                  </a:ext>
                </a:extLst>
              </a:tr>
              <a:tr h="450382">
                <a:tc>
                  <a:txBody>
                    <a:bodyPr/>
                    <a:lstStyle/>
                    <a:p>
                      <a:r>
                        <a:rPr lang="en-IN" sz="1300" dirty="0"/>
                        <a:t>8.</a:t>
                      </a:r>
                    </a:p>
                  </a:txBody>
                  <a:tcPr marL="83127" marR="83127" marT="31227" marB="31227"/>
                </a:tc>
                <a:tc>
                  <a:txBody>
                    <a:bodyPr/>
                    <a:lstStyle/>
                    <a:p>
                      <a:r>
                        <a:rPr lang="en-IN" sz="1300" dirty="0" err="1"/>
                        <a:t>Profile_picture</a:t>
                      </a:r>
                      <a:endParaRPr lang="en-IN" sz="1300" dirty="0"/>
                    </a:p>
                  </a:txBody>
                  <a:tcPr marL="83127" marR="83127" marT="31227" marB="31227"/>
                </a:tc>
                <a:tc>
                  <a:txBody>
                    <a:bodyPr/>
                    <a:lstStyle/>
                    <a:p>
                      <a:r>
                        <a:rPr lang="en-IN" sz="1300" dirty="0"/>
                        <a:t>Image/file</a:t>
                      </a:r>
                    </a:p>
                  </a:txBody>
                  <a:tcPr marL="83127" marR="83127" marT="31227" marB="31227"/>
                </a:tc>
                <a:tc>
                  <a:txBody>
                    <a:bodyPr/>
                    <a:lstStyle/>
                    <a:p>
                      <a:r>
                        <a:rPr lang="en-IN" sz="1300" dirty="0"/>
                        <a:t>-</a:t>
                      </a:r>
                    </a:p>
                  </a:txBody>
                  <a:tcPr marL="83127" marR="83127" marT="31227" marB="31227"/>
                </a:tc>
                <a:tc>
                  <a:txBody>
                    <a:bodyPr/>
                    <a:lstStyle/>
                    <a:p>
                      <a:r>
                        <a:rPr lang="en-IN" sz="1300" dirty="0"/>
                        <a:t>Not null</a:t>
                      </a:r>
                    </a:p>
                  </a:txBody>
                  <a:tcPr marL="83127" marR="83127" marT="31227" marB="31227"/>
                </a:tc>
                <a:tc>
                  <a:txBody>
                    <a:bodyPr/>
                    <a:lstStyle/>
                    <a:p>
                      <a:r>
                        <a:rPr lang="en-IN" sz="1300" dirty="0"/>
                        <a:t>Stores user profile image</a:t>
                      </a:r>
                    </a:p>
                  </a:txBody>
                  <a:tcPr marL="83127" marR="83127" marT="31227" marB="31227"/>
                </a:tc>
                <a:extLst>
                  <a:ext uri="{0D108BD9-81ED-4DB2-BD59-A6C34878D82A}">
                    <a16:rowId xmlns:a16="http://schemas.microsoft.com/office/drawing/2014/main" val="1165341743"/>
                  </a:ext>
                </a:extLst>
              </a:tr>
              <a:tr h="440305">
                <a:tc>
                  <a:txBody>
                    <a:bodyPr/>
                    <a:lstStyle/>
                    <a:p>
                      <a:r>
                        <a:rPr lang="en-IN" sz="1300" dirty="0"/>
                        <a:t>9.</a:t>
                      </a:r>
                    </a:p>
                  </a:txBody>
                  <a:tcPr marL="83127" marR="83127" marT="31227" marB="31227"/>
                </a:tc>
                <a:tc>
                  <a:txBody>
                    <a:bodyPr/>
                    <a:lstStyle/>
                    <a:p>
                      <a:r>
                        <a:rPr lang="en-IN" sz="1300" dirty="0" err="1"/>
                        <a:t>Is_active</a:t>
                      </a:r>
                      <a:endParaRPr lang="en-IN" sz="1300" dirty="0"/>
                    </a:p>
                  </a:txBody>
                  <a:tcPr marL="83127" marR="83127" marT="31227" marB="31227"/>
                </a:tc>
                <a:tc>
                  <a:txBody>
                    <a:bodyPr/>
                    <a:lstStyle/>
                    <a:p>
                      <a:r>
                        <a:rPr lang="en-IN" sz="1300" dirty="0"/>
                        <a:t>Boolean</a:t>
                      </a:r>
                    </a:p>
                  </a:txBody>
                  <a:tcPr marL="83127" marR="83127" marT="31227" marB="31227"/>
                </a:tc>
                <a:tc>
                  <a:txBody>
                    <a:bodyPr/>
                    <a:lstStyle/>
                    <a:p>
                      <a:r>
                        <a:rPr lang="en-IN" sz="1300" dirty="0"/>
                        <a:t>1</a:t>
                      </a:r>
                    </a:p>
                  </a:txBody>
                  <a:tcPr marL="83127" marR="83127" marT="31227" marB="31227"/>
                </a:tc>
                <a:tc>
                  <a:txBody>
                    <a:bodyPr/>
                    <a:lstStyle/>
                    <a:p>
                      <a:r>
                        <a:rPr lang="en-IN" sz="1300" dirty="0"/>
                        <a:t>Not null </a:t>
                      </a:r>
                    </a:p>
                  </a:txBody>
                  <a:tcPr marL="83127" marR="83127" marT="31227" marB="31227"/>
                </a:tc>
                <a:tc>
                  <a:txBody>
                    <a:bodyPr/>
                    <a:lstStyle/>
                    <a:p>
                      <a:r>
                        <a:rPr lang="en-IN" sz="1300" dirty="0"/>
                        <a:t>Indicates active status</a:t>
                      </a:r>
                    </a:p>
                  </a:txBody>
                  <a:tcPr marL="83127" marR="83127" marT="31227" marB="31227"/>
                </a:tc>
                <a:extLst>
                  <a:ext uri="{0D108BD9-81ED-4DB2-BD59-A6C34878D82A}">
                    <a16:rowId xmlns:a16="http://schemas.microsoft.com/office/drawing/2014/main" val="3700234381"/>
                  </a:ext>
                </a:extLst>
              </a:tr>
              <a:tr h="629232">
                <a:tc>
                  <a:txBody>
                    <a:bodyPr/>
                    <a:lstStyle/>
                    <a:p>
                      <a:r>
                        <a:rPr lang="en-IN" sz="1300" dirty="0"/>
                        <a:t>10.</a:t>
                      </a:r>
                    </a:p>
                  </a:txBody>
                  <a:tcPr marL="83127" marR="83127" marT="31227" marB="31227"/>
                </a:tc>
                <a:tc>
                  <a:txBody>
                    <a:bodyPr/>
                    <a:lstStyle/>
                    <a:p>
                      <a:r>
                        <a:rPr lang="en-IN" sz="1300" dirty="0" err="1"/>
                        <a:t>Create_at</a:t>
                      </a:r>
                      <a:endParaRPr lang="en-IN" sz="1300" dirty="0"/>
                    </a:p>
                  </a:txBody>
                  <a:tcPr marL="83127" marR="83127" marT="31227" marB="31227"/>
                </a:tc>
                <a:tc>
                  <a:txBody>
                    <a:bodyPr/>
                    <a:lstStyle/>
                    <a:p>
                      <a:r>
                        <a:rPr lang="en-IN" sz="1300" dirty="0"/>
                        <a:t>Date time </a:t>
                      </a:r>
                    </a:p>
                  </a:txBody>
                  <a:tcPr marL="83127" marR="83127" marT="31227" marB="31227"/>
                </a:tc>
                <a:tc>
                  <a:txBody>
                    <a:bodyPr/>
                    <a:lstStyle/>
                    <a:p>
                      <a:r>
                        <a:rPr lang="en-IN" sz="1300" dirty="0"/>
                        <a:t>-</a:t>
                      </a:r>
                    </a:p>
                  </a:txBody>
                  <a:tcPr marL="83127" marR="83127" marT="31227" marB="31227"/>
                </a:tc>
                <a:tc>
                  <a:txBody>
                    <a:bodyPr/>
                    <a:lstStyle/>
                    <a:p>
                      <a:r>
                        <a:rPr lang="en-IN" sz="1300" dirty="0"/>
                        <a:t>Not null</a:t>
                      </a:r>
                    </a:p>
                  </a:txBody>
                  <a:tcPr marL="83127" marR="83127" marT="31227" marB="31227"/>
                </a:tc>
                <a:tc>
                  <a:txBody>
                    <a:bodyPr/>
                    <a:lstStyle/>
                    <a:p>
                      <a:r>
                        <a:rPr lang="en-US" sz="1300" dirty="0"/>
                        <a:t>Stores record creation date and time</a:t>
                      </a:r>
                      <a:endParaRPr lang="en-IN" sz="1300" dirty="0"/>
                    </a:p>
                  </a:txBody>
                  <a:tcPr marL="83127" marR="83127" marT="31227" marB="31227"/>
                </a:tc>
                <a:extLst>
                  <a:ext uri="{0D108BD9-81ED-4DB2-BD59-A6C34878D82A}">
                    <a16:rowId xmlns:a16="http://schemas.microsoft.com/office/drawing/2014/main" val="141539426"/>
                  </a:ext>
                </a:extLst>
              </a:tr>
              <a:tr h="624548">
                <a:tc>
                  <a:txBody>
                    <a:bodyPr/>
                    <a:lstStyle/>
                    <a:p>
                      <a:r>
                        <a:rPr lang="en-IN" sz="1300" dirty="0"/>
                        <a:t>11.</a:t>
                      </a:r>
                    </a:p>
                  </a:txBody>
                  <a:tcPr marL="83127" marR="83127" marT="31227" marB="31227"/>
                </a:tc>
                <a:tc>
                  <a:txBody>
                    <a:bodyPr/>
                    <a:lstStyle/>
                    <a:p>
                      <a:r>
                        <a:rPr lang="en-IN" sz="1300" dirty="0" err="1"/>
                        <a:t>Update_at</a:t>
                      </a:r>
                      <a:endParaRPr lang="en-IN" sz="1300" dirty="0"/>
                    </a:p>
                  </a:txBody>
                  <a:tcPr marL="83127" marR="83127" marT="31227" marB="31227"/>
                </a:tc>
                <a:tc>
                  <a:txBody>
                    <a:bodyPr/>
                    <a:lstStyle/>
                    <a:p>
                      <a:r>
                        <a:rPr lang="en-IN" sz="1300" dirty="0"/>
                        <a:t>Date time </a:t>
                      </a:r>
                    </a:p>
                  </a:txBody>
                  <a:tcPr marL="83127" marR="83127" marT="31227" marB="31227"/>
                </a:tc>
                <a:tc>
                  <a:txBody>
                    <a:bodyPr/>
                    <a:lstStyle/>
                    <a:p>
                      <a:r>
                        <a:rPr lang="en-IN" sz="1300" dirty="0"/>
                        <a:t>-</a:t>
                      </a:r>
                    </a:p>
                  </a:txBody>
                  <a:tcPr marL="83127" marR="83127" marT="31227" marB="31227"/>
                </a:tc>
                <a:tc>
                  <a:txBody>
                    <a:bodyPr/>
                    <a:lstStyle/>
                    <a:p>
                      <a:r>
                        <a:rPr lang="en-IN" sz="1300" dirty="0"/>
                        <a:t>Not null</a:t>
                      </a:r>
                    </a:p>
                  </a:txBody>
                  <a:tcPr marL="83127" marR="83127" marT="31227" marB="31227"/>
                </a:tc>
                <a:tc>
                  <a:txBody>
                    <a:bodyPr/>
                    <a:lstStyle/>
                    <a:p>
                      <a:r>
                        <a:rPr lang="en-US" sz="1300" dirty="0"/>
                        <a:t>Stores last update date and time</a:t>
                      </a:r>
                      <a:endParaRPr lang="en-IN" sz="1300" dirty="0"/>
                    </a:p>
                  </a:txBody>
                  <a:tcPr marL="83127" marR="83127" marT="31227" marB="31227"/>
                </a:tc>
                <a:extLst>
                  <a:ext uri="{0D108BD9-81ED-4DB2-BD59-A6C34878D82A}">
                    <a16:rowId xmlns:a16="http://schemas.microsoft.com/office/drawing/2014/main" val="2107897655"/>
                  </a:ext>
                </a:extLst>
              </a:tr>
            </a:tbl>
          </a:graphicData>
        </a:graphic>
      </p:graphicFrame>
    </p:spTree>
    <p:extLst>
      <p:ext uri="{BB962C8B-B14F-4D97-AF65-F5344CB8AC3E}">
        <p14:creationId xmlns:p14="http://schemas.microsoft.com/office/powerpoint/2010/main" val="29602754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D6C9-7EDE-E096-3903-B5826231C90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29AC3D0-D5EC-083A-6A8A-28D2E04D3F6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BD9AF18C-2CFB-7258-9644-FA2F64B639BF}"/>
              </a:ext>
            </a:extLst>
          </p:cNvPr>
          <p:cNvSpPr>
            <a:spLocks noGrp="1"/>
          </p:cNvSpPr>
          <p:nvPr>
            <p:ph idx="1"/>
          </p:nvPr>
        </p:nvSpPr>
        <p:spPr>
          <a:xfrm>
            <a:off x="1206630" y="1253331"/>
            <a:ext cx="10515600" cy="4351338"/>
          </a:xfrm>
        </p:spPr>
        <p:txBody>
          <a:bodyPr/>
          <a:lstStyle/>
          <a:p>
            <a:r>
              <a:rPr lang="en-IN" sz="2400" b="1" dirty="0"/>
              <a:t>Pharmacy Table</a:t>
            </a:r>
          </a:p>
        </p:txBody>
      </p:sp>
      <p:graphicFrame>
        <p:nvGraphicFramePr>
          <p:cNvPr id="2" name="Table 1">
            <a:extLst>
              <a:ext uri="{FF2B5EF4-FFF2-40B4-BE49-F238E27FC236}">
                <a16:creationId xmlns:a16="http://schemas.microsoft.com/office/drawing/2014/main" id="{EE889791-D8D3-84F1-A08F-E6865A79CB38}"/>
              </a:ext>
            </a:extLst>
          </p:cNvPr>
          <p:cNvGraphicFramePr>
            <a:graphicFrameLocks noGrp="1"/>
          </p:cNvGraphicFramePr>
          <p:nvPr>
            <p:extLst>
              <p:ext uri="{D42A27DB-BD31-4B8C-83A1-F6EECF244321}">
                <p14:modId xmlns:p14="http://schemas.microsoft.com/office/powerpoint/2010/main" val="2131461808"/>
              </p:ext>
            </p:extLst>
          </p:nvPr>
        </p:nvGraphicFramePr>
        <p:xfrm>
          <a:off x="1216057" y="1758244"/>
          <a:ext cx="10067826" cy="5009288"/>
        </p:xfrm>
        <a:graphic>
          <a:graphicData uri="http://schemas.openxmlformats.org/drawingml/2006/table">
            <a:tbl>
              <a:tblPr firstRow="1" bandRow="1">
                <a:tableStyleId>{5C22544A-7EE6-4342-B048-85BDC9FD1C3A}</a:tableStyleId>
              </a:tblPr>
              <a:tblGrid>
                <a:gridCol w="904974">
                  <a:extLst>
                    <a:ext uri="{9D8B030D-6E8A-4147-A177-3AD203B41FA5}">
                      <a16:colId xmlns:a16="http://schemas.microsoft.com/office/drawing/2014/main" val="2361305984"/>
                    </a:ext>
                  </a:extLst>
                </a:gridCol>
                <a:gridCol w="1743959">
                  <a:extLst>
                    <a:ext uri="{9D8B030D-6E8A-4147-A177-3AD203B41FA5}">
                      <a16:colId xmlns:a16="http://schemas.microsoft.com/office/drawing/2014/main" val="1768256383"/>
                    </a:ext>
                  </a:extLst>
                </a:gridCol>
                <a:gridCol w="1489435">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pharmacy</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a:t>Name </a:t>
                      </a:r>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pharmacy name</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user_id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User</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Licence_number</a:t>
                      </a:r>
                      <a:endParaRPr lang="en-IN" dirty="0"/>
                    </a:p>
                  </a:txBody>
                  <a:tcPr/>
                </a:tc>
                <a:tc>
                  <a:txBody>
                    <a:bodyPr/>
                    <a:lstStyle/>
                    <a:p>
                      <a:r>
                        <a:rPr lang="en-IN" dirty="0"/>
                        <a:t>Varchar</a:t>
                      </a:r>
                    </a:p>
                  </a:txBody>
                  <a:tcPr/>
                </a:tc>
                <a:tc>
                  <a:txBody>
                    <a:bodyPr/>
                    <a:lstStyle/>
                    <a:p>
                      <a:r>
                        <a:rPr lang="en-IN" dirty="0"/>
                        <a:t>50</a:t>
                      </a:r>
                    </a:p>
                  </a:txBody>
                  <a:tcPr/>
                </a:tc>
                <a:tc>
                  <a:txBody>
                    <a:bodyPr/>
                    <a:lstStyle/>
                    <a:p>
                      <a:r>
                        <a:rPr lang="en-IN" dirty="0"/>
                        <a:t>Not null</a:t>
                      </a:r>
                    </a:p>
                  </a:txBody>
                  <a:tcPr/>
                </a:tc>
                <a:tc>
                  <a:txBody>
                    <a:bodyPr/>
                    <a:lstStyle/>
                    <a:p>
                      <a:r>
                        <a:rPr lang="en-IN" dirty="0"/>
                        <a:t>Stores pharmacy licence number</a:t>
                      </a:r>
                    </a:p>
                  </a:txBody>
                  <a:tcP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Gst_number</a:t>
                      </a:r>
                      <a:endParaRPr lang="en-IN" dirty="0"/>
                    </a:p>
                  </a:txBody>
                  <a:tcPr/>
                </a:tc>
                <a:tc>
                  <a:txBody>
                    <a:bodyPr/>
                    <a:lstStyle/>
                    <a:p>
                      <a:r>
                        <a:rPr lang="en-IN" dirty="0"/>
                        <a:t>Varchar</a:t>
                      </a:r>
                    </a:p>
                  </a:txBody>
                  <a:tcPr/>
                </a:tc>
                <a:tc>
                  <a:txBody>
                    <a:bodyPr/>
                    <a:lstStyle/>
                    <a:p>
                      <a:r>
                        <a:rPr lang="en-IN" dirty="0"/>
                        <a:t>50</a:t>
                      </a:r>
                    </a:p>
                  </a:txBody>
                  <a:tcPr/>
                </a:tc>
                <a:tc>
                  <a:txBody>
                    <a:bodyPr/>
                    <a:lstStyle/>
                    <a:p>
                      <a:r>
                        <a:rPr lang="en-IN" dirty="0"/>
                        <a:t>Not null</a:t>
                      </a:r>
                    </a:p>
                  </a:txBody>
                  <a:tcPr/>
                </a:tc>
                <a:tc>
                  <a:txBody>
                    <a:bodyPr/>
                    <a:lstStyle/>
                    <a:p>
                      <a:r>
                        <a:rPr lang="en-IN" dirty="0"/>
                        <a:t>Stores GST number</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Address</a:t>
                      </a:r>
                    </a:p>
                  </a:txBody>
                  <a:tcPr/>
                </a:tc>
                <a:tc>
                  <a:txBody>
                    <a:bodyPr/>
                    <a:lstStyle/>
                    <a:p>
                      <a:r>
                        <a:rPr lang="en-IN" dirty="0"/>
                        <a:t>Varchar</a:t>
                      </a:r>
                    </a:p>
                  </a:txBody>
                  <a:tcPr/>
                </a:tc>
                <a:tc>
                  <a:txBody>
                    <a:bodyPr/>
                    <a:lstStyle/>
                    <a:p>
                      <a:r>
                        <a:rPr lang="en-IN" dirty="0"/>
                        <a:t>100</a:t>
                      </a:r>
                    </a:p>
                  </a:txBody>
                  <a:tcPr/>
                </a:tc>
                <a:tc>
                  <a:txBody>
                    <a:bodyPr/>
                    <a:lstStyle/>
                    <a:p>
                      <a:r>
                        <a:rPr lang="en-IN" dirty="0"/>
                        <a:t>Not null</a:t>
                      </a:r>
                    </a:p>
                  </a:txBody>
                  <a:tcPr/>
                </a:tc>
                <a:tc>
                  <a:txBody>
                    <a:bodyPr/>
                    <a:lstStyle/>
                    <a:p>
                      <a:r>
                        <a:rPr lang="en-IN" dirty="0"/>
                        <a:t>Stores pharmacy address</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a:t>City</a:t>
                      </a:r>
                    </a:p>
                  </a:txBody>
                  <a:tcPr/>
                </a:tc>
                <a:tc>
                  <a:txBody>
                    <a:bodyPr/>
                    <a:lstStyle/>
                    <a:p>
                      <a:r>
                        <a:rPr lang="en-IN" dirty="0"/>
                        <a:t>Varchar</a:t>
                      </a:r>
                    </a:p>
                  </a:txBody>
                  <a:tcPr/>
                </a:tc>
                <a:tc>
                  <a:txBody>
                    <a:bodyPr/>
                    <a:lstStyle/>
                    <a:p>
                      <a:r>
                        <a:rPr lang="en-IN" dirty="0"/>
                        <a:t>50</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city name</a:t>
                      </a:r>
                    </a:p>
                  </a:txBody>
                  <a:tcP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Pincode</a:t>
                      </a:r>
                      <a:endParaRPr lang="en-IN" dirty="0"/>
                    </a:p>
                  </a:txBody>
                  <a:tcPr/>
                </a:tc>
                <a:tc>
                  <a:txBody>
                    <a:bodyPr/>
                    <a:lstStyle/>
                    <a:p>
                      <a:r>
                        <a:rPr lang="en-IN" dirty="0"/>
                        <a:t>Integer</a:t>
                      </a:r>
                    </a:p>
                  </a:txBody>
                  <a:tcPr/>
                </a:tc>
                <a:tc>
                  <a:txBody>
                    <a:bodyPr/>
                    <a:lstStyle/>
                    <a:p>
                      <a:r>
                        <a:rPr lang="en-IN" dirty="0"/>
                        <a:t>7</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postal code</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a:t>Phone </a:t>
                      </a:r>
                    </a:p>
                  </a:txBody>
                  <a:tcPr/>
                </a:tc>
                <a:tc>
                  <a:txBody>
                    <a:bodyPr/>
                    <a:lstStyle/>
                    <a:p>
                      <a:r>
                        <a:rPr lang="en-IN" dirty="0"/>
                        <a:t>integer</a:t>
                      </a:r>
                    </a:p>
                  </a:txBody>
                  <a:tcPr/>
                </a:tc>
                <a:tc>
                  <a:txBody>
                    <a:bodyPr/>
                    <a:lstStyle/>
                    <a:p>
                      <a:r>
                        <a:rPr lang="en-IN" dirty="0"/>
                        <a:t>10</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contact number</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4173436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E99D755-CF5A-7B9F-D513-8D9B9C9F84A3}"/>
              </a:ext>
            </a:extLst>
          </p:cNvPr>
          <p:cNvGraphicFramePr>
            <a:graphicFrameLocks noGrp="1"/>
          </p:cNvGraphicFramePr>
          <p:nvPr>
            <p:extLst>
              <p:ext uri="{D42A27DB-BD31-4B8C-83A1-F6EECF244321}">
                <p14:modId xmlns:p14="http://schemas.microsoft.com/office/powerpoint/2010/main" val="1340118915"/>
              </p:ext>
            </p:extLst>
          </p:nvPr>
        </p:nvGraphicFramePr>
        <p:xfrm>
          <a:off x="1216057" y="1246156"/>
          <a:ext cx="10067826" cy="5424637"/>
        </p:xfrm>
        <a:graphic>
          <a:graphicData uri="http://schemas.openxmlformats.org/drawingml/2006/table">
            <a:tbl>
              <a:tblPr firstRow="1" bandRow="1">
                <a:tableStyleId>{5C22544A-7EE6-4342-B048-85BDC9FD1C3A}</a:tableStyleId>
              </a:tblPr>
              <a:tblGrid>
                <a:gridCol w="904974">
                  <a:extLst>
                    <a:ext uri="{9D8B030D-6E8A-4147-A177-3AD203B41FA5}">
                      <a16:colId xmlns:a16="http://schemas.microsoft.com/office/drawing/2014/main" val="2361305984"/>
                    </a:ext>
                  </a:extLst>
                </a:gridCol>
                <a:gridCol w="1923068">
                  <a:extLst>
                    <a:ext uri="{9D8B030D-6E8A-4147-A177-3AD203B41FA5}">
                      <a16:colId xmlns:a16="http://schemas.microsoft.com/office/drawing/2014/main" val="1768256383"/>
                    </a:ext>
                  </a:extLst>
                </a:gridCol>
                <a:gridCol w="1310326">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586929">
                <a:tc>
                  <a:txBody>
                    <a:bodyPr/>
                    <a:lstStyle/>
                    <a:p>
                      <a:r>
                        <a:rPr lang="en-IN" sz="1700" dirty="0"/>
                        <a:t>SR.NO </a:t>
                      </a:r>
                    </a:p>
                  </a:txBody>
                  <a:tcPr marT="41564" marB="41564"/>
                </a:tc>
                <a:tc>
                  <a:txBody>
                    <a:bodyPr/>
                    <a:lstStyle/>
                    <a:p>
                      <a:r>
                        <a:rPr lang="en-IN" sz="1700" dirty="0"/>
                        <a:t>FILD NAME </a:t>
                      </a:r>
                    </a:p>
                  </a:txBody>
                  <a:tcPr marT="41564" marB="41564"/>
                </a:tc>
                <a:tc>
                  <a:txBody>
                    <a:bodyPr/>
                    <a:lstStyle/>
                    <a:p>
                      <a:r>
                        <a:rPr lang="en-IN" sz="1700" dirty="0"/>
                        <a:t>DATA TYPE </a:t>
                      </a:r>
                    </a:p>
                  </a:txBody>
                  <a:tcPr marT="41564" marB="41564"/>
                </a:tc>
                <a:tc>
                  <a:txBody>
                    <a:bodyPr/>
                    <a:lstStyle/>
                    <a:p>
                      <a:r>
                        <a:rPr lang="en-IN" sz="1700" dirty="0"/>
                        <a:t>SIZE</a:t>
                      </a:r>
                    </a:p>
                  </a:txBody>
                  <a:tcPr marT="41564" marB="41564"/>
                </a:tc>
                <a:tc>
                  <a:txBody>
                    <a:bodyPr/>
                    <a:lstStyle/>
                    <a:p>
                      <a:r>
                        <a:rPr lang="en-IN" sz="1700" dirty="0"/>
                        <a:t>CONSTRAINT</a:t>
                      </a:r>
                    </a:p>
                  </a:txBody>
                  <a:tcPr marT="41564" marB="41564"/>
                </a:tc>
                <a:tc>
                  <a:txBody>
                    <a:bodyPr/>
                    <a:lstStyle/>
                    <a:p>
                      <a:r>
                        <a:rPr lang="en-IN" sz="1700" dirty="0"/>
                        <a:t>DESCRIPTION</a:t>
                      </a:r>
                    </a:p>
                  </a:txBody>
                  <a:tcPr marT="41564" marB="41564"/>
                </a:tc>
                <a:extLst>
                  <a:ext uri="{0D108BD9-81ED-4DB2-BD59-A6C34878D82A}">
                    <a16:rowId xmlns:a16="http://schemas.microsoft.com/office/drawing/2014/main" val="756231417"/>
                  </a:ext>
                </a:extLst>
              </a:tr>
              <a:tr h="586929">
                <a:tc>
                  <a:txBody>
                    <a:bodyPr/>
                    <a:lstStyle/>
                    <a:p>
                      <a:r>
                        <a:rPr lang="en-IN" sz="1700" dirty="0"/>
                        <a:t>10.</a:t>
                      </a:r>
                    </a:p>
                  </a:txBody>
                  <a:tcPr marT="41564" marB="41564"/>
                </a:tc>
                <a:tc>
                  <a:txBody>
                    <a:bodyPr/>
                    <a:lstStyle/>
                    <a:p>
                      <a:r>
                        <a:rPr lang="en-IN" sz="1800" dirty="0"/>
                        <a:t>Email</a:t>
                      </a:r>
                    </a:p>
                  </a:txBody>
                  <a:tcPr marT="41564" marB="41564"/>
                </a:tc>
                <a:tc>
                  <a:txBody>
                    <a:bodyPr/>
                    <a:lstStyle/>
                    <a:p>
                      <a:r>
                        <a:rPr lang="en-IN" sz="1700" dirty="0"/>
                        <a:t>varchar</a:t>
                      </a:r>
                    </a:p>
                  </a:txBody>
                  <a:tcPr marT="41564" marB="41564"/>
                </a:tc>
                <a:tc>
                  <a:txBody>
                    <a:bodyPr/>
                    <a:lstStyle/>
                    <a:p>
                      <a:r>
                        <a:rPr lang="en-IN" sz="1700" dirty="0"/>
                        <a:t>50</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sz="1800" dirty="0"/>
                        <a:t>Stores pharmacy email</a:t>
                      </a:r>
                    </a:p>
                  </a:txBody>
                  <a:tcPr marT="41564" marB="41564"/>
                </a:tc>
                <a:extLst>
                  <a:ext uri="{0D108BD9-81ED-4DB2-BD59-A6C34878D82A}">
                    <a16:rowId xmlns:a16="http://schemas.microsoft.com/office/drawing/2014/main" val="1046504683"/>
                  </a:ext>
                </a:extLst>
              </a:tr>
              <a:tr h="586929">
                <a:tc>
                  <a:txBody>
                    <a:bodyPr/>
                    <a:lstStyle/>
                    <a:p>
                      <a:r>
                        <a:rPr lang="en-IN" sz="1700" dirty="0"/>
                        <a:t>11.</a:t>
                      </a:r>
                    </a:p>
                  </a:txBody>
                  <a:tcPr marT="41564" marB="41564"/>
                </a:tc>
                <a:tc>
                  <a:txBody>
                    <a:bodyPr/>
                    <a:lstStyle/>
                    <a:p>
                      <a:r>
                        <a:rPr lang="en-IN" sz="1700" dirty="0" err="1"/>
                        <a:t>Registration_date</a:t>
                      </a:r>
                      <a:endParaRPr lang="en-IN" sz="1700" dirty="0"/>
                    </a:p>
                  </a:txBody>
                  <a:tcPr marT="41564" marB="41564"/>
                </a:tc>
                <a:tc>
                  <a:txBody>
                    <a:bodyPr/>
                    <a:lstStyle/>
                    <a:p>
                      <a:r>
                        <a:rPr lang="en-IN" sz="1700" dirty="0"/>
                        <a:t>Date</a:t>
                      </a:r>
                    </a:p>
                  </a:txBody>
                  <a:tcPr marT="41564" marB="41564"/>
                </a:tc>
                <a:tc>
                  <a:txBody>
                    <a:bodyPr/>
                    <a:lstStyle/>
                    <a:p>
                      <a:r>
                        <a:rPr lang="en-IN" sz="1700" dirty="0"/>
                        <a:t>-</a:t>
                      </a:r>
                    </a:p>
                  </a:txBody>
                  <a:tcPr marT="41564" marB="41564"/>
                </a:tc>
                <a:tc>
                  <a:txBody>
                    <a:bodyPr/>
                    <a:lstStyle/>
                    <a:p>
                      <a:r>
                        <a:rPr kumimoji="0" lang="en-IN" sz="17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sz="1800" dirty="0"/>
                        <a:t>Stores registration date</a:t>
                      </a:r>
                    </a:p>
                  </a:txBody>
                  <a:tcPr marT="41564" marB="41564"/>
                </a:tc>
                <a:extLst>
                  <a:ext uri="{0D108BD9-81ED-4DB2-BD59-A6C34878D82A}">
                    <a16:rowId xmlns:a16="http://schemas.microsoft.com/office/drawing/2014/main" val="1498848976"/>
                  </a:ext>
                </a:extLst>
              </a:tr>
              <a:tr h="423765">
                <a:tc>
                  <a:txBody>
                    <a:bodyPr/>
                    <a:lstStyle/>
                    <a:p>
                      <a:r>
                        <a:rPr lang="en-IN" sz="1700" dirty="0"/>
                        <a:t>12.</a:t>
                      </a:r>
                    </a:p>
                  </a:txBody>
                  <a:tcPr marT="41564" marB="41564"/>
                </a:tc>
                <a:tc>
                  <a:txBody>
                    <a:bodyPr/>
                    <a:lstStyle/>
                    <a:p>
                      <a:r>
                        <a:rPr lang="en-IN" sz="1700" dirty="0" err="1"/>
                        <a:t>Is_verified</a:t>
                      </a:r>
                      <a:endParaRPr lang="en-IN" sz="1700" dirty="0"/>
                    </a:p>
                  </a:txBody>
                  <a:tcPr marT="41564" marB="41564"/>
                </a:tc>
                <a:tc>
                  <a:txBody>
                    <a:bodyPr/>
                    <a:lstStyle/>
                    <a:p>
                      <a:r>
                        <a:rPr lang="en-IN" sz="1700" dirty="0"/>
                        <a:t>Boolean</a:t>
                      </a:r>
                    </a:p>
                  </a:txBody>
                  <a:tcPr marT="41564" marB="41564"/>
                </a:tc>
                <a:tc>
                  <a:txBody>
                    <a:bodyPr/>
                    <a:lstStyle/>
                    <a:p>
                      <a:r>
                        <a:rPr lang="en-IN" sz="1700" dirty="0"/>
                        <a:t>1</a:t>
                      </a:r>
                    </a:p>
                  </a:txBody>
                  <a:tcPr marT="41564" marB="41564"/>
                </a:tc>
                <a:tc>
                  <a:txBody>
                    <a:bodyPr/>
                    <a:lstStyle/>
                    <a:p>
                      <a:r>
                        <a:rPr lang="en-IN" sz="1800" dirty="0"/>
                        <a:t>Not null</a:t>
                      </a:r>
                      <a:endParaRPr lang="en-IN" sz="1700" dirty="0"/>
                    </a:p>
                  </a:txBody>
                  <a:tcPr marT="41564" marB="41564"/>
                </a:tc>
                <a:tc>
                  <a:txBody>
                    <a:bodyPr/>
                    <a:lstStyle/>
                    <a:p>
                      <a:r>
                        <a:rPr lang="en-IN" sz="1800" dirty="0"/>
                        <a:t>Indicates verification status</a:t>
                      </a:r>
                    </a:p>
                  </a:txBody>
                  <a:tcPr marT="41564" marB="41564"/>
                </a:tc>
                <a:extLst>
                  <a:ext uri="{0D108BD9-81ED-4DB2-BD59-A6C34878D82A}">
                    <a16:rowId xmlns:a16="http://schemas.microsoft.com/office/drawing/2014/main" val="584237038"/>
                  </a:ext>
                </a:extLst>
              </a:tr>
              <a:tr h="586929">
                <a:tc>
                  <a:txBody>
                    <a:bodyPr/>
                    <a:lstStyle/>
                    <a:p>
                      <a:r>
                        <a:rPr lang="en-IN" sz="1700" dirty="0"/>
                        <a:t>13.</a:t>
                      </a:r>
                    </a:p>
                  </a:txBody>
                  <a:tcPr marT="41564" marB="41564"/>
                </a:tc>
                <a:tc>
                  <a:txBody>
                    <a:bodyPr/>
                    <a:lstStyle/>
                    <a:p>
                      <a:r>
                        <a:rPr lang="en-IN" sz="1700" dirty="0" err="1"/>
                        <a:t>Gst_certificate</a:t>
                      </a:r>
                      <a:endParaRPr lang="en-IN" sz="1700" dirty="0"/>
                    </a:p>
                  </a:txBody>
                  <a:tcPr marT="41564" marB="41564"/>
                </a:tc>
                <a:tc>
                  <a:txBody>
                    <a:bodyPr/>
                    <a:lstStyle/>
                    <a:p>
                      <a:r>
                        <a:rPr lang="en-IN" sz="1700" dirty="0"/>
                        <a:t>File</a:t>
                      </a:r>
                    </a:p>
                  </a:txBody>
                  <a:tcPr marT="41564" marB="41564"/>
                </a:tc>
                <a:tc>
                  <a:txBody>
                    <a:bodyPr/>
                    <a:lstStyle/>
                    <a:p>
                      <a:r>
                        <a:rPr lang="en-IN" sz="1700" dirty="0"/>
                        <a:t>-</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sz="1800" dirty="0"/>
                        <a:t>Stores GST certificate file</a:t>
                      </a:r>
                    </a:p>
                  </a:txBody>
                  <a:tcPr marT="41564" marB="41564"/>
                </a:tc>
                <a:extLst>
                  <a:ext uri="{0D108BD9-81ED-4DB2-BD59-A6C34878D82A}">
                    <a16:rowId xmlns:a16="http://schemas.microsoft.com/office/drawing/2014/main" val="2466471007"/>
                  </a:ext>
                </a:extLst>
              </a:tr>
              <a:tr h="423765">
                <a:tc>
                  <a:txBody>
                    <a:bodyPr/>
                    <a:lstStyle/>
                    <a:p>
                      <a:r>
                        <a:rPr lang="en-IN" sz="1700" dirty="0"/>
                        <a:t>14.</a:t>
                      </a:r>
                    </a:p>
                  </a:txBody>
                  <a:tcPr marT="41564" marB="41564"/>
                </a:tc>
                <a:tc>
                  <a:txBody>
                    <a:bodyPr/>
                    <a:lstStyle/>
                    <a:p>
                      <a:r>
                        <a:rPr lang="en-IN" sz="1700" dirty="0" err="1"/>
                        <a:t>Licence_document</a:t>
                      </a:r>
                      <a:endParaRPr lang="en-IN" sz="1700" dirty="0"/>
                    </a:p>
                  </a:txBody>
                  <a:tcPr marT="41564" marB="41564"/>
                </a:tc>
                <a:tc>
                  <a:txBody>
                    <a:bodyPr/>
                    <a:lstStyle/>
                    <a:p>
                      <a:r>
                        <a:rPr lang="en-IN" sz="1700" dirty="0"/>
                        <a:t>File</a:t>
                      </a:r>
                    </a:p>
                  </a:txBody>
                  <a:tcPr marT="41564" marB="41564"/>
                </a:tc>
                <a:tc>
                  <a:txBody>
                    <a:bodyPr/>
                    <a:lstStyle/>
                    <a:p>
                      <a:r>
                        <a:rPr lang="en-IN" sz="1700" dirty="0"/>
                        <a:t>-</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sz="1800" dirty="0"/>
                        <a:t>Stores licence document</a:t>
                      </a:r>
                    </a:p>
                  </a:txBody>
                  <a:tcPr marT="41564" marB="41564"/>
                </a:tc>
                <a:extLst>
                  <a:ext uri="{0D108BD9-81ED-4DB2-BD59-A6C34878D82A}">
                    <a16:rowId xmlns:a16="http://schemas.microsoft.com/office/drawing/2014/main" val="2510266949"/>
                  </a:ext>
                </a:extLst>
              </a:tr>
              <a:tr h="586929">
                <a:tc>
                  <a:txBody>
                    <a:bodyPr/>
                    <a:lstStyle/>
                    <a:p>
                      <a:r>
                        <a:rPr lang="en-IN" sz="1700" dirty="0"/>
                        <a:t>15.</a:t>
                      </a:r>
                    </a:p>
                  </a:txBody>
                  <a:tcPr marT="41564" marB="41564"/>
                </a:tc>
                <a:tc>
                  <a:txBody>
                    <a:bodyPr/>
                    <a:lstStyle/>
                    <a:p>
                      <a:r>
                        <a:rPr lang="en-IN" sz="1700" dirty="0" err="1"/>
                        <a:t>Owner_id_proof</a:t>
                      </a:r>
                      <a:r>
                        <a:rPr lang="en-IN" sz="1700" dirty="0"/>
                        <a:t> </a:t>
                      </a:r>
                    </a:p>
                  </a:txBody>
                  <a:tcPr marT="41564" marB="41564"/>
                </a:tc>
                <a:tc>
                  <a:txBody>
                    <a:bodyPr/>
                    <a:lstStyle/>
                    <a:p>
                      <a:r>
                        <a:rPr lang="en-IN" sz="1700" dirty="0"/>
                        <a:t>File</a:t>
                      </a:r>
                    </a:p>
                  </a:txBody>
                  <a:tcPr marT="41564" marB="41564"/>
                </a:tc>
                <a:tc>
                  <a:txBody>
                    <a:bodyPr/>
                    <a:lstStyle/>
                    <a:p>
                      <a:r>
                        <a:rPr lang="en-IN" sz="1700" dirty="0"/>
                        <a:t>-</a:t>
                      </a:r>
                    </a:p>
                  </a:txBody>
                  <a:tcPr marT="41564" marB="41564"/>
                </a:tc>
                <a:tc>
                  <a:txBody>
                    <a:bodyPr/>
                    <a:lstStyle/>
                    <a:p>
                      <a:r>
                        <a:rPr kumimoji="0" lang="en-IN" sz="17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sz="1800" dirty="0"/>
                        <a:t>Stores owner ID proof</a:t>
                      </a:r>
                    </a:p>
                  </a:txBody>
                  <a:tcPr marT="41564" marB="41564"/>
                </a:tc>
                <a:extLst>
                  <a:ext uri="{0D108BD9-81ED-4DB2-BD59-A6C34878D82A}">
                    <a16:rowId xmlns:a16="http://schemas.microsoft.com/office/drawing/2014/main" val="1484841137"/>
                  </a:ext>
                </a:extLst>
              </a:tr>
              <a:tr h="423765">
                <a:tc>
                  <a:txBody>
                    <a:bodyPr/>
                    <a:lstStyle/>
                    <a:p>
                      <a:r>
                        <a:rPr lang="en-IN" sz="1700" dirty="0"/>
                        <a:t>16.</a:t>
                      </a:r>
                    </a:p>
                  </a:txBody>
                  <a:tcPr marT="41564" marB="41564"/>
                </a:tc>
                <a:tc>
                  <a:txBody>
                    <a:bodyPr/>
                    <a:lstStyle/>
                    <a:p>
                      <a:r>
                        <a:rPr lang="en-IN" sz="1700" dirty="0" err="1"/>
                        <a:t>Owner_photo</a:t>
                      </a:r>
                      <a:endParaRPr lang="en-IN" sz="1700" dirty="0"/>
                    </a:p>
                  </a:txBody>
                  <a:tcPr marT="41564" marB="41564"/>
                </a:tc>
                <a:tc>
                  <a:txBody>
                    <a:bodyPr/>
                    <a:lstStyle/>
                    <a:p>
                      <a:r>
                        <a:rPr lang="en-IN" sz="1700" dirty="0"/>
                        <a:t>File</a:t>
                      </a:r>
                    </a:p>
                  </a:txBody>
                  <a:tcPr marT="41564" marB="41564"/>
                </a:tc>
                <a:tc>
                  <a:txBody>
                    <a:bodyPr/>
                    <a:lstStyle/>
                    <a:p>
                      <a:r>
                        <a:rPr lang="en-IN" sz="1700" dirty="0"/>
                        <a:t>-</a:t>
                      </a:r>
                    </a:p>
                  </a:txBody>
                  <a:tcPr marT="41564" marB="41564"/>
                </a:tc>
                <a:tc>
                  <a:txBody>
                    <a:bodyPr/>
                    <a:lstStyle/>
                    <a:p>
                      <a:r>
                        <a:rPr lang="en-IN" sz="1700" dirty="0"/>
                        <a:t>Not null</a:t>
                      </a:r>
                    </a:p>
                  </a:txBody>
                  <a:tcPr marT="41564" marB="41564"/>
                </a:tc>
                <a:tc>
                  <a:txBody>
                    <a:bodyPr/>
                    <a:lstStyle/>
                    <a:p>
                      <a:r>
                        <a:rPr lang="en-IN" sz="1800" dirty="0"/>
                        <a:t>Stores owner photo</a:t>
                      </a:r>
                    </a:p>
                  </a:txBody>
                  <a:tcPr marT="41564" marB="41564"/>
                </a:tc>
                <a:extLst>
                  <a:ext uri="{0D108BD9-81ED-4DB2-BD59-A6C34878D82A}">
                    <a16:rowId xmlns:a16="http://schemas.microsoft.com/office/drawing/2014/main" val="253505178"/>
                  </a:ext>
                </a:extLst>
              </a:tr>
              <a:tr h="423765">
                <a:tc>
                  <a:txBody>
                    <a:bodyPr/>
                    <a:lstStyle/>
                    <a:p>
                      <a:r>
                        <a:rPr lang="en-IN" sz="1700" dirty="0"/>
                        <a:t>17.</a:t>
                      </a:r>
                    </a:p>
                  </a:txBody>
                  <a:tcPr marT="41564" marB="41564"/>
                </a:tc>
                <a:tc>
                  <a:txBody>
                    <a:bodyPr/>
                    <a:lstStyle/>
                    <a:p>
                      <a:r>
                        <a:rPr lang="en-IN" sz="1700" dirty="0" err="1"/>
                        <a:t>Create_at</a:t>
                      </a:r>
                      <a:endParaRPr lang="en-IN" sz="17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lang="en-IN" sz="1800" dirty="0"/>
                        <a:t>Not null</a:t>
                      </a:r>
                      <a:endParaRPr lang="en-IN" sz="1700" dirty="0"/>
                    </a:p>
                  </a:txBody>
                  <a:tcPr marT="41564" marB="41564"/>
                </a:tc>
                <a:tc>
                  <a:txBody>
                    <a:bodyPr/>
                    <a:lstStyle/>
                    <a:p>
                      <a:r>
                        <a:rPr lang="en-US" sz="1800" dirty="0"/>
                        <a:t>Stores creation date and time</a:t>
                      </a:r>
                      <a:endParaRPr lang="en-IN" sz="1800" dirty="0"/>
                    </a:p>
                  </a:txBody>
                  <a:tcPr marT="41564" marB="41564"/>
                </a:tc>
                <a:extLst>
                  <a:ext uri="{0D108BD9-81ED-4DB2-BD59-A6C34878D82A}">
                    <a16:rowId xmlns:a16="http://schemas.microsoft.com/office/drawing/2014/main" val="3572593437"/>
                  </a:ext>
                </a:extLst>
              </a:tr>
              <a:tr h="586929">
                <a:tc>
                  <a:txBody>
                    <a:bodyPr/>
                    <a:lstStyle/>
                    <a:p>
                      <a:r>
                        <a:rPr lang="en-IN" sz="1700" dirty="0"/>
                        <a:t>18.</a:t>
                      </a:r>
                    </a:p>
                  </a:txBody>
                  <a:tcPr marT="41564" marB="41564"/>
                </a:tc>
                <a:tc>
                  <a:txBody>
                    <a:bodyPr/>
                    <a:lstStyle/>
                    <a:p>
                      <a:r>
                        <a:rPr lang="en-IN" sz="1700" dirty="0" err="1"/>
                        <a:t>Update_at</a:t>
                      </a:r>
                      <a:endParaRPr lang="en-IN" sz="17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lang="en-IN" sz="1800" dirty="0"/>
                        <a:t>Not null</a:t>
                      </a:r>
                      <a:endParaRPr lang="en-IN" sz="1700" dirty="0"/>
                    </a:p>
                  </a:txBody>
                  <a:tcPr marT="41564" marB="41564"/>
                </a:tc>
                <a:tc>
                  <a:txBody>
                    <a:bodyPr/>
                    <a:lstStyle/>
                    <a:p>
                      <a:r>
                        <a:rPr lang="en-IN" sz="1800" dirty="0"/>
                        <a:t>Stores last modified time</a:t>
                      </a:r>
                    </a:p>
                  </a:txBody>
                  <a:tcPr marT="41564" marB="41564"/>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3321240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7289-7204-417F-D964-69DD6FADC19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6C8F655-9079-4AC5-85B8-0D1313E2341F}"/>
              </a:ext>
            </a:extLst>
          </p:cNvPr>
          <p:cNvSpPr txBox="1">
            <a:spLocks/>
          </p:cNvSpPr>
          <p:nvPr/>
        </p:nvSpPr>
        <p:spPr>
          <a:xfrm>
            <a:off x="982742" y="75427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5327F69F-867C-1FBC-0585-E7B989073EA6}"/>
              </a:ext>
            </a:extLst>
          </p:cNvPr>
          <p:cNvSpPr>
            <a:spLocks noGrp="1"/>
          </p:cNvSpPr>
          <p:nvPr>
            <p:ph idx="1"/>
          </p:nvPr>
        </p:nvSpPr>
        <p:spPr>
          <a:xfrm>
            <a:off x="1206630" y="1752389"/>
            <a:ext cx="10515600" cy="4351338"/>
          </a:xfrm>
        </p:spPr>
        <p:txBody>
          <a:bodyPr/>
          <a:lstStyle/>
          <a:p>
            <a:r>
              <a:rPr lang="en-IN" sz="2400" dirty="0"/>
              <a:t> </a:t>
            </a:r>
            <a:r>
              <a:rPr lang="en-IN" sz="2400" b="1" dirty="0" err="1"/>
              <a:t>Medicine_category</a:t>
            </a:r>
            <a:r>
              <a:rPr lang="en-IN" sz="2400" b="1" dirty="0"/>
              <a:t> Table</a:t>
            </a:r>
          </a:p>
        </p:txBody>
      </p:sp>
      <p:graphicFrame>
        <p:nvGraphicFramePr>
          <p:cNvPr id="2" name="Table 1">
            <a:extLst>
              <a:ext uri="{FF2B5EF4-FFF2-40B4-BE49-F238E27FC236}">
                <a16:creationId xmlns:a16="http://schemas.microsoft.com/office/drawing/2014/main" id="{EED0E140-E741-C2E7-1B9F-9B700D1255D7}"/>
              </a:ext>
            </a:extLst>
          </p:cNvPr>
          <p:cNvGraphicFramePr>
            <a:graphicFrameLocks noGrp="1"/>
          </p:cNvGraphicFramePr>
          <p:nvPr>
            <p:extLst>
              <p:ext uri="{D42A27DB-BD31-4B8C-83A1-F6EECF244321}">
                <p14:modId xmlns:p14="http://schemas.microsoft.com/office/powerpoint/2010/main" val="650400384"/>
              </p:ext>
            </p:extLst>
          </p:nvPr>
        </p:nvGraphicFramePr>
        <p:xfrm>
          <a:off x="1206630" y="2502961"/>
          <a:ext cx="10067825" cy="2504644"/>
        </p:xfrm>
        <a:graphic>
          <a:graphicData uri="http://schemas.openxmlformats.org/drawingml/2006/table">
            <a:tbl>
              <a:tblPr firstRow="1" bandRow="1">
                <a:tableStyleId>{5C22544A-7EE6-4342-B048-85BDC9FD1C3A}</a:tableStyleId>
              </a:tblPr>
              <a:tblGrid>
                <a:gridCol w="791852">
                  <a:extLst>
                    <a:ext uri="{9D8B030D-6E8A-4147-A177-3AD203B41FA5}">
                      <a16:colId xmlns:a16="http://schemas.microsoft.com/office/drawing/2014/main" val="2361305984"/>
                    </a:ext>
                  </a:extLst>
                </a:gridCol>
                <a:gridCol w="2347275">
                  <a:extLst>
                    <a:ext uri="{9D8B030D-6E8A-4147-A177-3AD203B41FA5}">
                      <a16:colId xmlns:a16="http://schemas.microsoft.com/office/drawing/2014/main" val="1768256383"/>
                    </a:ext>
                  </a:extLst>
                </a:gridCol>
                <a:gridCol w="1414020">
                  <a:extLst>
                    <a:ext uri="{9D8B030D-6E8A-4147-A177-3AD203B41FA5}">
                      <a16:colId xmlns:a16="http://schemas.microsoft.com/office/drawing/2014/main" val="2202159465"/>
                    </a:ext>
                  </a:extLst>
                </a:gridCol>
                <a:gridCol w="801279">
                  <a:extLst>
                    <a:ext uri="{9D8B030D-6E8A-4147-A177-3AD203B41FA5}">
                      <a16:colId xmlns:a16="http://schemas.microsoft.com/office/drawing/2014/main" val="3036415337"/>
                    </a:ext>
                  </a:extLst>
                </a:gridCol>
                <a:gridCol w="1989055">
                  <a:extLst>
                    <a:ext uri="{9D8B030D-6E8A-4147-A177-3AD203B41FA5}">
                      <a16:colId xmlns:a16="http://schemas.microsoft.com/office/drawing/2014/main" val="724710868"/>
                    </a:ext>
                  </a:extLst>
                </a:gridCol>
                <a:gridCol w="2724344">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Medicine_category_Id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category</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a:t>Name </a:t>
                      </a:r>
                    </a:p>
                  </a:txBody>
                  <a:tcPr/>
                </a:tc>
                <a:tc>
                  <a:txBody>
                    <a:bodyPr/>
                    <a:lstStyle/>
                    <a:p>
                      <a:r>
                        <a:rPr lang="en-IN" dirty="0"/>
                        <a:t>Varchar</a:t>
                      </a:r>
                    </a:p>
                  </a:txBody>
                  <a:tcPr/>
                </a:tc>
                <a:tc>
                  <a:txBody>
                    <a:bodyPr/>
                    <a:lstStyle/>
                    <a:p>
                      <a:r>
                        <a:rPr lang="en-IN" dirty="0"/>
                        <a:t>50</a:t>
                      </a:r>
                    </a:p>
                  </a:txBody>
                  <a:tcPr/>
                </a:tc>
                <a:tc>
                  <a:txBody>
                    <a:bodyPr/>
                    <a:lstStyle/>
                    <a:p>
                      <a:r>
                        <a:rPr lang="en-IN" dirty="0"/>
                        <a:t>Not null</a:t>
                      </a:r>
                    </a:p>
                  </a:txBody>
                  <a:tcPr/>
                </a:tc>
                <a:tc>
                  <a:txBody>
                    <a:bodyPr/>
                    <a:lstStyle/>
                    <a:p>
                      <a:r>
                        <a:rPr lang="en-IN" dirty="0"/>
                        <a:t>Stores category name</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a:t>Description</a:t>
                      </a:r>
                    </a:p>
                  </a:txBody>
                  <a:tcPr/>
                </a:tc>
                <a:tc>
                  <a:txBody>
                    <a:bodyPr/>
                    <a:lstStyle/>
                    <a:p>
                      <a:r>
                        <a:rPr lang="en-IN" dirty="0"/>
                        <a:t>Text</a:t>
                      </a:r>
                    </a:p>
                  </a:txBody>
                  <a:tcPr/>
                </a:tc>
                <a:tc>
                  <a:txBody>
                    <a:bodyPr/>
                    <a:lstStyle/>
                    <a:p>
                      <a:r>
                        <a:rPr lang="en-IN" dirty="0"/>
                        <a:t>-</a:t>
                      </a:r>
                    </a:p>
                  </a:txBody>
                  <a:tcPr/>
                </a:tc>
                <a:tc>
                  <a:txBody>
                    <a:bodyPr/>
                    <a:lstStyle/>
                    <a:p>
                      <a:r>
                        <a:rPr lang="en-IN" dirty="0"/>
                        <a:t>Null allow</a:t>
                      </a:r>
                    </a:p>
                  </a:txBody>
                  <a:tcPr/>
                </a:tc>
                <a:tc>
                  <a:txBody>
                    <a:bodyPr/>
                    <a:lstStyle/>
                    <a:p>
                      <a:r>
                        <a:rPr lang="en-IN" dirty="0"/>
                        <a:t>Stores category description</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Create_at</a:t>
                      </a:r>
                      <a:endParaRPr lang="en-IN" dirty="0"/>
                    </a:p>
                  </a:txBody>
                  <a:tcPr/>
                </a:tc>
                <a:tc>
                  <a:txBody>
                    <a:bodyPr/>
                    <a:lstStyle/>
                    <a:p>
                      <a:r>
                        <a:rPr lang="en-IN" dirty="0"/>
                        <a:t>Datetime</a:t>
                      </a:r>
                    </a:p>
                  </a:txBody>
                  <a:tcPr/>
                </a:tc>
                <a:tc>
                  <a:txBody>
                    <a:bodyPr/>
                    <a:lstStyle/>
                    <a:p>
                      <a:r>
                        <a:rPr lang="en-IN" dirty="0"/>
                        <a:t>-</a:t>
                      </a:r>
                    </a:p>
                  </a:txBody>
                  <a:tcPr/>
                </a:tc>
                <a:tc>
                  <a:txBody>
                    <a:bodyPr/>
                    <a:lstStyle/>
                    <a:p>
                      <a:r>
                        <a:rPr lang="en-IN" sz="1800" dirty="0"/>
                        <a:t>Not null</a:t>
                      </a:r>
                      <a:endParaRPr lang="en-IN" dirty="0"/>
                    </a:p>
                  </a:txBody>
                  <a:tcPr/>
                </a:tc>
                <a:tc>
                  <a:txBody>
                    <a:bodyPr/>
                    <a:lstStyle/>
                    <a:p>
                      <a:r>
                        <a:rPr lang="en-IN" dirty="0"/>
                        <a:t>Stores creation time</a:t>
                      </a:r>
                    </a:p>
                  </a:txBody>
                  <a:tcPr/>
                </a:tc>
                <a:extLst>
                  <a:ext uri="{0D108BD9-81ED-4DB2-BD59-A6C34878D82A}">
                    <a16:rowId xmlns:a16="http://schemas.microsoft.com/office/drawing/2014/main" val="2466471007"/>
                  </a:ext>
                </a:extLst>
              </a:tr>
            </a:tbl>
          </a:graphicData>
        </a:graphic>
      </p:graphicFrame>
    </p:spTree>
    <p:extLst>
      <p:ext uri="{BB962C8B-B14F-4D97-AF65-F5344CB8AC3E}">
        <p14:creationId xmlns:p14="http://schemas.microsoft.com/office/powerpoint/2010/main" val="1102706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713BD-C44F-7B36-3FD5-DF103E539E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DF872F4-C45C-320A-BF01-7F29482999BF}"/>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20A7116D-57E7-22F7-BDFB-48B397319F69}"/>
              </a:ext>
            </a:extLst>
          </p:cNvPr>
          <p:cNvSpPr>
            <a:spLocks noGrp="1"/>
          </p:cNvSpPr>
          <p:nvPr>
            <p:ph idx="1"/>
          </p:nvPr>
        </p:nvSpPr>
        <p:spPr>
          <a:xfrm>
            <a:off x="1206630" y="1253331"/>
            <a:ext cx="10515600" cy="4351338"/>
          </a:xfrm>
        </p:spPr>
        <p:txBody>
          <a:bodyPr/>
          <a:lstStyle/>
          <a:p>
            <a:r>
              <a:rPr lang="en-IN" sz="2400" b="1" dirty="0"/>
              <a:t>Medicine Table</a:t>
            </a:r>
          </a:p>
        </p:txBody>
      </p:sp>
      <p:graphicFrame>
        <p:nvGraphicFramePr>
          <p:cNvPr id="2" name="Table 1">
            <a:extLst>
              <a:ext uri="{FF2B5EF4-FFF2-40B4-BE49-F238E27FC236}">
                <a16:creationId xmlns:a16="http://schemas.microsoft.com/office/drawing/2014/main" id="{EDE6E795-9354-4B87-8064-589C1D9CC769}"/>
              </a:ext>
            </a:extLst>
          </p:cNvPr>
          <p:cNvGraphicFramePr>
            <a:graphicFrameLocks noGrp="1"/>
          </p:cNvGraphicFramePr>
          <p:nvPr>
            <p:extLst>
              <p:ext uri="{D42A27DB-BD31-4B8C-83A1-F6EECF244321}">
                <p14:modId xmlns:p14="http://schemas.microsoft.com/office/powerpoint/2010/main" val="4093090484"/>
              </p:ext>
            </p:extLst>
          </p:nvPr>
        </p:nvGraphicFramePr>
        <p:xfrm>
          <a:off x="1216057" y="1758244"/>
          <a:ext cx="10218656" cy="5009288"/>
        </p:xfrm>
        <a:graphic>
          <a:graphicData uri="http://schemas.openxmlformats.org/drawingml/2006/table">
            <a:tbl>
              <a:tblPr firstRow="1" bandRow="1">
                <a:tableStyleId>{5C22544A-7EE6-4342-B048-85BDC9FD1C3A}</a:tableStyleId>
              </a:tblPr>
              <a:tblGrid>
                <a:gridCol w="918532">
                  <a:extLst>
                    <a:ext uri="{9D8B030D-6E8A-4147-A177-3AD203B41FA5}">
                      <a16:colId xmlns:a16="http://schemas.microsoft.com/office/drawing/2014/main" val="2361305984"/>
                    </a:ext>
                  </a:extLst>
                </a:gridCol>
                <a:gridCol w="1770086">
                  <a:extLst>
                    <a:ext uri="{9D8B030D-6E8A-4147-A177-3AD203B41FA5}">
                      <a16:colId xmlns:a16="http://schemas.microsoft.com/office/drawing/2014/main" val="1768256383"/>
                    </a:ext>
                  </a:extLst>
                </a:gridCol>
                <a:gridCol w="1511749">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Medicine_id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medicine</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a:t>Name</a:t>
                      </a:r>
                    </a:p>
                  </a:txBody>
                  <a:tcPr/>
                </a:tc>
                <a:tc>
                  <a:txBody>
                    <a:bodyPr/>
                    <a:lstStyle/>
                    <a:p>
                      <a:r>
                        <a:rPr lang="en-IN" dirty="0"/>
                        <a:t>Varchar</a:t>
                      </a:r>
                    </a:p>
                  </a:txBody>
                  <a:tcPr/>
                </a:tc>
                <a:tc>
                  <a:txBody>
                    <a:bodyPr/>
                    <a:lstStyle/>
                    <a:p>
                      <a:r>
                        <a:rPr lang="en-IN" dirty="0"/>
                        <a:t>40</a:t>
                      </a:r>
                    </a:p>
                  </a:txBody>
                  <a:tcPr/>
                </a:tc>
                <a:tc>
                  <a:txBody>
                    <a:bodyPr/>
                    <a:lstStyle/>
                    <a:p>
                      <a:r>
                        <a:rPr lang="en-IN" dirty="0"/>
                        <a:t>Not null</a:t>
                      </a:r>
                    </a:p>
                  </a:txBody>
                  <a:tcPr/>
                </a:tc>
                <a:tc>
                  <a:txBody>
                    <a:bodyPr/>
                    <a:lstStyle/>
                    <a:p>
                      <a:r>
                        <a:rPr lang="en-IN" dirty="0"/>
                        <a:t>Stores medicine name</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Medicine_code</a:t>
                      </a:r>
                      <a:endParaRPr lang="en-IN" dirty="0"/>
                    </a:p>
                  </a:txBody>
                  <a:tcPr/>
                </a:tc>
                <a:tc>
                  <a:txBody>
                    <a:bodyPr/>
                    <a:lstStyle/>
                    <a:p>
                      <a:r>
                        <a:rPr lang="en-IN" dirty="0"/>
                        <a:t>Varchar</a:t>
                      </a:r>
                    </a:p>
                  </a:txBody>
                  <a:tcPr/>
                </a:tc>
                <a:tc>
                  <a:txBody>
                    <a:bodyPr/>
                    <a:lstStyle/>
                    <a:p>
                      <a:r>
                        <a:rPr lang="en-IN" dirty="0"/>
                        <a:t>50</a:t>
                      </a:r>
                    </a:p>
                  </a:txBody>
                  <a:tcPr/>
                </a:tc>
                <a:tc>
                  <a:txBody>
                    <a:bodyPr/>
                    <a:lstStyle/>
                    <a:p>
                      <a:r>
                        <a:rPr lang="en-IN" dirty="0"/>
                        <a:t>Not null</a:t>
                      </a:r>
                    </a:p>
                  </a:txBody>
                  <a:tcPr/>
                </a:tc>
                <a:tc>
                  <a:txBody>
                    <a:bodyPr/>
                    <a:lstStyle/>
                    <a:p>
                      <a:r>
                        <a:rPr lang="en-IN" dirty="0"/>
                        <a:t>Stores medicine code</a:t>
                      </a:r>
                    </a:p>
                  </a:txBody>
                  <a:tcP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Category_id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Medicine Category</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Manufacture</a:t>
                      </a:r>
                    </a:p>
                  </a:txBody>
                  <a:tcPr/>
                </a:tc>
                <a:tc>
                  <a:txBody>
                    <a:bodyPr/>
                    <a:lstStyle/>
                    <a:p>
                      <a:r>
                        <a:rPr lang="en-IN" dirty="0"/>
                        <a:t>Varchar</a:t>
                      </a:r>
                    </a:p>
                  </a:txBody>
                  <a:tcPr/>
                </a:tc>
                <a:tc>
                  <a:txBody>
                    <a:bodyPr/>
                    <a:lstStyle/>
                    <a:p>
                      <a:r>
                        <a:rPr lang="en-IN" dirty="0"/>
                        <a:t>50</a:t>
                      </a:r>
                    </a:p>
                  </a:txBody>
                  <a:tcPr/>
                </a:tc>
                <a:tc>
                  <a:txBody>
                    <a:bodyPr/>
                    <a:lstStyle/>
                    <a:p>
                      <a:r>
                        <a:rPr lang="en-IN" sz="1800" dirty="0"/>
                        <a:t>Not null</a:t>
                      </a:r>
                      <a:endParaRPr lang="en-IN" dirty="0"/>
                    </a:p>
                  </a:txBody>
                  <a:tcPr/>
                </a:tc>
                <a:tc>
                  <a:txBody>
                    <a:bodyPr/>
                    <a:lstStyle/>
                    <a:p>
                      <a:r>
                        <a:rPr lang="en-IN" dirty="0"/>
                        <a:t>Stores manufacturer name</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err="1"/>
                        <a:t>Batch_number</a:t>
                      </a:r>
                      <a:endParaRPr lang="en-IN" dirty="0"/>
                    </a:p>
                  </a:txBody>
                  <a:tcPr/>
                </a:tc>
                <a:tc>
                  <a:txBody>
                    <a:bodyPr/>
                    <a:lstStyle/>
                    <a:p>
                      <a:r>
                        <a:rPr lang="en-IN" dirty="0"/>
                        <a:t>Varchar</a:t>
                      </a:r>
                    </a:p>
                  </a:txBody>
                  <a:tcPr/>
                </a:tc>
                <a:tc>
                  <a:txBody>
                    <a:bodyPr/>
                    <a:lstStyle/>
                    <a:p>
                      <a:r>
                        <a:rPr lang="en-IN" dirty="0"/>
                        <a:t>50</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batch number</a:t>
                      </a:r>
                    </a:p>
                  </a:txBody>
                  <a:tcP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a:t>Quantity</a:t>
                      </a:r>
                    </a:p>
                  </a:txBody>
                  <a:tcPr/>
                </a:tc>
                <a:tc>
                  <a:txBody>
                    <a:bodyPr/>
                    <a:lstStyle/>
                    <a:p>
                      <a:r>
                        <a:rPr lang="en-IN" dirty="0"/>
                        <a:t>Integer</a:t>
                      </a:r>
                    </a:p>
                  </a:txBody>
                  <a:tcPr/>
                </a:tc>
                <a:tc>
                  <a:txBody>
                    <a:bodyPr/>
                    <a:lstStyle/>
                    <a:p>
                      <a:r>
                        <a:rPr lang="en-IN" dirty="0"/>
                        <a:t>4</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stock quantity</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err="1"/>
                        <a:t>Min_quantity</a:t>
                      </a:r>
                      <a:endParaRPr lang="en-IN" dirty="0"/>
                    </a:p>
                  </a:txBody>
                  <a:tcPr/>
                </a:tc>
                <a:tc>
                  <a:txBody>
                    <a:bodyPr/>
                    <a:lstStyle/>
                    <a:p>
                      <a:r>
                        <a:rPr lang="en-IN" dirty="0"/>
                        <a:t>integer</a:t>
                      </a:r>
                    </a:p>
                  </a:txBody>
                  <a:tcPr/>
                </a:tc>
                <a:tc>
                  <a:txBody>
                    <a:bodyPr/>
                    <a:lstStyle/>
                    <a:p>
                      <a:r>
                        <a:rPr lang="en-IN" dirty="0"/>
                        <a:t>4</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minimum stock level</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115547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4D454-5684-3978-2189-5DE2290DA4D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77421FB-21A0-9DA4-150E-6AD5C954DAAF}"/>
              </a:ext>
            </a:extLst>
          </p:cNvPr>
          <p:cNvGraphicFramePr>
            <a:graphicFrameLocks noGrp="1"/>
          </p:cNvGraphicFramePr>
          <p:nvPr>
            <p:extLst>
              <p:ext uri="{D42A27DB-BD31-4B8C-83A1-F6EECF244321}">
                <p14:modId xmlns:p14="http://schemas.microsoft.com/office/powerpoint/2010/main" val="1033188228"/>
              </p:ext>
            </p:extLst>
          </p:nvPr>
        </p:nvGraphicFramePr>
        <p:xfrm>
          <a:off x="1206630" y="1085900"/>
          <a:ext cx="10067826" cy="5261473"/>
        </p:xfrm>
        <a:graphic>
          <a:graphicData uri="http://schemas.openxmlformats.org/drawingml/2006/table">
            <a:tbl>
              <a:tblPr firstRow="1" bandRow="1">
                <a:tableStyleId>{5C22544A-7EE6-4342-B048-85BDC9FD1C3A}</a:tableStyleId>
              </a:tblPr>
              <a:tblGrid>
                <a:gridCol w="791852">
                  <a:extLst>
                    <a:ext uri="{9D8B030D-6E8A-4147-A177-3AD203B41FA5}">
                      <a16:colId xmlns:a16="http://schemas.microsoft.com/office/drawing/2014/main" val="2361305984"/>
                    </a:ext>
                  </a:extLst>
                </a:gridCol>
                <a:gridCol w="2130458">
                  <a:extLst>
                    <a:ext uri="{9D8B030D-6E8A-4147-A177-3AD203B41FA5}">
                      <a16:colId xmlns:a16="http://schemas.microsoft.com/office/drawing/2014/main" val="1768256383"/>
                    </a:ext>
                  </a:extLst>
                </a:gridCol>
                <a:gridCol w="1216058">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586929">
                <a:tc>
                  <a:txBody>
                    <a:bodyPr/>
                    <a:lstStyle/>
                    <a:p>
                      <a:r>
                        <a:rPr lang="en-IN" sz="1700" dirty="0"/>
                        <a:t>SR.NO </a:t>
                      </a:r>
                    </a:p>
                  </a:txBody>
                  <a:tcPr marT="41564" marB="41564"/>
                </a:tc>
                <a:tc>
                  <a:txBody>
                    <a:bodyPr/>
                    <a:lstStyle/>
                    <a:p>
                      <a:r>
                        <a:rPr lang="en-IN" sz="1700" dirty="0"/>
                        <a:t>FILD NAME </a:t>
                      </a:r>
                    </a:p>
                  </a:txBody>
                  <a:tcPr marT="41564" marB="41564"/>
                </a:tc>
                <a:tc>
                  <a:txBody>
                    <a:bodyPr/>
                    <a:lstStyle/>
                    <a:p>
                      <a:r>
                        <a:rPr lang="en-IN" sz="1700" dirty="0"/>
                        <a:t>DATA TYPE </a:t>
                      </a:r>
                    </a:p>
                  </a:txBody>
                  <a:tcPr marT="41564" marB="41564"/>
                </a:tc>
                <a:tc>
                  <a:txBody>
                    <a:bodyPr/>
                    <a:lstStyle/>
                    <a:p>
                      <a:r>
                        <a:rPr lang="en-IN" sz="1700" dirty="0"/>
                        <a:t>SIZE</a:t>
                      </a:r>
                    </a:p>
                  </a:txBody>
                  <a:tcPr marT="41564" marB="41564"/>
                </a:tc>
                <a:tc>
                  <a:txBody>
                    <a:bodyPr/>
                    <a:lstStyle/>
                    <a:p>
                      <a:r>
                        <a:rPr lang="en-IN" sz="1700" dirty="0"/>
                        <a:t>CONSTRAINT</a:t>
                      </a:r>
                    </a:p>
                  </a:txBody>
                  <a:tcPr marT="41564" marB="41564"/>
                </a:tc>
                <a:tc>
                  <a:txBody>
                    <a:bodyPr/>
                    <a:lstStyle/>
                    <a:p>
                      <a:r>
                        <a:rPr lang="en-IN" sz="1700" dirty="0"/>
                        <a:t>DESCRIPTION</a:t>
                      </a:r>
                    </a:p>
                  </a:txBody>
                  <a:tcPr marT="41564" marB="41564"/>
                </a:tc>
                <a:extLst>
                  <a:ext uri="{0D108BD9-81ED-4DB2-BD59-A6C34878D82A}">
                    <a16:rowId xmlns:a16="http://schemas.microsoft.com/office/drawing/2014/main" val="756231417"/>
                  </a:ext>
                </a:extLst>
              </a:tr>
              <a:tr h="586929">
                <a:tc>
                  <a:txBody>
                    <a:bodyPr/>
                    <a:lstStyle/>
                    <a:p>
                      <a:r>
                        <a:rPr lang="en-IN" sz="1700" dirty="0"/>
                        <a:t>10.</a:t>
                      </a:r>
                    </a:p>
                  </a:txBody>
                  <a:tcPr marT="41564" marB="41564"/>
                </a:tc>
                <a:tc>
                  <a:txBody>
                    <a:bodyPr/>
                    <a:lstStyle/>
                    <a:p>
                      <a:r>
                        <a:rPr lang="en-IN" sz="1800" dirty="0" err="1"/>
                        <a:t>unit_price</a:t>
                      </a:r>
                      <a:endParaRPr lang="en-IN" sz="1800" dirty="0"/>
                    </a:p>
                  </a:txBody>
                  <a:tcPr marT="41564" marB="41564"/>
                </a:tc>
                <a:tc>
                  <a:txBody>
                    <a:bodyPr/>
                    <a:lstStyle/>
                    <a:p>
                      <a:r>
                        <a:rPr lang="en-IN" sz="1600" dirty="0"/>
                        <a:t>Decimal</a:t>
                      </a:r>
                      <a:endParaRPr lang="en-IN" sz="1700" dirty="0"/>
                    </a:p>
                  </a:txBody>
                  <a:tcPr marT="41564" marB="41564"/>
                </a:tc>
                <a:tc>
                  <a:txBody>
                    <a:bodyPr/>
                    <a:lstStyle/>
                    <a:p>
                      <a:r>
                        <a:rPr lang="en-IN" sz="1700" dirty="0"/>
                        <a:t>10,2</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dirty="0"/>
                        <a:t>Stores price per unit</a:t>
                      </a:r>
                      <a:endParaRPr lang="en-IN" sz="1800" dirty="0"/>
                    </a:p>
                  </a:txBody>
                  <a:tcPr marT="41564" marB="41564"/>
                </a:tc>
                <a:extLst>
                  <a:ext uri="{0D108BD9-81ED-4DB2-BD59-A6C34878D82A}">
                    <a16:rowId xmlns:a16="http://schemas.microsoft.com/office/drawing/2014/main" val="1046504683"/>
                  </a:ext>
                </a:extLst>
              </a:tr>
              <a:tr h="586929">
                <a:tc>
                  <a:txBody>
                    <a:bodyPr/>
                    <a:lstStyle/>
                    <a:p>
                      <a:r>
                        <a:rPr lang="en-IN" sz="1700" dirty="0"/>
                        <a:t>11.</a:t>
                      </a:r>
                    </a:p>
                  </a:txBody>
                  <a:tcPr marT="41564" marB="41564"/>
                </a:tc>
                <a:tc>
                  <a:txBody>
                    <a:bodyPr/>
                    <a:lstStyle/>
                    <a:p>
                      <a:r>
                        <a:rPr lang="en-IN" sz="1800" dirty="0" err="1"/>
                        <a:t>expiry_date</a:t>
                      </a:r>
                      <a:endParaRPr lang="en-IN" sz="1800" dirty="0"/>
                    </a:p>
                  </a:txBody>
                  <a:tcPr marT="41564" marB="41564"/>
                </a:tc>
                <a:tc>
                  <a:txBody>
                    <a:bodyPr/>
                    <a:lstStyle/>
                    <a:p>
                      <a:r>
                        <a:rPr lang="en-IN" sz="1700" dirty="0"/>
                        <a:t>Date</a:t>
                      </a:r>
                    </a:p>
                  </a:txBody>
                  <a:tcPr marT="41564" marB="41564"/>
                </a:tc>
                <a:tc>
                  <a:txBody>
                    <a:bodyPr/>
                    <a:lstStyle/>
                    <a:p>
                      <a:r>
                        <a:rPr lang="en-IN" sz="1700" dirty="0"/>
                        <a:t>-</a:t>
                      </a:r>
                    </a:p>
                  </a:txBody>
                  <a:tcPr marT="41564" marB="41564"/>
                </a:tc>
                <a:tc>
                  <a:txBody>
                    <a:bodyPr/>
                    <a:lstStyle/>
                    <a:p>
                      <a:r>
                        <a:rPr kumimoji="0" lang="en-IN" sz="17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dirty="0"/>
                        <a:t>Stores expiry date</a:t>
                      </a:r>
                      <a:endParaRPr lang="en-IN" sz="1800" dirty="0"/>
                    </a:p>
                  </a:txBody>
                  <a:tcPr marT="41564" marB="41564"/>
                </a:tc>
                <a:extLst>
                  <a:ext uri="{0D108BD9-81ED-4DB2-BD59-A6C34878D82A}">
                    <a16:rowId xmlns:a16="http://schemas.microsoft.com/office/drawing/2014/main" val="1498848976"/>
                  </a:ext>
                </a:extLst>
              </a:tr>
              <a:tr h="423765">
                <a:tc>
                  <a:txBody>
                    <a:bodyPr/>
                    <a:lstStyle/>
                    <a:p>
                      <a:r>
                        <a:rPr lang="en-IN" sz="1700" dirty="0"/>
                        <a:t>12.</a:t>
                      </a:r>
                    </a:p>
                  </a:txBody>
                  <a:tcPr marT="41564" marB="41564"/>
                </a:tc>
                <a:tc>
                  <a:txBody>
                    <a:bodyPr/>
                    <a:lstStyle/>
                    <a:p>
                      <a:r>
                        <a:rPr lang="en-IN" sz="1800" dirty="0" err="1"/>
                        <a:t>manufacturing_date</a:t>
                      </a:r>
                      <a:endParaRPr lang="en-IN" sz="1800" dirty="0"/>
                    </a:p>
                  </a:txBody>
                  <a:tcPr marT="41564" marB="41564"/>
                </a:tc>
                <a:tc>
                  <a:txBody>
                    <a:bodyPr/>
                    <a:lstStyle/>
                    <a:p>
                      <a:r>
                        <a:rPr lang="en-IN" sz="1700" dirty="0"/>
                        <a:t>Date</a:t>
                      </a:r>
                    </a:p>
                  </a:txBody>
                  <a:tcPr marT="41564" marB="41564"/>
                </a:tc>
                <a:tc>
                  <a:txBody>
                    <a:bodyPr/>
                    <a:lstStyle/>
                    <a:p>
                      <a:r>
                        <a:rPr lang="en-IN" sz="1700" dirty="0"/>
                        <a:t>-</a:t>
                      </a:r>
                    </a:p>
                  </a:txBody>
                  <a:tcPr marT="41564" marB="41564"/>
                </a:tc>
                <a:tc>
                  <a:txBody>
                    <a:bodyPr/>
                    <a:lstStyle/>
                    <a:p>
                      <a:r>
                        <a:rPr lang="en-IN" sz="1700" dirty="0"/>
                        <a:t>Not null</a:t>
                      </a:r>
                    </a:p>
                  </a:txBody>
                  <a:tcPr marT="41564" marB="41564"/>
                </a:tc>
                <a:tc>
                  <a:txBody>
                    <a:bodyPr/>
                    <a:lstStyle/>
                    <a:p>
                      <a:r>
                        <a:rPr lang="en-IN" dirty="0"/>
                        <a:t>Stores manufacturing date</a:t>
                      </a:r>
                      <a:endParaRPr lang="en-IN" sz="1800" dirty="0"/>
                    </a:p>
                  </a:txBody>
                  <a:tcPr marT="41564" marB="41564"/>
                </a:tc>
                <a:extLst>
                  <a:ext uri="{0D108BD9-81ED-4DB2-BD59-A6C34878D82A}">
                    <a16:rowId xmlns:a16="http://schemas.microsoft.com/office/drawing/2014/main" val="584237038"/>
                  </a:ext>
                </a:extLst>
              </a:tr>
              <a:tr h="586929">
                <a:tc>
                  <a:txBody>
                    <a:bodyPr/>
                    <a:lstStyle/>
                    <a:p>
                      <a:r>
                        <a:rPr lang="en-IN" sz="1700" dirty="0"/>
                        <a:t>13.</a:t>
                      </a:r>
                    </a:p>
                  </a:txBody>
                  <a:tcPr marT="41564" marB="41564"/>
                </a:tc>
                <a:tc>
                  <a:txBody>
                    <a:bodyPr/>
                    <a:lstStyle/>
                    <a:p>
                      <a:r>
                        <a:rPr lang="en-IN" sz="1800" dirty="0"/>
                        <a:t>Location</a:t>
                      </a:r>
                    </a:p>
                  </a:txBody>
                  <a:tcPr marT="41564" marB="41564"/>
                </a:tc>
                <a:tc>
                  <a:txBody>
                    <a:bodyPr/>
                    <a:lstStyle/>
                    <a:p>
                      <a:r>
                        <a:rPr lang="en-IN" sz="1700" dirty="0"/>
                        <a:t>Varchar</a:t>
                      </a:r>
                    </a:p>
                  </a:txBody>
                  <a:tcPr marT="41564" marB="41564"/>
                </a:tc>
                <a:tc>
                  <a:txBody>
                    <a:bodyPr/>
                    <a:lstStyle/>
                    <a:p>
                      <a:r>
                        <a:rPr lang="en-IN" sz="1700" dirty="0"/>
                        <a:t>50</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US" dirty="0"/>
                        <a:t>Stores rack or shelf location</a:t>
                      </a:r>
                      <a:endParaRPr lang="en-IN" sz="1800" dirty="0"/>
                    </a:p>
                  </a:txBody>
                  <a:tcPr marT="41564" marB="41564"/>
                </a:tc>
                <a:extLst>
                  <a:ext uri="{0D108BD9-81ED-4DB2-BD59-A6C34878D82A}">
                    <a16:rowId xmlns:a16="http://schemas.microsoft.com/office/drawing/2014/main" val="2466471007"/>
                  </a:ext>
                </a:extLst>
              </a:tr>
              <a:tr h="423765">
                <a:tc>
                  <a:txBody>
                    <a:bodyPr/>
                    <a:lstStyle/>
                    <a:p>
                      <a:r>
                        <a:rPr lang="en-IN" sz="1700" dirty="0"/>
                        <a:t>14.</a:t>
                      </a:r>
                    </a:p>
                  </a:txBody>
                  <a:tcPr marT="41564" marB="41564"/>
                </a:tc>
                <a:tc>
                  <a:txBody>
                    <a:bodyPr/>
                    <a:lstStyle/>
                    <a:p>
                      <a:r>
                        <a:rPr lang="en-IN" sz="1800" dirty="0"/>
                        <a:t>Supplier</a:t>
                      </a:r>
                    </a:p>
                  </a:txBody>
                  <a:tcPr marT="41564" marB="41564"/>
                </a:tc>
                <a:tc>
                  <a:txBody>
                    <a:bodyPr/>
                    <a:lstStyle/>
                    <a:p>
                      <a:r>
                        <a:rPr lang="en-IN" sz="1700" dirty="0"/>
                        <a:t>Varchar</a:t>
                      </a:r>
                    </a:p>
                  </a:txBody>
                  <a:tcPr marT="41564" marB="41564"/>
                </a:tc>
                <a:tc>
                  <a:txBody>
                    <a:bodyPr/>
                    <a:lstStyle/>
                    <a:p>
                      <a:r>
                        <a:rPr lang="en-IN" sz="1700" dirty="0"/>
                        <a:t>50</a:t>
                      </a:r>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dirty="0"/>
                        <a:t>Stores supplier name</a:t>
                      </a:r>
                      <a:endParaRPr lang="en-IN" sz="1800" dirty="0"/>
                    </a:p>
                  </a:txBody>
                  <a:tcPr marT="41564" marB="41564"/>
                </a:tc>
                <a:extLst>
                  <a:ext uri="{0D108BD9-81ED-4DB2-BD59-A6C34878D82A}">
                    <a16:rowId xmlns:a16="http://schemas.microsoft.com/office/drawing/2014/main" val="2510266949"/>
                  </a:ext>
                </a:extLst>
              </a:tr>
              <a:tr h="586929">
                <a:tc>
                  <a:txBody>
                    <a:bodyPr/>
                    <a:lstStyle/>
                    <a:p>
                      <a:r>
                        <a:rPr lang="en-IN" sz="1700" dirty="0"/>
                        <a:t>15.</a:t>
                      </a:r>
                    </a:p>
                  </a:txBody>
                  <a:tcPr marT="41564" marB="41564"/>
                </a:tc>
                <a:tc>
                  <a:txBody>
                    <a:bodyPr/>
                    <a:lstStyle/>
                    <a:p>
                      <a:r>
                        <a:rPr lang="en-IN" sz="1800" dirty="0"/>
                        <a:t>Description</a:t>
                      </a:r>
                    </a:p>
                  </a:txBody>
                  <a:tcPr marT="41564" marB="41564"/>
                </a:tc>
                <a:tc>
                  <a:txBody>
                    <a:bodyPr/>
                    <a:lstStyle/>
                    <a:p>
                      <a:r>
                        <a:rPr lang="en-IN" sz="1700" dirty="0"/>
                        <a:t>Varchar</a:t>
                      </a:r>
                    </a:p>
                  </a:txBody>
                  <a:tcPr marT="41564" marB="41564"/>
                </a:tc>
                <a:tc>
                  <a:txBody>
                    <a:bodyPr/>
                    <a:lstStyle/>
                    <a:p>
                      <a:r>
                        <a:rPr lang="en-IN" sz="1700" dirty="0"/>
                        <a:t>100</a:t>
                      </a:r>
                    </a:p>
                  </a:txBody>
                  <a:tcPr marT="41564" marB="41564"/>
                </a:tc>
                <a:tc>
                  <a:txBody>
                    <a:bodyPr/>
                    <a:lstStyle/>
                    <a:p>
                      <a:r>
                        <a:rPr kumimoji="0" lang="en-IN" sz="17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700" dirty="0"/>
                    </a:p>
                  </a:txBody>
                  <a:tcPr marT="41564" marB="41564"/>
                </a:tc>
                <a:tc>
                  <a:txBody>
                    <a:bodyPr/>
                    <a:lstStyle/>
                    <a:p>
                      <a:r>
                        <a:rPr lang="en-IN" dirty="0"/>
                        <a:t>Stores medicine details</a:t>
                      </a:r>
                      <a:endParaRPr lang="en-IN" sz="1800" dirty="0"/>
                    </a:p>
                  </a:txBody>
                  <a:tcPr marT="41564" marB="41564"/>
                </a:tc>
                <a:extLst>
                  <a:ext uri="{0D108BD9-81ED-4DB2-BD59-A6C34878D82A}">
                    <a16:rowId xmlns:a16="http://schemas.microsoft.com/office/drawing/2014/main" val="1484841137"/>
                  </a:ext>
                </a:extLst>
              </a:tr>
              <a:tr h="423765">
                <a:tc>
                  <a:txBody>
                    <a:bodyPr/>
                    <a:lstStyle/>
                    <a:p>
                      <a:r>
                        <a:rPr lang="en-IN" sz="1700" dirty="0"/>
                        <a:t>16.</a:t>
                      </a:r>
                    </a:p>
                  </a:txBody>
                  <a:tcPr marT="41564" marB="41564"/>
                </a:tc>
                <a:tc>
                  <a:txBody>
                    <a:bodyPr/>
                    <a:lstStyle/>
                    <a:p>
                      <a:r>
                        <a:rPr lang="en-IN" sz="1800" dirty="0"/>
                        <a:t>Status</a:t>
                      </a:r>
                    </a:p>
                  </a:txBody>
                  <a:tcPr marT="41564" marB="41564"/>
                </a:tc>
                <a:tc>
                  <a:txBody>
                    <a:bodyPr/>
                    <a:lstStyle/>
                    <a:p>
                      <a:r>
                        <a:rPr lang="en-IN" sz="1700" dirty="0"/>
                        <a:t>varchar</a:t>
                      </a:r>
                    </a:p>
                  </a:txBody>
                  <a:tcPr marT="41564" marB="41564"/>
                </a:tc>
                <a:tc>
                  <a:txBody>
                    <a:bodyPr/>
                    <a:lstStyle/>
                    <a:p>
                      <a:r>
                        <a:rPr lang="en-IN" sz="1700" dirty="0"/>
                        <a:t>50</a:t>
                      </a:r>
                    </a:p>
                  </a:txBody>
                  <a:tcPr marT="41564" marB="41564"/>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stock/expiry status</a:t>
                      </a:r>
                      <a:endParaRPr lang="en-IN" sz="1800" dirty="0"/>
                    </a:p>
                  </a:txBody>
                  <a:tcPr marT="41564" marB="41564"/>
                </a:tc>
                <a:extLst>
                  <a:ext uri="{0D108BD9-81ED-4DB2-BD59-A6C34878D82A}">
                    <a16:rowId xmlns:a16="http://schemas.microsoft.com/office/drawing/2014/main" val="253505178"/>
                  </a:ext>
                </a:extLst>
              </a:tr>
              <a:tr h="423765">
                <a:tc>
                  <a:txBody>
                    <a:bodyPr/>
                    <a:lstStyle/>
                    <a:p>
                      <a:r>
                        <a:rPr lang="en-IN" sz="1700" dirty="0"/>
                        <a:t>17.</a:t>
                      </a:r>
                    </a:p>
                  </a:txBody>
                  <a:tcPr marT="41564" marB="41564"/>
                </a:tc>
                <a:tc>
                  <a:txBody>
                    <a:bodyPr/>
                    <a:lstStyle/>
                    <a:p>
                      <a:r>
                        <a:rPr lang="en-IN" sz="1800" dirty="0" err="1"/>
                        <a:t>created_at</a:t>
                      </a:r>
                      <a:endParaRPr lang="en-IN" sz="18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US" sz="1800" dirty="0"/>
                        <a:t>Stores creation time</a:t>
                      </a:r>
                      <a:endParaRPr lang="en-IN" sz="1800" dirty="0"/>
                    </a:p>
                  </a:txBody>
                  <a:tcPr marT="41564" marB="41564"/>
                </a:tc>
                <a:extLst>
                  <a:ext uri="{0D108BD9-81ED-4DB2-BD59-A6C34878D82A}">
                    <a16:rowId xmlns:a16="http://schemas.microsoft.com/office/drawing/2014/main" val="3572593437"/>
                  </a:ext>
                </a:extLst>
              </a:tr>
              <a:tr h="586929">
                <a:tc>
                  <a:txBody>
                    <a:bodyPr/>
                    <a:lstStyle/>
                    <a:p>
                      <a:r>
                        <a:rPr lang="en-IN" sz="1700" dirty="0"/>
                        <a:t>18.</a:t>
                      </a:r>
                    </a:p>
                  </a:txBody>
                  <a:tcPr marT="41564" marB="41564"/>
                </a:tc>
                <a:tc>
                  <a:txBody>
                    <a:bodyPr/>
                    <a:lstStyle/>
                    <a:p>
                      <a:r>
                        <a:rPr lang="en-IN" sz="1800" dirty="0" err="1"/>
                        <a:t>updated_at</a:t>
                      </a:r>
                      <a:endParaRPr lang="en-IN" sz="18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sz="1800" dirty="0"/>
                        <a:t>Stores last update time</a:t>
                      </a:r>
                    </a:p>
                  </a:txBody>
                  <a:tcPr marT="41564" marB="41564"/>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3558599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54F4B-2371-62A7-5ED4-ACDAC767A62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FAC30D2-48DB-44BC-2221-F653CF9E5F98}"/>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810CCE1D-17B4-74B4-466A-3A557681225B}"/>
              </a:ext>
            </a:extLst>
          </p:cNvPr>
          <p:cNvSpPr>
            <a:spLocks noGrp="1"/>
          </p:cNvSpPr>
          <p:nvPr>
            <p:ph idx="1"/>
          </p:nvPr>
        </p:nvSpPr>
        <p:spPr>
          <a:xfrm>
            <a:off x="1216057" y="908138"/>
            <a:ext cx="10515600" cy="4351338"/>
          </a:xfrm>
        </p:spPr>
        <p:txBody>
          <a:bodyPr/>
          <a:lstStyle/>
          <a:p>
            <a:r>
              <a:rPr lang="en-IN" sz="2400" b="1" dirty="0"/>
              <a:t>Customer Table</a:t>
            </a:r>
          </a:p>
        </p:txBody>
      </p:sp>
      <p:graphicFrame>
        <p:nvGraphicFramePr>
          <p:cNvPr id="2" name="Table 1">
            <a:extLst>
              <a:ext uri="{FF2B5EF4-FFF2-40B4-BE49-F238E27FC236}">
                <a16:creationId xmlns:a16="http://schemas.microsoft.com/office/drawing/2014/main" id="{2F08A374-DBBD-481B-6F16-ABA0CAB83006}"/>
              </a:ext>
            </a:extLst>
          </p:cNvPr>
          <p:cNvGraphicFramePr>
            <a:graphicFrameLocks noGrp="1"/>
          </p:cNvGraphicFramePr>
          <p:nvPr>
            <p:extLst>
              <p:ext uri="{D42A27DB-BD31-4B8C-83A1-F6EECF244321}">
                <p14:modId xmlns:p14="http://schemas.microsoft.com/office/powerpoint/2010/main" val="2711893164"/>
              </p:ext>
            </p:extLst>
          </p:nvPr>
        </p:nvGraphicFramePr>
        <p:xfrm>
          <a:off x="1216057" y="1382571"/>
          <a:ext cx="10067826" cy="5301490"/>
        </p:xfrm>
        <a:graphic>
          <a:graphicData uri="http://schemas.openxmlformats.org/drawingml/2006/table">
            <a:tbl>
              <a:tblPr firstRow="1" bandRow="1">
                <a:tableStyleId>{5C22544A-7EE6-4342-B048-85BDC9FD1C3A}</a:tableStyleId>
              </a:tblPr>
              <a:tblGrid>
                <a:gridCol w="791852">
                  <a:extLst>
                    <a:ext uri="{9D8B030D-6E8A-4147-A177-3AD203B41FA5}">
                      <a16:colId xmlns:a16="http://schemas.microsoft.com/office/drawing/2014/main" val="2361305984"/>
                    </a:ext>
                  </a:extLst>
                </a:gridCol>
                <a:gridCol w="1857081">
                  <a:extLst>
                    <a:ext uri="{9D8B030D-6E8A-4147-A177-3AD203B41FA5}">
                      <a16:colId xmlns:a16="http://schemas.microsoft.com/office/drawing/2014/main" val="1768256383"/>
                    </a:ext>
                  </a:extLst>
                </a:gridCol>
                <a:gridCol w="1489435">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Customer_id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customer</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First_name</a:t>
                      </a:r>
                      <a:endParaRPr lang="en-IN" dirty="0"/>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first name</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Last_name</a:t>
                      </a:r>
                      <a:endParaRPr lang="en-IN" dirty="0"/>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last name</a:t>
                      </a:r>
                    </a:p>
                  </a:txBody>
                  <a:tcP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a:t>Email</a:t>
                      </a:r>
                    </a:p>
                  </a:txBody>
                  <a:tcPr/>
                </a:tc>
                <a:tc>
                  <a:txBody>
                    <a:bodyPr/>
                    <a:lstStyle/>
                    <a:p>
                      <a:r>
                        <a:rPr lang="en-IN" dirty="0"/>
                        <a:t>Varchar</a:t>
                      </a:r>
                    </a:p>
                  </a:txBody>
                  <a:tcPr/>
                </a:tc>
                <a:tc>
                  <a:txBody>
                    <a:bodyPr/>
                    <a:lstStyle/>
                    <a:p>
                      <a:r>
                        <a:rPr lang="en-IN" dirty="0"/>
                        <a:t>50</a:t>
                      </a:r>
                    </a:p>
                  </a:txBody>
                  <a:tcPr/>
                </a:tc>
                <a:tc>
                  <a:txBody>
                    <a:bodyPr/>
                    <a:lstStyle/>
                    <a:p>
                      <a:r>
                        <a:rPr lang="en-IN" dirty="0"/>
                        <a:t>Null allow</a:t>
                      </a:r>
                    </a:p>
                  </a:txBody>
                  <a:tcPr/>
                </a:tc>
                <a:tc>
                  <a:txBody>
                    <a:bodyPr/>
                    <a:lstStyle/>
                    <a:p>
                      <a:r>
                        <a:rPr lang="en-IN" dirty="0"/>
                        <a:t>Stores email address</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Phone</a:t>
                      </a:r>
                    </a:p>
                  </a:txBody>
                  <a:tcPr/>
                </a:tc>
                <a:tc>
                  <a:txBody>
                    <a:bodyPr/>
                    <a:lstStyle/>
                    <a:p>
                      <a:r>
                        <a:rPr lang="en-IN" dirty="0"/>
                        <a:t>Integer</a:t>
                      </a:r>
                    </a:p>
                  </a:txBody>
                  <a:tcPr/>
                </a:tc>
                <a:tc>
                  <a:txBody>
                    <a:bodyPr/>
                    <a:lstStyle/>
                    <a:p>
                      <a:r>
                        <a:rPr lang="en-IN" dirty="0"/>
                        <a:t>10</a:t>
                      </a:r>
                    </a:p>
                  </a:txBody>
                  <a:tcPr/>
                </a:tc>
                <a:tc>
                  <a:txBody>
                    <a:bodyPr/>
                    <a:lstStyle/>
                    <a:p>
                      <a:r>
                        <a:rPr lang="en-IN" dirty="0"/>
                        <a:t>Not null</a:t>
                      </a:r>
                    </a:p>
                  </a:txBody>
                  <a:tcPr/>
                </a:tc>
                <a:tc>
                  <a:txBody>
                    <a:bodyPr/>
                    <a:lstStyle/>
                    <a:p>
                      <a:r>
                        <a:rPr lang="en-IN" dirty="0"/>
                        <a:t>Stores phone number</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err="1"/>
                        <a:t>Alternate_phone</a:t>
                      </a:r>
                      <a:endParaRPr lang="en-IN" dirty="0"/>
                    </a:p>
                  </a:txBody>
                  <a:tcPr/>
                </a:tc>
                <a:tc>
                  <a:txBody>
                    <a:bodyPr/>
                    <a:lstStyle/>
                    <a:p>
                      <a:r>
                        <a:rPr lang="en-IN" dirty="0"/>
                        <a:t>Integer</a:t>
                      </a:r>
                    </a:p>
                  </a:txBody>
                  <a:tcPr/>
                </a:tc>
                <a:tc>
                  <a:txBody>
                    <a:bodyPr/>
                    <a:lstStyle/>
                    <a:p>
                      <a:r>
                        <a:rPr lang="en-IN" dirty="0"/>
                        <a:t>10</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Null allow</a:t>
                      </a:r>
                      <a:endParaRPr lang="en-IN" dirty="0"/>
                    </a:p>
                  </a:txBody>
                  <a:tcPr/>
                </a:tc>
                <a:tc>
                  <a:txBody>
                    <a:bodyPr/>
                    <a:lstStyle/>
                    <a:p>
                      <a:r>
                        <a:rPr lang="en-IN" dirty="0"/>
                        <a:t>Stores alternate number</a:t>
                      </a:r>
                    </a:p>
                  </a:txBody>
                  <a:tcP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Date_of_birth</a:t>
                      </a:r>
                      <a:endParaRPr lang="en-IN" dirty="0"/>
                    </a:p>
                  </a:txBody>
                  <a:tcPr/>
                </a:tc>
                <a:tc>
                  <a:txBody>
                    <a:bodyPr/>
                    <a:lstStyle/>
                    <a:p>
                      <a:r>
                        <a:rPr lang="en-IN" dirty="0"/>
                        <a:t>Integer</a:t>
                      </a:r>
                    </a:p>
                  </a:txBody>
                  <a:tcPr/>
                </a:tc>
                <a:tc>
                  <a:txBody>
                    <a:bodyPr/>
                    <a:lstStyle/>
                    <a:p>
                      <a:r>
                        <a:rPr lang="en-IN" dirty="0"/>
                        <a:t>15</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date of birth</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a:t>Address</a:t>
                      </a:r>
                    </a:p>
                  </a:txBody>
                  <a:tcPr/>
                </a:tc>
                <a:tc>
                  <a:txBody>
                    <a:bodyPr/>
                    <a:lstStyle/>
                    <a:p>
                      <a:r>
                        <a:rPr lang="en-IN" dirty="0"/>
                        <a:t>Varchar</a:t>
                      </a:r>
                    </a:p>
                  </a:txBody>
                  <a:tcPr/>
                </a:tc>
                <a:tc>
                  <a:txBody>
                    <a:bodyPr/>
                    <a:lstStyle/>
                    <a:p>
                      <a:r>
                        <a:rPr lang="en-IN" dirty="0"/>
                        <a:t>100</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r>
                        <a:rPr lang="en-IN" dirty="0"/>
                        <a:t>Stores address</a:t>
                      </a:r>
                    </a:p>
                  </a:txBody>
                  <a:tcPr/>
                </a:tc>
                <a:extLst>
                  <a:ext uri="{0D108BD9-81ED-4DB2-BD59-A6C34878D82A}">
                    <a16:rowId xmlns:a16="http://schemas.microsoft.com/office/drawing/2014/main" val="248701195"/>
                  </a:ext>
                </a:extLst>
              </a:tr>
              <a:tr h="466141">
                <a:tc>
                  <a:txBody>
                    <a:bodyPr/>
                    <a:lstStyle/>
                    <a:p>
                      <a:r>
                        <a:rPr lang="en-IN" dirty="0"/>
                        <a:t>10.</a:t>
                      </a:r>
                    </a:p>
                  </a:txBody>
                  <a:tcPr/>
                </a:tc>
                <a:tc>
                  <a:txBody>
                    <a:bodyPr/>
                    <a:lstStyle/>
                    <a:p>
                      <a:r>
                        <a:rPr lang="en-IN" dirty="0"/>
                        <a:t>city</a:t>
                      </a:r>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city</a:t>
                      </a:r>
                    </a:p>
                  </a:txBody>
                  <a:tcPr/>
                </a:tc>
                <a:extLst>
                  <a:ext uri="{0D108BD9-81ED-4DB2-BD59-A6C34878D82A}">
                    <a16:rowId xmlns:a16="http://schemas.microsoft.com/office/drawing/2014/main" val="2796398108"/>
                  </a:ext>
                </a:extLst>
              </a:tr>
            </a:tbl>
          </a:graphicData>
        </a:graphic>
      </p:graphicFrame>
    </p:spTree>
    <p:extLst>
      <p:ext uri="{BB962C8B-B14F-4D97-AF65-F5344CB8AC3E}">
        <p14:creationId xmlns:p14="http://schemas.microsoft.com/office/powerpoint/2010/main" val="42168835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6F44-5F11-C137-E204-4280B26F063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3F81229-9876-D94E-275B-52CD3C6A598F}"/>
              </a:ext>
            </a:extLst>
          </p:cNvPr>
          <p:cNvGraphicFramePr>
            <a:graphicFrameLocks noGrp="1"/>
          </p:cNvGraphicFramePr>
          <p:nvPr>
            <p:extLst>
              <p:ext uri="{D42A27DB-BD31-4B8C-83A1-F6EECF244321}">
                <p14:modId xmlns:p14="http://schemas.microsoft.com/office/powerpoint/2010/main" val="4041089400"/>
              </p:ext>
            </p:extLst>
          </p:nvPr>
        </p:nvGraphicFramePr>
        <p:xfrm>
          <a:off x="1197204" y="746535"/>
          <a:ext cx="10067826" cy="5928256"/>
        </p:xfrm>
        <a:graphic>
          <a:graphicData uri="http://schemas.openxmlformats.org/drawingml/2006/table">
            <a:tbl>
              <a:tblPr firstRow="1" bandRow="1">
                <a:tableStyleId>{5C22544A-7EE6-4342-B048-85BDC9FD1C3A}</a:tableStyleId>
              </a:tblPr>
              <a:tblGrid>
                <a:gridCol w="791852">
                  <a:extLst>
                    <a:ext uri="{9D8B030D-6E8A-4147-A177-3AD203B41FA5}">
                      <a16:colId xmlns:a16="http://schemas.microsoft.com/office/drawing/2014/main" val="2361305984"/>
                    </a:ext>
                  </a:extLst>
                </a:gridCol>
                <a:gridCol w="2130458">
                  <a:extLst>
                    <a:ext uri="{9D8B030D-6E8A-4147-A177-3AD203B41FA5}">
                      <a16:colId xmlns:a16="http://schemas.microsoft.com/office/drawing/2014/main" val="1768256383"/>
                    </a:ext>
                  </a:extLst>
                </a:gridCol>
                <a:gridCol w="1216058">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586929">
                <a:tc>
                  <a:txBody>
                    <a:bodyPr/>
                    <a:lstStyle/>
                    <a:p>
                      <a:r>
                        <a:rPr lang="en-IN" sz="1700" dirty="0"/>
                        <a:t>SR.NO </a:t>
                      </a:r>
                    </a:p>
                  </a:txBody>
                  <a:tcPr marT="41564" marB="41564"/>
                </a:tc>
                <a:tc>
                  <a:txBody>
                    <a:bodyPr/>
                    <a:lstStyle/>
                    <a:p>
                      <a:r>
                        <a:rPr lang="en-IN" sz="1700" dirty="0"/>
                        <a:t>FILD NAME </a:t>
                      </a:r>
                    </a:p>
                  </a:txBody>
                  <a:tcPr marT="41564" marB="41564"/>
                </a:tc>
                <a:tc>
                  <a:txBody>
                    <a:bodyPr/>
                    <a:lstStyle/>
                    <a:p>
                      <a:r>
                        <a:rPr lang="en-IN" sz="1700" dirty="0"/>
                        <a:t>DATA TYPE </a:t>
                      </a:r>
                    </a:p>
                  </a:txBody>
                  <a:tcPr marT="41564" marB="41564"/>
                </a:tc>
                <a:tc>
                  <a:txBody>
                    <a:bodyPr/>
                    <a:lstStyle/>
                    <a:p>
                      <a:r>
                        <a:rPr lang="en-IN" sz="1700" dirty="0"/>
                        <a:t>SIZE</a:t>
                      </a:r>
                    </a:p>
                  </a:txBody>
                  <a:tcPr marT="41564" marB="41564"/>
                </a:tc>
                <a:tc>
                  <a:txBody>
                    <a:bodyPr/>
                    <a:lstStyle/>
                    <a:p>
                      <a:r>
                        <a:rPr lang="en-IN" sz="1700" dirty="0"/>
                        <a:t>CONSTRAINT</a:t>
                      </a:r>
                    </a:p>
                  </a:txBody>
                  <a:tcPr marT="41564" marB="41564"/>
                </a:tc>
                <a:tc>
                  <a:txBody>
                    <a:bodyPr/>
                    <a:lstStyle/>
                    <a:p>
                      <a:r>
                        <a:rPr lang="en-IN" sz="1700" dirty="0"/>
                        <a:t>DESCRIPTION</a:t>
                      </a:r>
                    </a:p>
                  </a:txBody>
                  <a:tcPr marT="41564" marB="41564"/>
                </a:tc>
                <a:extLst>
                  <a:ext uri="{0D108BD9-81ED-4DB2-BD59-A6C34878D82A}">
                    <a16:rowId xmlns:a16="http://schemas.microsoft.com/office/drawing/2014/main" val="756231417"/>
                  </a:ext>
                </a:extLst>
              </a:tr>
              <a:tr h="586929">
                <a:tc>
                  <a:txBody>
                    <a:bodyPr/>
                    <a:lstStyle/>
                    <a:p>
                      <a:r>
                        <a:rPr lang="en-IN" sz="1700" dirty="0"/>
                        <a:t>11.</a:t>
                      </a:r>
                    </a:p>
                  </a:txBody>
                  <a:tcPr marT="41564" marB="41564"/>
                </a:tc>
                <a:tc>
                  <a:txBody>
                    <a:bodyPr/>
                    <a:lstStyle/>
                    <a:p>
                      <a:r>
                        <a:rPr lang="en-IN" dirty="0" err="1"/>
                        <a:t>pincode</a:t>
                      </a:r>
                      <a:endParaRPr lang="en-IN" sz="1800" dirty="0"/>
                    </a:p>
                  </a:txBody>
                  <a:tcPr marT="41564" marB="41564"/>
                </a:tc>
                <a:tc>
                  <a:txBody>
                    <a:bodyPr/>
                    <a:lstStyle/>
                    <a:p>
                      <a:r>
                        <a:rPr lang="en-IN" sz="1600" dirty="0"/>
                        <a:t>Varchar</a:t>
                      </a:r>
                      <a:endParaRPr lang="en-IN" sz="1700" dirty="0"/>
                    </a:p>
                  </a:txBody>
                  <a:tcPr marT="41564" marB="41564"/>
                </a:tc>
                <a:tc>
                  <a:txBody>
                    <a:bodyPr/>
                    <a:lstStyle/>
                    <a:p>
                      <a:r>
                        <a:rPr lang="en-IN" sz="1700" dirty="0"/>
                        <a:t>7</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postal code</a:t>
                      </a:r>
                      <a:endParaRPr lang="en-IN" sz="1800" dirty="0"/>
                    </a:p>
                  </a:txBody>
                  <a:tcPr marT="41564" marB="41564"/>
                </a:tc>
                <a:extLst>
                  <a:ext uri="{0D108BD9-81ED-4DB2-BD59-A6C34878D82A}">
                    <a16:rowId xmlns:a16="http://schemas.microsoft.com/office/drawing/2014/main" val="1046504683"/>
                  </a:ext>
                </a:extLst>
              </a:tr>
              <a:tr h="586929">
                <a:tc>
                  <a:txBody>
                    <a:bodyPr/>
                    <a:lstStyle/>
                    <a:p>
                      <a:r>
                        <a:rPr lang="en-IN" sz="1700" dirty="0"/>
                        <a:t>12.</a:t>
                      </a:r>
                    </a:p>
                  </a:txBody>
                  <a:tcPr marT="41564" marB="41564"/>
                </a:tc>
                <a:tc>
                  <a:txBody>
                    <a:bodyPr/>
                    <a:lstStyle/>
                    <a:p>
                      <a:r>
                        <a:rPr lang="en-IN" dirty="0" err="1"/>
                        <a:t>customer_type</a:t>
                      </a:r>
                      <a:endParaRPr lang="en-IN" sz="1800" dirty="0"/>
                    </a:p>
                  </a:txBody>
                  <a:tcPr marT="41564" marB="41564"/>
                </a:tc>
                <a:tc>
                  <a:txBody>
                    <a:bodyPr/>
                    <a:lstStyle/>
                    <a:p>
                      <a:r>
                        <a:rPr lang="en-IN" sz="1700" dirty="0"/>
                        <a:t>Varchar</a:t>
                      </a:r>
                    </a:p>
                  </a:txBody>
                  <a:tcPr marT="41564" marB="41564"/>
                </a:tc>
                <a:tc>
                  <a:txBody>
                    <a:bodyPr/>
                    <a:lstStyle/>
                    <a:p>
                      <a:r>
                        <a:rPr lang="en-IN" sz="1700" dirty="0"/>
                        <a:t>15</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customer category</a:t>
                      </a:r>
                      <a:endParaRPr lang="en-IN" sz="1800" dirty="0"/>
                    </a:p>
                  </a:txBody>
                  <a:tcPr marT="41564" marB="41564"/>
                </a:tc>
                <a:extLst>
                  <a:ext uri="{0D108BD9-81ED-4DB2-BD59-A6C34878D82A}">
                    <a16:rowId xmlns:a16="http://schemas.microsoft.com/office/drawing/2014/main" val="1498848976"/>
                  </a:ext>
                </a:extLst>
              </a:tr>
              <a:tr h="423765">
                <a:tc>
                  <a:txBody>
                    <a:bodyPr/>
                    <a:lstStyle/>
                    <a:p>
                      <a:r>
                        <a:rPr lang="en-IN" sz="1700" dirty="0"/>
                        <a:t>13.</a:t>
                      </a:r>
                    </a:p>
                  </a:txBody>
                  <a:tcPr marT="41564" marB="41564"/>
                </a:tc>
                <a:tc>
                  <a:txBody>
                    <a:bodyPr/>
                    <a:lstStyle/>
                    <a:p>
                      <a:r>
                        <a:rPr lang="en-IN" dirty="0"/>
                        <a:t>status</a:t>
                      </a:r>
                      <a:endParaRPr lang="en-IN" sz="1800" dirty="0"/>
                    </a:p>
                  </a:txBody>
                  <a:tcPr marT="41564" marB="41564"/>
                </a:tc>
                <a:tc>
                  <a:txBody>
                    <a:bodyPr/>
                    <a:lstStyle/>
                    <a:p>
                      <a:r>
                        <a:rPr lang="en-IN" sz="1700" dirty="0"/>
                        <a:t>Varchar</a:t>
                      </a:r>
                    </a:p>
                  </a:txBody>
                  <a:tcPr marT="41564" marB="41564"/>
                </a:tc>
                <a:tc>
                  <a:txBody>
                    <a:bodyPr/>
                    <a:lstStyle/>
                    <a:p>
                      <a:r>
                        <a:rPr lang="en-IN" sz="1700" dirty="0"/>
                        <a:t>20</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customer status</a:t>
                      </a:r>
                      <a:endParaRPr lang="en-IN" sz="1800" dirty="0"/>
                    </a:p>
                  </a:txBody>
                  <a:tcPr marT="41564" marB="41564"/>
                </a:tc>
                <a:extLst>
                  <a:ext uri="{0D108BD9-81ED-4DB2-BD59-A6C34878D82A}">
                    <a16:rowId xmlns:a16="http://schemas.microsoft.com/office/drawing/2014/main" val="584237038"/>
                  </a:ext>
                </a:extLst>
              </a:tr>
              <a:tr h="423765">
                <a:tc>
                  <a:txBody>
                    <a:bodyPr/>
                    <a:lstStyle/>
                    <a:p>
                      <a:r>
                        <a:rPr lang="en-IN" sz="1700" dirty="0"/>
                        <a:t>14.</a:t>
                      </a:r>
                    </a:p>
                  </a:txBody>
                  <a:tcPr marT="41564" marB="41564"/>
                </a:tc>
                <a:tc>
                  <a:txBody>
                    <a:bodyPr/>
                    <a:lstStyle/>
                    <a:p>
                      <a:r>
                        <a:rPr lang="en-IN" dirty="0" err="1"/>
                        <a:t>blood_group</a:t>
                      </a:r>
                      <a:endParaRPr lang="en-IN" sz="1800" dirty="0"/>
                    </a:p>
                  </a:txBody>
                  <a:tcPr marT="41564" marB="41564"/>
                </a:tc>
                <a:tc>
                  <a:txBody>
                    <a:bodyPr/>
                    <a:lstStyle/>
                    <a:p>
                      <a:r>
                        <a:rPr lang="en-IN" sz="1700" dirty="0"/>
                        <a:t>Varchar</a:t>
                      </a:r>
                    </a:p>
                  </a:txBody>
                  <a:tcPr marT="41564" marB="41564"/>
                </a:tc>
                <a:tc>
                  <a:txBody>
                    <a:bodyPr/>
                    <a:lstStyle/>
                    <a:p>
                      <a:r>
                        <a:rPr lang="en-IN" sz="1700" dirty="0"/>
                        <a:t>5</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blood group</a:t>
                      </a:r>
                      <a:endParaRPr lang="en-IN" sz="1800" dirty="0"/>
                    </a:p>
                  </a:txBody>
                  <a:tcPr marT="41564" marB="41564"/>
                </a:tc>
                <a:extLst>
                  <a:ext uri="{0D108BD9-81ED-4DB2-BD59-A6C34878D82A}">
                    <a16:rowId xmlns:a16="http://schemas.microsoft.com/office/drawing/2014/main" val="2510266949"/>
                  </a:ext>
                </a:extLst>
              </a:tr>
              <a:tr h="586929">
                <a:tc>
                  <a:txBody>
                    <a:bodyPr/>
                    <a:lstStyle/>
                    <a:p>
                      <a:r>
                        <a:rPr lang="en-IN" sz="1700" dirty="0"/>
                        <a:t>15.</a:t>
                      </a:r>
                    </a:p>
                  </a:txBody>
                  <a:tcPr marT="41564" marB="41564"/>
                </a:tc>
                <a:tc>
                  <a:txBody>
                    <a:bodyPr/>
                    <a:lstStyle/>
                    <a:p>
                      <a:r>
                        <a:rPr lang="en-IN" dirty="0" err="1"/>
                        <a:t>total_purchases</a:t>
                      </a:r>
                      <a:endParaRPr lang="en-IN" sz="1800" dirty="0"/>
                    </a:p>
                  </a:txBody>
                  <a:tcPr marT="41564" marB="41564"/>
                </a:tc>
                <a:tc>
                  <a:txBody>
                    <a:bodyPr/>
                    <a:lstStyle/>
                    <a:p>
                      <a:r>
                        <a:rPr lang="en-IN" sz="1700" dirty="0"/>
                        <a:t>Decimal</a:t>
                      </a:r>
                    </a:p>
                  </a:txBody>
                  <a:tcPr marT="41564" marB="41564"/>
                </a:tc>
                <a:tc>
                  <a:txBody>
                    <a:bodyPr/>
                    <a:lstStyle/>
                    <a:p>
                      <a:r>
                        <a:rPr lang="en-IN" sz="1700" dirty="0"/>
                        <a:t>12,2</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total purchase amount</a:t>
                      </a:r>
                      <a:endParaRPr lang="en-IN" sz="1800" dirty="0"/>
                    </a:p>
                  </a:txBody>
                  <a:tcPr marT="41564" marB="41564"/>
                </a:tc>
                <a:extLst>
                  <a:ext uri="{0D108BD9-81ED-4DB2-BD59-A6C34878D82A}">
                    <a16:rowId xmlns:a16="http://schemas.microsoft.com/office/drawing/2014/main" val="1484841137"/>
                  </a:ext>
                </a:extLst>
              </a:tr>
              <a:tr h="423765">
                <a:tc>
                  <a:txBody>
                    <a:bodyPr/>
                    <a:lstStyle/>
                    <a:p>
                      <a:r>
                        <a:rPr lang="en-IN" sz="1700" dirty="0"/>
                        <a:t>16.</a:t>
                      </a:r>
                    </a:p>
                  </a:txBody>
                  <a:tcPr marT="41564" marB="41564"/>
                </a:tc>
                <a:tc>
                  <a:txBody>
                    <a:bodyPr/>
                    <a:lstStyle/>
                    <a:p>
                      <a:r>
                        <a:rPr lang="en-IN" dirty="0" err="1"/>
                        <a:t>total_visits</a:t>
                      </a:r>
                      <a:endParaRPr lang="en-IN" sz="1800" dirty="0"/>
                    </a:p>
                  </a:txBody>
                  <a:tcPr marT="41564" marB="41564"/>
                </a:tc>
                <a:tc>
                  <a:txBody>
                    <a:bodyPr/>
                    <a:lstStyle/>
                    <a:p>
                      <a:r>
                        <a:rPr lang="en-IN" sz="1700" dirty="0"/>
                        <a:t>Integer</a:t>
                      </a:r>
                    </a:p>
                  </a:txBody>
                  <a:tcPr marT="41564" marB="41564"/>
                </a:tc>
                <a:tc>
                  <a:txBody>
                    <a:bodyPr/>
                    <a:lstStyle/>
                    <a:p>
                      <a:r>
                        <a:rPr lang="en-IN" sz="1700" dirty="0"/>
                        <a:t>4</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visit count</a:t>
                      </a:r>
                      <a:endParaRPr lang="en-IN" sz="1800" dirty="0"/>
                    </a:p>
                  </a:txBody>
                  <a:tcPr marT="41564" marB="41564"/>
                </a:tc>
                <a:extLst>
                  <a:ext uri="{0D108BD9-81ED-4DB2-BD59-A6C34878D82A}">
                    <a16:rowId xmlns:a16="http://schemas.microsoft.com/office/drawing/2014/main" val="253505178"/>
                  </a:ext>
                </a:extLst>
              </a:tr>
              <a:tr h="423765">
                <a:tc>
                  <a:txBody>
                    <a:bodyPr/>
                    <a:lstStyle/>
                    <a:p>
                      <a:r>
                        <a:rPr lang="en-IN" sz="1700" dirty="0"/>
                        <a:t>17.</a:t>
                      </a:r>
                    </a:p>
                  </a:txBody>
                  <a:tcPr marT="41564" marB="41564"/>
                </a:tc>
                <a:tc>
                  <a:txBody>
                    <a:bodyPr/>
                    <a:lstStyle/>
                    <a:p>
                      <a:r>
                        <a:rPr lang="en-IN" dirty="0" err="1"/>
                        <a:t>due_amount</a:t>
                      </a:r>
                      <a:endParaRPr lang="en-IN" sz="1800" dirty="0"/>
                    </a:p>
                  </a:txBody>
                  <a:tcPr marT="41564" marB="41564"/>
                </a:tc>
                <a:tc>
                  <a:txBody>
                    <a:bodyPr/>
                    <a:lstStyle/>
                    <a:p>
                      <a:r>
                        <a:rPr lang="en-IN" sz="1700" dirty="0"/>
                        <a:t>Decimal</a:t>
                      </a:r>
                    </a:p>
                  </a:txBody>
                  <a:tcPr marT="41564" marB="41564"/>
                </a:tc>
                <a:tc>
                  <a:txBody>
                    <a:bodyPr/>
                    <a:lstStyle/>
                    <a:p>
                      <a:r>
                        <a:rPr lang="en-IN" sz="1700" dirty="0"/>
                        <a:t>12,2</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pending due amount</a:t>
                      </a:r>
                      <a:endParaRPr lang="en-IN" sz="1800" dirty="0"/>
                    </a:p>
                  </a:txBody>
                  <a:tcPr marT="41564" marB="41564"/>
                </a:tc>
                <a:extLst>
                  <a:ext uri="{0D108BD9-81ED-4DB2-BD59-A6C34878D82A}">
                    <a16:rowId xmlns:a16="http://schemas.microsoft.com/office/drawing/2014/main" val="3572593437"/>
                  </a:ext>
                </a:extLst>
              </a:tr>
              <a:tr h="586929">
                <a:tc>
                  <a:txBody>
                    <a:bodyPr/>
                    <a:lstStyle/>
                    <a:p>
                      <a:r>
                        <a:rPr lang="en-IN" sz="1700" dirty="0"/>
                        <a:t>18.</a:t>
                      </a:r>
                    </a:p>
                  </a:txBody>
                  <a:tcPr marT="41564" marB="41564"/>
                </a:tc>
                <a:tc>
                  <a:txBody>
                    <a:bodyPr/>
                    <a:lstStyle/>
                    <a:p>
                      <a:r>
                        <a:rPr lang="en-IN" dirty="0" err="1"/>
                        <a:t>last_purchase_date</a:t>
                      </a:r>
                      <a:endParaRPr lang="en-IN" sz="1800" dirty="0"/>
                    </a:p>
                  </a:txBody>
                  <a:tcPr marT="41564" marB="41564"/>
                </a:tc>
                <a:tc>
                  <a:txBody>
                    <a:bodyPr/>
                    <a:lstStyle/>
                    <a:p>
                      <a:r>
                        <a:rPr lang="en-IN" sz="1700" dirty="0"/>
                        <a:t>Date</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last purchase date</a:t>
                      </a:r>
                      <a:endParaRPr lang="en-IN" sz="1800" dirty="0"/>
                    </a:p>
                  </a:txBody>
                  <a:tcPr marT="41564" marB="41564"/>
                </a:tc>
                <a:extLst>
                  <a:ext uri="{0D108BD9-81ED-4DB2-BD59-A6C34878D82A}">
                    <a16:rowId xmlns:a16="http://schemas.microsoft.com/office/drawing/2014/main" val="248701195"/>
                  </a:ext>
                </a:extLst>
              </a:tr>
              <a:tr h="458780">
                <a:tc>
                  <a:txBody>
                    <a:bodyPr/>
                    <a:lstStyle/>
                    <a:p>
                      <a:r>
                        <a:rPr lang="en-IN" sz="1700" dirty="0"/>
                        <a:t>19.</a:t>
                      </a:r>
                    </a:p>
                  </a:txBody>
                  <a:tcPr marT="41564" marB="41564"/>
                </a:tc>
                <a:tc>
                  <a:txBody>
                    <a:bodyPr/>
                    <a:lstStyle/>
                    <a:p>
                      <a:r>
                        <a:rPr lang="en-IN" dirty="0" err="1"/>
                        <a:t>created_at</a:t>
                      </a:r>
                      <a:endParaRPr lang="en-IN" sz="1800" dirty="0"/>
                    </a:p>
                  </a:txBody>
                  <a:tcPr marT="41564" marB="41564"/>
                </a:tc>
                <a:tc>
                  <a:txBody>
                    <a:bodyPr/>
                    <a:lstStyle/>
                    <a:p>
                      <a:r>
                        <a:rPr lang="en-IN" sz="1700" dirty="0"/>
                        <a:t>Date </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creation date</a:t>
                      </a:r>
                      <a:endParaRPr lang="en-IN" sz="1800" dirty="0"/>
                    </a:p>
                  </a:txBody>
                  <a:tcPr marT="41564" marB="41564"/>
                </a:tc>
                <a:extLst>
                  <a:ext uri="{0D108BD9-81ED-4DB2-BD59-A6C34878D82A}">
                    <a16:rowId xmlns:a16="http://schemas.microsoft.com/office/drawing/2014/main" val="967077122"/>
                  </a:ext>
                </a:extLst>
              </a:tr>
              <a:tr h="586929">
                <a:tc>
                  <a:txBody>
                    <a:bodyPr/>
                    <a:lstStyle/>
                    <a:p>
                      <a:r>
                        <a:rPr lang="en-IN" sz="1700" dirty="0"/>
                        <a:t>20.</a:t>
                      </a:r>
                    </a:p>
                  </a:txBody>
                  <a:tcPr marT="41564" marB="41564"/>
                </a:tc>
                <a:tc>
                  <a:txBody>
                    <a:bodyPr/>
                    <a:lstStyle/>
                    <a:p>
                      <a:r>
                        <a:rPr lang="en-IN" dirty="0" err="1"/>
                        <a:t>updated_at</a:t>
                      </a:r>
                      <a:endParaRPr lang="en-IN" sz="18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last update time</a:t>
                      </a:r>
                      <a:endParaRPr lang="en-IN" sz="1800" dirty="0"/>
                    </a:p>
                  </a:txBody>
                  <a:tcPr marT="41564" marB="41564"/>
                </a:tc>
                <a:extLst>
                  <a:ext uri="{0D108BD9-81ED-4DB2-BD59-A6C34878D82A}">
                    <a16:rowId xmlns:a16="http://schemas.microsoft.com/office/drawing/2014/main" val="302648338"/>
                  </a:ext>
                </a:extLst>
              </a:tr>
            </a:tbl>
          </a:graphicData>
        </a:graphic>
      </p:graphicFrame>
    </p:spTree>
    <p:extLst>
      <p:ext uri="{BB962C8B-B14F-4D97-AF65-F5344CB8AC3E}">
        <p14:creationId xmlns:p14="http://schemas.microsoft.com/office/powerpoint/2010/main" val="2756954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6A1DE-9DF6-D43D-956F-2DD58FC1D71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D4BA6A1-8EEA-D0DF-36FF-154FA67A2033}"/>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5D3C27FC-1A72-4158-EED0-7E19DE96D98E}"/>
              </a:ext>
            </a:extLst>
          </p:cNvPr>
          <p:cNvSpPr>
            <a:spLocks noGrp="1"/>
          </p:cNvSpPr>
          <p:nvPr>
            <p:ph idx="1"/>
          </p:nvPr>
        </p:nvSpPr>
        <p:spPr>
          <a:xfrm>
            <a:off x="1206630" y="1253331"/>
            <a:ext cx="10515600" cy="4351338"/>
          </a:xfrm>
        </p:spPr>
        <p:txBody>
          <a:bodyPr/>
          <a:lstStyle/>
          <a:p>
            <a:r>
              <a:rPr lang="en-IN" sz="2400" b="1" dirty="0"/>
              <a:t>Sale Table</a:t>
            </a:r>
          </a:p>
        </p:txBody>
      </p:sp>
      <p:graphicFrame>
        <p:nvGraphicFramePr>
          <p:cNvPr id="2" name="Table 1">
            <a:extLst>
              <a:ext uri="{FF2B5EF4-FFF2-40B4-BE49-F238E27FC236}">
                <a16:creationId xmlns:a16="http://schemas.microsoft.com/office/drawing/2014/main" id="{78528EAF-7C98-4D23-647C-DC6004DC44B7}"/>
              </a:ext>
            </a:extLst>
          </p:cNvPr>
          <p:cNvGraphicFramePr>
            <a:graphicFrameLocks noGrp="1"/>
          </p:cNvGraphicFramePr>
          <p:nvPr>
            <p:extLst>
              <p:ext uri="{D42A27DB-BD31-4B8C-83A1-F6EECF244321}">
                <p14:modId xmlns:p14="http://schemas.microsoft.com/office/powerpoint/2010/main" val="2139382011"/>
              </p:ext>
            </p:extLst>
          </p:nvPr>
        </p:nvGraphicFramePr>
        <p:xfrm>
          <a:off x="1216057" y="1758244"/>
          <a:ext cx="10218656" cy="5009288"/>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1849632">
                  <a:extLst>
                    <a:ext uri="{9D8B030D-6E8A-4147-A177-3AD203B41FA5}">
                      <a16:colId xmlns:a16="http://schemas.microsoft.com/office/drawing/2014/main" val="1768256383"/>
                    </a:ext>
                  </a:extLst>
                </a:gridCol>
                <a:gridCol w="1511749">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sale_id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sale</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Invoice_number</a:t>
                      </a:r>
                      <a:endParaRPr lang="en-IN" dirty="0"/>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invoice number</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Customer_id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Customer</a:t>
                      </a:r>
                    </a:p>
                  </a:txBody>
                  <a:tcP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Customer_name</a:t>
                      </a:r>
                      <a:endParaRPr lang="en-IN" dirty="0"/>
                    </a:p>
                  </a:txBody>
                  <a:tcPr/>
                </a:tc>
                <a:tc>
                  <a:txBody>
                    <a:bodyPr/>
                    <a:lstStyle/>
                    <a:p>
                      <a:r>
                        <a:rPr lang="en-IN" dirty="0"/>
                        <a:t>Varchar</a:t>
                      </a:r>
                    </a:p>
                  </a:txBody>
                  <a:tcPr/>
                </a:tc>
                <a:tc>
                  <a:txBody>
                    <a:bodyPr/>
                    <a:lstStyle/>
                    <a:p>
                      <a:r>
                        <a:rPr lang="en-IN" dirty="0"/>
                        <a:t>50</a:t>
                      </a:r>
                    </a:p>
                  </a:txBody>
                  <a:tcPr/>
                </a:tc>
                <a:tc>
                  <a:txBody>
                    <a:bodyPr/>
                    <a:lstStyle/>
                    <a:p>
                      <a:r>
                        <a:rPr lang="en-IN" dirty="0"/>
                        <a:t>Null allow</a:t>
                      </a:r>
                    </a:p>
                  </a:txBody>
                  <a:tcPr/>
                </a:tc>
                <a:tc>
                  <a:txBody>
                    <a:bodyPr/>
                    <a:lstStyle/>
                    <a:p>
                      <a:r>
                        <a:rPr lang="en-IN" dirty="0"/>
                        <a:t>Stores walk-in customer name</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err="1"/>
                        <a:t>Customer_phone</a:t>
                      </a:r>
                      <a:endParaRPr lang="en-IN" dirty="0"/>
                    </a:p>
                  </a:txBody>
                  <a:tcPr/>
                </a:tc>
                <a:tc>
                  <a:txBody>
                    <a:bodyPr/>
                    <a:lstStyle/>
                    <a:p>
                      <a:r>
                        <a:rPr lang="en-IN" dirty="0"/>
                        <a:t>Integer</a:t>
                      </a:r>
                    </a:p>
                  </a:txBody>
                  <a:tcPr/>
                </a:tc>
                <a:tc>
                  <a:txBody>
                    <a:bodyPr/>
                    <a:lstStyle/>
                    <a:p>
                      <a:r>
                        <a:rPr lang="en-IN" dirty="0"/>
                        <a:t>10</a:t>
                      </a:r>
                    </a:p>
                  </a:txBody>
                  <a:tcPr/>
                </a:tc>
                <a:tc>
                  <a:txBody>
                    <a:bodyPr/>
                    <a:lstStyle/>
                    <a:p>
                      <a:r>
                        <a:rPr lang="en-IN" dirty="0"/>
                        <a:t>Null allow</a:t>
                      </a:r>
                    </a:p>
                  </a:txBody>
                  <a:tcPr/>
                </a:tc>
                <a:tc>
                  <a:txBody>
                    <a:bodyPr/>
                    <a:lstStyle/>
                    <a:p>
                      <a:r>
                        <a:rPr lang="en-IN" dirty="0"/>
                        <a:t>Stores walk-in phone number</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a:t>Date</a:t>
                      </a:r>
                    </a:p>
                  </a:txBody>
                  <a:tcPr/>
                </a:tc>
                <a:tc>
                  <a:txBody>
                    <a:bodyPr/>
                    <a:lstStyle/>
                    <a:p>
                      <a:r>
                        <a:rPr lang="en-IN" dirty="0"/>
                        <a:t>Date</a:t>
                      </a:r>
                    </a:p>
                  </a:txBody>
                  <a:tcPr/>
                </a:tc>
                <a:tc>
                  <a:txBody>
                    <a:bodyPr/>
                    <a:lstStyle/>
                    <a:p>
                      <a:r>
                        <a:rPr lang="en-IN" dirty="0"/>
                        <a:t>-</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US" dirty="0"/>
                        <a:t>Stores sale date and time</a:t>
                      </a:r>
                      <a:endParaRPr lang="en-IN" dirty="0"/>
                    </a:p>
                  </a:txBody>
                  <a:tcP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a:t>Subtotal</a:t>
                      </a:r>
                    </a:p>
                  </a:txBody>
                  <a:tcPr/>
                </a:tc>
                <a:tc>
                  <a:txBody>
                    <a:bodyPr/>
                    <a:lstStyle/>
                    <a:p>
                      <a:r>
                        <a:rPr lang="en-IN" dirty="0"/>
                        <a:t>Decimal</a:t>
                      </a:r>
                    </a:p>
                  </a:txBody>
                  <a:tcPr/>
                </a:tc>
                <a:tc>
                  <a:txBody>
                    <a:bodyPr/>
                    <a:lstStyle/>
                    <a:p>
                      <a:r>
                        <a:rPr lang="en-IN" dirty="0"/>
                        <a:t>5,2</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subtotal amount</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err="1"/>
                        <a:t>Discount_amount</a:t>
                      </a:r>
                      <a:endParaRPr lang="en-IN" dirty="0"/>
                    </a:p>
                  </a:txBody>
                  <a:tcPr/>
                </a:tc>
                <a:tc>
                  <a:txBody>
                    <a:bodyPr/>
                    <a:lstStyle/>
                    <a:p>
                      <a:r>
                        <a:rPr lang="en-IN" dirty="0"/>
                        <a:t>Decimal</a:t>
                      </a:r>
                    </a:p>
                  </a:txBody>
                  <a:tcPr/>
                </a:tc>
                <a:tc>
                  <a:txBody>
                    <a:bodyPr/>
                    <a:lstStyle/>
                    <a:p>
                      <a:r>
                        <a:rPr lang="en-IN" dirty="0"/>
                        <a:t>5,2</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discount amount</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29867120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AC1B6-ECD4-9990-77BA-3D73C01F6FBF}"/>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5E18E06-0E5B-DEA1-BCF4-2FF7C0739683}"/>
              </a:ext>
            </a:extLst>
          </p:cNvPr>
          <p:cNvGraphicFramePr>
            <a:graphicFrameLocks noGrp="1"/>
          </p:cNvGraphicFramePr>
          <p:nvPr>
            <p:extLst>
              <p:ext uri="{D42A27DB-BD31-4B8C-83A1-F6EECF244321}">
                <p14:modId xmlns:p14="http://schemas.microsoft.com/office/powerpoint/2010/main" val="73517236"/>
              </p:ext>
            </p:extLst>
          </p:nvPr>
        </p:nvGraphicFramePr>
        <p:xfrm>
          <a:off x="1140644" y="1114147"/>
          <a:ext cx="10067826" cy="4629705"/>
        </p:xfrm>
        <a:graphic>
          <a:graphicData uri="http://schemas.openxmlformats.org/drawingml/2006/table">
            <a:tbl>
              <a:tblPr firstRow="1" bandRow="1">
                <a:tableStyleId>{5C22544A-7EE6-4342-B048-85BDC9FD1C3A}</a:tableStyleId>
              </a:tblPr>
              <a:tblGrid>
                <a:gridCol w="791852">
                  <a:extLst>
                    <a:ext uri="{9D8B030D-6E8A-4147-A177-3AD203B41FA5}">
                      <a16:colId xmlns:a16="http://schemas.microsoft.com/office/drawing/2014/main" val="2361305984"/>
                    </a:ext>
                  </a:extLst>
                </a:gridCol>
                <a:gridCol w="2130458">
                  <a:extLst>
                    <a:ext uri="{9D8B030D-6E8A-4147-A177-3AD203B41FA5}">
                      <a16:colId xmlns:a16="http://schemas.microsoft.com/office/drawing/2014/main" val="1768256383"/>
                    </a:ext>
                  </a:extLst>
                </a:gridCol>
                <a:gridCol w="1216058">
                  <a:extLst>
                    <a:ext uri="{9D8B030D-6E8A-4147-A177-3AD203B41FA5}">
                      <a16:colId xmlns:a16="http://schemas.microsoft.com/office/drawing/2014/main" val="2202159465"/>
                    </a:ext>
                  </a:extLst>
                </a:gridCol>
                <a:gridCol w="942680">
                  <a:extLst>
                    <a:ext uri="{9D8B030D-6E8A-4147-A177-3AD203B41FA5}">
                      <a16:colId xmlns:a16="http://schemas.microsoft.com/office/drawing/2014/main" val="3036415337"/>
                    </a:ext>
                  </a:extLst>
                </a:gridCol>
                <a:gridCol w="2262433">
                  <a:extLst>
                    <a:ext uri="{9D8B030D-6E8A-4147-A177-3AD203B41FA5}">
                      <a16:colId xmlns:a16="http://schemas.microsoft.com/office/drawing/2014/main" val="724710868"/>
                    </a:ext>
                  </a:extLst>
                </a:gridCol>
                <a:gridCol w="2724345">
                  <a:extLst>
                    <a:ext uri="{9D8B030D-6E8A-4147-A177-3AD203B41FA5}">
                      <a16:colId xmlns:a16="http://schemas.microsoft.com/office/drawing/2014/main" val="4195210944"/>
                    </a:ext>
                  </a:extLst>
                </a:gridCol>
              </a:tblGrid>
              <a:tr h="586929">
                <a:tc>
                  <a:txBody>
                    <a:bodyPr/>
                    <a:lstStyle/>
                    <a:p>
                      <a:r>
                        <a:rPr lang="en-IN" sz="1700" dirty="0"/>
                        <a:t>SR.NO </a:t>
                      </a:r>
                    </a:p>
                  </a:txBody>
                  <a:tcPr marT="41564" marB="41564"/>
                </a:tc>
                <a:tc>
                  <a:txBody>
                    <a:bodyPr/>
                    <a:lstStyle/>
                    <a:p>
                      <a:r>
                        <a:rPr lang="en-IN" sz="1700" dirty="0"/>
                        <a:t>FILD NAME </a:t>
                      </a:r>
                    </a:p>
                  </a:txBody>
                  <a:tcPr marT="41564" marB="41564"/>
                </a:tc>
                <a:tc>
                  <a:txBody>
                    <a:bodyPr/>
                    <a:lstStyle/>
                    <a:p>
                      <a:r>
                        <a:rPr lang="en-IN" sz="1700" dirty="0"/>
                        <a:t>DATA TYPE </a:t>
                      </a:r>
                    </a:p>
                  </a:txBody>
                  <a:tcPr marT="41564" marB="41564"/>
                </a:tc>
                <a:tc>
                  <a:txBody>
                    <a:bodyPr/>
                    <a:lstStyle/>
                    <a:p>
                      <a:r>
                        <a:rPr lang="en-IN" sz="1700" dirty="0"/>
                        <a:t>SIZE</a:t>
                      </a:r>
                    </a:p>
                  </a:txBody>
                  <a:tcPr marT="41564" marB="41564"/>
                </a:tc>
                <a:tc>
                  <a:txBody>
                    <a:bodyPr/>
                    <a:lstStyle/>
                    <a:p>
                      <a:r>
                        <a:rPr lang="en-IN" sz="1700" dirty="0"/>
                        <a:t>CONSTRAINT</a:t>
                      </a:r>
                    </a:p>
                  </a:txBody>
                  <a:tcPr marT="41564" marB="41564"/>
                </a:tc>
                <a:tc>
                  <a:txBody>
                    <a:bodyPr/>
                    <a:lstStyle/>
                    <a:p>
                      <a:r>
                        <a:rPr lang="en-IN" sz="1700" dirty="0"/>
                        <a:t>DESCRIPTION</a:t>
                      </a:r>
                    </a:p>
                  </a:txBody>
                  <a:tcPr marT="41564" marB="41564"/>
                </a:tc>
                <a:extLst>
                  <a:ext uri="{0D108BD9-81ED-4DB2-BD59-A6C34878D82A}">
                    <a16:rowId xmlns:a16="http://schemas.microsoft.com/office/drawing/2014/main" val="756231417"/>
                  </a:ext>
                </a:extLst>
              </a:tr>
              <a:tr h="586929">
                <a:tc>
                  <a:txBody>
                    <a:bodyPr/>
                    <a:lstStyle/>
                    <a:p>
                      <a:r>
                        <a:rPr lang="en-IN" sz="1700" dirty="0"/>
                        <a:t>10.</a:t>
                      </a:r>
                    </a:p>
                  </a:txBody>
                  <a:tcPr marT="41564" marB="41564"/>
                </a:tc>
                <a:tc>
                  <a:txBody>
                    <a:bodyPr/>
                    <a:lstStyle/>
                    <a:p>
                      <a:r>
                        <a:rPr lang="en-IN" dirty="0" err="1"/>
                        <a:t>grand_total</a:t>
                      </a:r>
                      <a:endParaRPr lang="en-IN" sz="1800" dirty="0"/>
                    </a:p>
                  </a:txBody>
                  <a:tcPr marT="41564" marB="41564"/>
                </a:tc>
                <a:tc>
                  <a:txBody>
                    <a:bodyPr/>
                    <a:lstStyle/>
                    <a:p>
                      <a:r>
                        <a:rPr lang="en-IN" sz="1700" dirty="0"/>
                        <a:t>Decimal</a:t>
                      </a:r>
                    </a:p>
                  </a:txBody>
                  <a:tcPr marT="41564" marB="41564"/>
                </a:tc>
                <a:tc>
                  <a:txBody>
                    <a:bodyPr/>
                    <a:lstStyle/>
                    <a:p>
                      <a:r>
                        <a:rPr lang="en-IN" sz="1700" dirty="0"/>
                        <a:t>5,2</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final bill amount</a:t>
                      </a:r>
                      <a:endParaRPr lang="en-IN" sz="1800" dirty="0"/>
                    </a:p>
                  </a:txBody>
                  <a:tcPr marT="41564" marB="41564"/>
                </a:tc>
                <a:extLst>
                  <a:ext uri="{0D108BD9-81ED-4DB2-BD59-A6C34878D82A}">
                    <a16:rowId xmlns:a16="http://schemas.microsoft.com/office/drawing/2014/main" val="1046504683"/>
                  </a:ext>
                </a:extLst>
              </a:tr>
              <a:tr h="586929">
                <a:tc>
                  <a:txBody>
                    <a:bodyPr/>
                    <a:lstStyle/>
                    <a:p>
                      <a:r>
                        <a:rPr lang="en-IN" sz="1700" dirty="0"/>
                        <a:t>11.</a:t>
                      </a:r>
                    </a:p>
                  </a:txBody>
                  <a:tcPr marT="41564" marB="41564"/>
                </a:tc>
                <a:tc>
                  <a:txBody>
                    <a:bodyPr/>
                    <a:lstStyle/>
                    <a:p>
                      <a:r>
                        <a:rPr lang="en-IN" dirty="0" err="1"/>
                        <a:t>amount_paid</a:t>
                      </a:r>
                      <a:endParaRPr lang="en-IN" sz="1800" dirty="0"/>
                    </a:p>
                  </a:txBody>
                  <a:tcPr marT="41564" marB="41564"/>
                </a:tc>
                <a:tc>
                  <a:txBody>
                    <a:bodyPr/>
                    <a:lstStyle/>
                    <a:p>
                      <a:r>
                        <a:rPr lang="en-IN" sz="1700" dirty="0"/>
                        <a:t>Decimal</a:t>
                      </a:r>
                    </a:p>
                  </a:txBody>
                  <a:tcPr marT="41564" marB="41564"/>
                </a:tc>
                <a:tc>
                  <a:txBody>
                    <a:bodyPr/>
                    <a:lstStyle/>
                    <a:p>
                      <a:r>
                        <a:rPr lang="en-IN" sz="1700" dirty="0"/>
                        <a:t>5,2</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paid amount</a:t>
                      </a:r>
                      <a:endParaRPr lang="en-IN" sz="1800" dirty="0"/>
                    </a:p>
                  </a:txBody>
                  <a:tcPr marT="41564" marB="41564"/>
                </a:tc>
                <a:extLst>
                  <a:ext uri="{0D108BD9-81ED-4DB2-BD59-A6C34878D82A}">
                    <a16:rowId xmlns:a16="http://schemas.microsoft.com/office/drawing/2014/main" val="1498848976"/>
                  </a:ext>
                </a:extLst>
              </a:tr>
              <a:tr h="423765">
                <a:tc>
                  <a:txBody>
                    <a:bodyPr/>
                    <a:lstStyle/>
                    <a:p>
                      <a:r>
                        <a:rPr lang="en-IN" sz="1700" dirty="0"/>
                        <a:t>12.</a:t>
                      </a:r>
                    </a:p>
                  </a:txBody>
                  <a:tcPr marT="41564" marB="41564"/>
                </a:tc>
                <a:tc>
                  <a:txBody>
                    <a:bodyPr/>
                    <a:lstStyle/>
                    <a:p>
                      <a:r>
                        <a:rPr lang="en-IN" dirty="0" err="1"/>
                        <a:t>due_amount</a:t>
                      </a:r>
                      <a:endParaRPr lang="en-IN" sz="1800" dirty="0"/>
                    </a:p>
                  </a:txBody>
                  <a:tcPr marT="41564" marB="41564"/>
                </a:tc>
                <a:tc>
                  <a:txBody>
                    <a:bodyPr/>
                    <a:lstStyle/>
                    <a:p>
                      <a:r>
                        <a:rPr lang="en-IN" sz="1700" dirty="0"/>
                        <a:t>Decimal</a:t>
                      </a:r>
                    </a:p>
                  </a:txBody>
                  <a:tcPr marT="41564" marB="41564"/>
                </a:tc>
                <a:tc>
                  <a:txBody>
                    <a:bodyPr/>
                    <a:lstStyle/>
                    <a:p>
                      <a:r>
                        <a:rPr lang="en-IN" sz="1700" dirty="0"/>
                        <a:t>5,2</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remaining due</a:t>
                      </a:r>
                      <a:endParaRPr lang="en-IN" sz="1800" dirty="0"/>
                    </a:p>
                  </a:txBody>
                  <a:tcPr marT="41564" marB="41564"/>
                </a:tc>
                <a:extLst>
                  <a:ext uri="{0D108BD9-81ED-4DB2-BD59-A6C34878D82A}">
                    <a16:rowId xmlns:a16="http://schemas.microsoft.com/office/drawing/2014/main" val="584237038"/>
                  </a:ext>
                </a:extLst>
              </a:tr>
              <a:tr h="423765">
                <a:tc>
                  <a:txBody>
                    <a:bodyPr/>
                    <a:lstStyle/>
                    <a:p>
                      <a:r>
                        <a:rPr lang="en-IN" sz="1700" dirty="0"/>
                        <a:t>13.</a:t>
                      </a:r>
                    </a:p>
                  </a:txBody>
                  <a:tcPr marT="41564" marB="41564"/>
                </a:tc>
                <a:tc>
                  <a:txBody>
                    <a:bodyPr/>
                    <a:lstStyle/>
                    <a:p>
                      <a:r>
                        <a:rPr lang="en-IN" dirty="0" err="1"/>
                        <a:t>payment_method</a:t>
                      </a:r>
                      <a:endParaRPr lang="en-IN" sz="1800" dirty="0"/>
                    </a:p>
                  </a:txBody>
                  <a:tcPr marT="41564" marB="41564"/>
                </a:tc>
                <a:tc>
                  <a:txBody>
                    <a:bodyPr/>
                    <a:lstStyle/>
                    <a:p>
                      <a:r>
                        <a:rPr lang="en-IN" sz="1700" dirty="0"/>
                        <a:t>Varchar</a:t>
                      </a:r>
                    </a:p>
                  </a:txBody>
                  <a:tcPr marT="41564" marB="41564"/>
                </a:tc>
                <a:tc>
                  <a:txBody>
                    <a:bodyPr/>
                    <a:lstStyle/>
                    <a:p>
                      <a:r>
                        <a:rPr lang="en-IN" sz="1700" dirty="0"/>
                        <a:t>25</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payment mode</a:t>
                      </a:r>
                      <a:endParaRPr lang="en-IN" sz="1800" dirty="0"/>
                    </a:p>
                  </a:txBody>
                  <a:tcPr marT="41564" marB="41564"/>
                </a:tc>
                <a:extLst>
                  <a:ext uri="{0D108BD9-81ED-4DB2-BD59-A6C34878D82A}">
                    <a16:rowId xmlns:a16="http://schemas.microsoft.com/office/drawing/2014/main" val="2510266949"/>
                  </a:ext>
                </a:extLst>
              </a:tr>
              <a:tr h="586929">
                <a:tc>
                  <a:txBody>
                    <a:bodyPr/>
                    <a:lstStyle/>
                    <a:p>
                      <a:r>
                        <a:rPr lang="en-IN" sz="1700" dirty="0"/>
                        <a:t>14.</a:t>
                      </a:r>
                    </a:p>
                  </a:txBody>
                  <a:tcPr marT="41564" marB="41564"/>
                </a:tc>
                <a:tc>
                  <a:txBody>
                    <a:bodyPr/>
                    <a:lstStyle/>
                    <a:p>
                      <a:r>
                        <a:rPr lang="en-IN" dirty="0" err="1"/>
                        <a:t>payment_status</a:t>
                      </a:r>
                      <a:endParaRPr lang="en-IN" sz="1800" dirty="0"/>
                    </a:p>
                  </a:txBody>
                  <a:tcPr marT="41564" marB="41564"/>
                </a:tc>
                <a:tc>
                  <a:txBody>
                    <a:bodyPr/>
                    <a:lstStyle/>
                    <a:p>
                      <a:r>
                        <a:rPr kumimoji="0" lang="en-IN" sz="1700" b="0" i="0" u="none" strike="noStrike" kern="1200" cap="none" spc="0" normalizeH="0" baseline="0" noProof="0">
                          <a:ln>
                            <a:noFill/>
                          </a:ln>
                          <a:solidFill>
                            <a:prstClr val="black"/>
                          </a:solidFill>
                          <a:effectLst/>
                          <a:uLnTx/>
                          <a:uFillTx/>
                          <a:latin typeface="Calibri" panose="020F0502020204030204"/>
                          <a:ea typeface="+mn-ea"/>
                          <a:cs typeface="+mn-cs"/>
                        </a:rPr>
                        <a:t>Varchar</a:t>
                      </a:r>
                      <a:endParaRPr lang="en-IN" sz="1700" dirty="0"/>
                    </a:p>
                  </a:txBody>
                  <a:tcPr marT="41564" marB="41564"/>
                </a:tc>
                <a:tc>
                  <a:txBody>
                    <a:bodyPr/>
                    <a:lstStyle/>
                    <a:p>
                      <a:r>
                        <a:rPr lang="en-IN" sz="1700" dirty="0"/>
                        <a:t>25</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payment status</a:t>
                      </a:r>
                      <a:endParaRPr lang="en-IN" sz="1800" dirty="0"/>
                    </a:p>
                  </a:txBody>
                  <a:tcPr marT="41564" marB="41564"/>
                </a:tc>
                <a:extLst>
                  <a:ext uri="{0D108BD9-81ED-4DB2-BD59-A6C34878D82A}">
                    <a16:rowId xmlns:a16="http://schemas.microsoft.com/office/drawing/2014/main" val="1484841137"/>
                  </a:ext>
                </a:extLst>
              </a:tr>
              <a:tr h="423765">
                <a:tc>
                  <a:txBody>
                    <a:bodyPr/>
                    <a:lstStyle/>
                    <a:p>
                      <a:r>
                        <a:rPr lang="en-IN" sz="1700" dirty="0"/>
                        <a:t>15.</a:t>
                      </a:r>
                    </a:p>
                  </a:txBody>
                  <a:tcPr marT="41564" marB="41564"/>
                </a:tc>
                <a:tc>
                  <a:txBody>
                    <a:bodyPr/>
                    <a:lstStyle/>
                    <a:p>
                      <a:r>
                        <a:rPr lang="en-IN" dirty="0"/>
                        <a:t>notes</a:t>
                      </a:r>
                      <a:endParaRPr lang="en-IN" sz="1800" dirty="0"/>
                    </a:p>
                  </a:txBody>
                  <a:tcPr marT="41564" marB="41564"/>
                </a:tc>
                <a:tc>
                  <a:txBody>
                    <a:bodyPr/>
                    <a:lstStyle/>
                    <a:p>
                      <a:r>
                        <a:rPr kumimoji="0" lang="en-IN" sz="1700" b="0" i="0" u="none" strike="noStrike" kern="1200" cap="none" spc="0" normalizeH="0" baseline="0" noProof="0" dirty="0">
                          <a:ln>
                            <a:noFill/>
                          </a:ln>
                          <a:solidFill>
                            <a:prstClr val="black"/>
                          </a:solidFill>
                          <a:effectLst/>
                          <a:uLnTx/>
                          <a:uFillTx/>
                          <a:latin typeface="Calibri" panose="020F0502020204030204"/>
                          <a:ea typeface="+mn-ea"/>
                          <a:cs typeface="+mn-cs"/>
                        </a:rPr>
                        <a:t>Varchar</a:t>
                      </a:r>
                      <a:endParaRPr lang="en-IN" sz="1700" dirty="0"/>
                    </a:p>
                  </a:txBody>
                  <a:tcPr marT="41564" marB="41564"/>
                </a:tc>
                <a:tc>
                  <a:txBody>
                    <a:bodyPr/>
                    <a:lstStyle/>
                    <a:p>
                      <a:r>
                        <a:rPr lang="en-IN" sz="1700" dirty="0"/>
                        <a:t>100</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additional notes</a:t>
                      </a:r>
                      <a:endParaRPr lang="en-IN" sz="1800" dirty="0"/>
                    </a:p>
                  </a:txBody>
                  <a:tcPr marT="41564" marB="41564"/>
                </a:tc>
                <a:extLst>
                  <a:ext uri="{0D108BD9-81ED-4DB2-BD59-A6C34878D82A}">
                    <a16:rowId xmlns:a16="http://schemas.microsoft.com/office/drawing/2014/main" val="253505178"/>
                  </a:ext>
                </a:extLst>
              </a:tr>
              <a:tr h="423765">
                <a:tc>
                  <a:txBody>
                    <a:bodyPr/>
                    <a:lstStyle/>
                    <a:p>
                      <a:r>
                        <a:rPr lang="en-IN" sz="1700" dirty="0"/>
                        <a:t>16.</a:t>
                      </a:r>
                    </a:p>
                  </a:txBody>
                  <a:tcPr marT="41564" marB="41564"/>
                </a:tc>
                <a:tc>
                  <a:txBody>
                    <a:bodyPr/>
                    <a:lstStyle/>
                    <a:p>
                      <a:r>
                        <a:rPr lang="en-IN" dirty="0" err="1"/>
                        <a:t>created_at</a:t>
                      </a:r>
                      <a:endParaRPr lang="en-IN" sz="18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marT="41564" marB="41564"/>
                </a:tc>
                <a:tc>
                  <a:txBody>
                    <a:bodyPr/>
                    <a:lstStyle/>
                    <a:p>
                      <a:r>
                        <a:rPr lang="en-IN" dirty="0"/>
                        <a:t>Stores creation time</a:t>
                      </a:r>
                      <a:endParaRPr lang="en-IN" sz="1800" dirty="0"/>
                    </a:p>
                  </a:txBody>
                  <a:tcPr marT="41564" marB="41564"/>
                </a:tc>
                <a:extLst>
                  <a:ext uri="{0D108BD9-81ED-4DB2-BD59-A6C34878D82A}">
                    <a16:rowId xmlns:a16="http://schemas.microsoft.com/office/drawing/2014/main" val="3572593437"/>
                  </a:ext>
                </a:extLst>
              </a:tr>
              <a:tr h="586929">
                <a:tc>
                  <a:txBody>
                    <a:bodyPr/>
                    <a:lstStyle/>
                    <a:p>
                      <a:r>
                        <a:rPr lang="en-IN" sz="1700" dirty="0"/>
                        <a:t>17.</a:t>
                      </a:r>
                    </a:p>
                  </a:txBody>
                  <a:tcPr marT="41564" marB="41564"/>
                </a:tc>
                <a:tc>
                  <a:txBody>
                    <a:bodyPr/>
                    <a:lstStyle/>
                    <a:p>
                      <a:r>
                        <a:rPr lang="en-IN" dirty="0" err="1"/>
                        <a:t>updated_at</a:t>
                      </a:r>
                      <a:endParaRPr lang="en-IN" sz="1800" dirty="0"/>
                    </a:p>
                  </a:txBody>
                  <a:tcPr marT="41564" marB="41564"/>
                </a:tc>
                <a:tc>
                  <a:txBody>
                    <a:bodyPr/>
                    <a:lstStyle/>
                    <a:p>
                      <a:r>
                        <a:rPr lang="en-IN" sz="1700" dirty="0"/>
                        <a:t>Datetime</a:t>
                      </a:r>
                    </a:p>
                  </a:txBody>
                  <a:tcPr marT="41564" marB="41564"/>
                </a:tc>
                <a:tc>
                  <a:txBody>
                    <a:bodyPr/>
                    <a:lstStyle/>
                    <a:p>
                      <a:r>
                        <a:rPr lang="en-IN" sz="1700" dirty="0"/>
                        <a:t>-</a:t>
                      </a:r>
                    </a:p>
                  </a:txBody>
                  <a:tcPr marT="41564" marB="41564"/>
                </a:tc>
                <a:tc>
                  <a:txBody>
                    <a:bodyPr/>
                    <a:lstStyle/>
                    <a:p>
                      <a:pPr>
                        <a:buNone/>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r>
                        <a:rPr lang="en-IN" dirty="0"/>
                        <a:t>Stores update time</a:t>
                      </a:r>
                      <a:endParaRPr lang="en-IN" sz="1800" dirty="0"/>
                    </a:p>
                  </a:txBody>
                  <a:tcPr marT="41564" marB="41564"/>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3551115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F672-B9CD-1E75-CFF9-5A7B7489EAA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841BDF9-B577-CB71-A8CA-844EB5FCD2D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993F6C00-8B66-ED8E-DA37-9BE29D598449}"/>
              </a:ext>
            </a:extLst>
          </p:cNvPr>
          <p:cNvSpPr>
            <a:spLocks noGrp="1"/>
          </p:cNvSpPr>
          <p:nvPr>
            <p:ph idx="1"/>
          </p:nvPr>
        </p:nvSpPr>
        <p:spPr>
          <a:xfrm>
            <a:off x="1206630" y="1253331"/>
            <a:ext cx="10515600" cy="4351338"/>
          </a:xfrm>
        </p:spPr>
        <p:txBody>
          <a:bodyPr/>
          <a:lstStyle/>
          <a:p>
            <a:r>
              <a:rPr lang="en-IN" sz="2400" b="1" dirty="0" err="1"/>
              <a:t>Sale_item</a:t>
            </a:r>
            <a:r>
              <a:rPr lang="en-IN" sz="2400" b="1" dirty="0"/>
              <a:t> Table</a:t>
            </a:r>
          </a:p>
        </p:txBody>
      </p:sp>
      <p:graphicFrame>
        <p:nvGraphicFramePr>
          <p:cNvPr id="2" name="Table 1">
            <a:extLst>
              <a:ext uri="{FF2B5EF4-FFF2-40B4-BE49-F238E27FC236}">
                <a16:creationId xmlns:a16="http://schemas.microsoft.com/office/drawing/2014/main" id="{76D14693-3FEB-3B37-314D-F627406AC69D}"/>
              </a:ext>
            </a:extLst>
          </p:cNvPr>
          <p:cNvGraphicFramePr>
            <a:graphicFrameLocks noGrp="1"/>
          </p:cNvGraphicFramePr>
          <p:nvPr>
            <p:extLst>
              <p:ext uri="{D42A27DB-BD31-4B8C-83A1-F6EECF244321}">
                <p14:modId xmlns:p14="http://schemas.microsoft.com/office/powerpoint/2010/main" val="4197770710"/>
              </p:ext>
            </p:extLst>
          </p:nvPr>
        </p:nvGraphicFramePr>
        <p:xfrm>
          <a:off x="1216057" y="1758244"/>
          <a:ext cx="10218656" cy="4077006"/>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1849632">
                  <a:extLst>
                    <a:ext uri="{9D8B030D-6E8A-4147-A177-3AD203B41FA5}">
                      <a16:colId xmlns:a16="http://schemas.microsoft.com/office/drawing/2014/main" val="1768256383"/>
                    </a:ext>
                  </a:extLst>
                </a:gridCol>
                <a:gridCol w="1511749">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Sale_item_id</a:t>
                      </a:r>
                      <a:endParaRPr lang="en-IN" dirty="0"/>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lang="en-IN" dirty="0"/>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sale</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sale_id</a:t>
                      </a:r>
                      <a:endParaRPr lang="en-IN" dirty="0"/>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lang="en-IN" dirty="0"/>
                    </a:p>
                  </a:txBody>
                  <a:tcPr/>
                </a:tc>
                <a:tc>
                  <a:txBody>
                    <a:bodyPr/>
                    <a:lstStyle/>
                    <a:p>
                      <a:r>
                        <a:rPr lang="en-IN" dirty="0"/>
                        <a:t>4</a:t>
                      </a:r>
                    </a:p>
                  </a:txBody>
                  <a:tcPr/>
                </a:tc>
                <a:tc>
                  <a:txBody>
                    <a:bodyPr/>
                    <a:lstStyle/>
                    <a:p>
                      <a:r>
                        <a:rPr lang="en-IN" dirty="0"/>
                        <a:t>Foreign key</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Medicine_id</a:t>
                      </a:r>
                      <a:endParaRPr lang="en-IN"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Integer</a:t>
                      </a:r>
                      <a:endParaRPr lang="en-IN" dirty="0"/>
                    </a:p>
                  </a:txBody>
                  <a:tcPr/>
                </a:tc>
                <a:tc>
                  <a:txBody>
                    <a:bodyPr/>
                    <a:lstStyle/>
                    <a:p>
                      <a:r>
                        <a:rPr lang="en-IN" dirty="0"/>
                        <a:t>4</a:t>
                      </a:r>
                    </a:p>
                  </a:txBody>
                  <a:tcPr/>
                </a:tc>
                <a:tc>
                  <a:txBody>
                    <a:bodyPr/>
                    <a:lstStyle/>
                    <a:p>
                      <a:r>
                        <a:rPr lang="en-IN" dirty="0"/>
                        <a:t>Not null</a:t>
                      </a:r>
                    </a:p>
                  </a:txBody>
                  <a:tcPr/>
                </a:tc>
                <a:tc>
                  <a:txBody>
                    <a:bodyPr/>
                    <a:lstStyle/>
                    <a:p>
                      <a:r>
                        <a:rPr lang="en-IN" dirty="0"/>
                        <a:t>Stores invoice number</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a:t>Medicine_name</a:t>
                      </a:r>
                    </a:p>
                  </a:txBody>
                  <a:tcPr/>
                </a:tc>
                <a:tc>
                  <a:txBody>
                    <a:bodyPr/>
                    <a:lstStyle/>
                    <a:p>
                      <a:r>
                        <a:rPr lang="en-IN" dirty="0"/>
                        <a:t>Varchar</a:t>
                      </a:r>
                    </a:p>
                  </a:txBody>
                  <a:tcPr/>
                </a:tc>
                <a:tc>
                  <a:txBody>
                    <a:bodyPr/>
                    <a:lstStyle/>
                    <a:p>
                      <a:r>
                        <a:rPr lang="en-IN" dirty="0"/>
                        <a:t>25</a:t>
                      </a:r>
                    </a:p>
                  </a:txBody>
                  <a:tcPr/>
                </a:tc>
                <a:tc>
                  <a:txBody>
                    <a:bodyPr/>
                    <a:lstStyle/>
                    <a:p>
                      <a:r>
                        <a:rPr lang="en-IN" dirty="0"/>
                        <a:t>Foreign Key</a:t>
                      </a:r>
                    </a:p>
                  </a:txBody>
                  <a:tcPr/>
                </a:tc>
                <a:tc>
                  <a:txBody>
                    <a:bodyPr/>
                    <a:lstStyle/>
                    <a:p>
                      <a:r>
                        <a:rPr lang="en-IN" dirty="0"/>
                        <a:t>References Customer</a:t>
                      </a:r>
                    </a:p>
                  </a:txBody>
                  <a:tcP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a:t>Quantity</a:t>
                      </a:r>
                    </a:p>
                  </a:txBody>
                  <a:tcPr/>
                </a:tc>
                <a:tc>
                  <a:txBody>
                    <a:bodyPr/>
                    <a:lstStyle/>
                    <a:p>
                      <a:r>
                        <a:rPr lang="en-IN" dirty="0"/>
                        <a:t>Integer</a:t>
                      </a:r>
                    </a:p>
                  </a:txBody>
                  <a:tcPr/>
                </a:tc>
                <a:tc>
                  <a:txBody>
                    <a:bodyPr/>
                    <a:lstStyle/>
                    <a:p>
                      <a:r>
                        <a:rPr lang="en-IN" dirty="0"/>
                        <a:t>4</a:t>
                      </a:r>
                    </a:p>
                  </a:txBody>
                  <a:tcPr/>
                </a:tc>
                <a:tc>
                  <a:txBody>
                    <a:bodyPr/>
                    <a:lstStyle/>
                    <a:p>
                      <a:r>
                        <a:rPr lang="en-IN" dirty="0"/>
                        <a:t>Null allow</a:t>
                      </a:r>
                    </a:p>
                  </a:txBody>
                  <a:tcPr/>
                </a:tc>
                <a:tc>
                  <a:txBody>
                    <a:bodyPr/>
                    <a:lstStyle/>
                    <a:p>
                      <a:r>
                        <a:rPr lang="en-IN" dirty="0"/>
                        <a:t>Stores walk-in customer name</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err="1"/>
                        <a:t>Unit_price</a:t>
                      </a:r>
                      <a:endParaRPr lang="en-IN" dirty="0"/>
                    </a:p>
                  </a:txBody>
                  <a:tcPr/>
                </a:tc>
                <a:tc>
                  <a:txBody>
                    <a:bodyPr/>
                    <a:lstStyle/>
                    <a:p>
                      <a:r>
                        <a:rPr lang="en-IN" dirty="0"/>
                        <a:t>Decimal</a:t>
                      </a:r>
                    </a:p>
                  </a:txBody>
                  <a:tcPr/>
                </a:tc>
                <a:tc>
                  <a:txBody>
                    <a:bodyPr/>
                    <a:lstStyle/>
                    <a:p>
                      <a:r>
                        <a:rPr lang="en-IN" dirty="0"/>
                        <a:t>5,2</a:t>
                      </a:r>
                    </a:p>
                  </a:txBody>
                  <a:tcPr/>
                </a:tc>
                <a:tc>
                  <a:txBody>
                    <a:bodyPr/>
                    <a:lstStyle/>
                    <a:p>
                      <a:r>
                        <a:rPr lang="en-IN" dirty="0"/>
                        <a:t>Null allow</a:t>
                      </a:r>
                    </a:p>
                  </a:txBody>
                  <a:tcPr/>
                </a:tc>
                <a:tc>
                  <a:txBody>
                    <a:bodyPr/>
                    <a:lstStyle/>
                    <a:p>
                      <a:r>
                        <a:rPr lang="en-IN" dirty="0"/>
                        <a:t>Stores walk-in phone number</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err="1"/>
                        <a:t>Total_price</a:t>
                      </a:r>
                      <a:endParaRPr lang="en-IN" dirty="0"/>
                    </a:p>
                  </a:txBody>
                  <a:tcPr/>
                </a:tc>
                <a:tc>
                  <a:txBody>
                    <a:bodyPr/>
                    <a:lstStyle/>
                    <a:p>
                      <a:r>
                        <a:rPr lang="en-IN" dirty="0"/>
                        <a:t>Decimal</a:t>
                      </a:r>
                    </a:p>
                  </a:txBody>
                  <a:tcPr/>
                </a:tc>
                <a:tc>
                  <a:txBody>
                    <a:bodyPr/>
                    <a:lstStyle/>
                    <a:p>
                      <a:r>
                        <a:rPr lang="en-IN" dirty="0"/>
                        <a:t>5,2</a:t>
                      </a:r>
                    </a:p>
                  </a:txBody>
                  <a:tcPr/>
                </a:tc>
                <a:tc>
                  <a:txBody>
                    <a:bodyPr/>
                    <a:lstStyle/>
                    <a:p>
                      <a:r>
                        <a:rPr lang="en-IN" sz="1800" dirty="0"/>
                        <a:t>Not null</a:t>
                      </a:r>
                      <a:endParaRPr lang="en-IN" dirty="0"/>
                    </a:p>
                  </a:txBody>
                  <a:tcPr/>
                </a:tc>
                <a:tc>
                  <a:txBody>
                    <a:bodyPr/>
                    <a:lstStyle/>
                    <a:p>
                      <a:r>
                        <a:rPr lang="en-US" dirty="0"/>
                        <a:t>Stores sale date and time</a:t>
                      </a:r>
                      <a:endParaRPr lang="en-IN" dirty="0"/>
                    </a:p>
                  </a:txBody>
                  <a:tcPr/>
                </a:tc>
                <a:extLst>
                  <a:ext uri="{0D108BD9-81ED-4DB2-BD59-A6C34878D82A}">
                    <a16:rowId xmlns:a16="http://schemas.microsoft.com/office/drawing/2014/main" val="253505178"/>
                  </a:ext>
                </a:extLst>
              </a:tr>
            </a:tbl>
          </a:graphicData>
        </a:graphic>
      </p:graphicFrame>
    </p:spTree>
    <p:extLst>
      <p:ext uri="{BB962C8B-B14F-4D97-AF65-F5344CB8AC3E}">
        <p14:creationId xmlns:p14="http://schemas.microsoft.com/office/powerpoint/2010/main" val="408941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08ED-40C8-334E-92D6-9FB8C6DA3D2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9A5154B-5B4B-B26A-AA65-3E15FEE10E31}"/>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C80FC986-C96F-E22D-F871-847EFC8D1129}"/>
              </a:ext>
            </a:extLst>
          </p:cNvPr>
          <p:cNvSpPr>
            <a:spLocks noGrp="1"/>
          </p:cNvSpPr>
          <p:nvPr>
            <p:ph idx="1"/>
          </p:nvPr>
        </p:nvSpPr>
        <p:spPr>
          <a:xfrm>
            <a:off x="1206630" y="1253331"/>
            <a:ext cx="10515600" cy="4351338"/>
          </a:xfrm>
        </p:spPr>
        <p:txBody>
          <a:bodyPr/>
          <a:lstStyle/>
          <a:p>
            <a:r>
              <a:rPr lang="en-IN" sz="2400" b="1" dirty="0"/>
              <a:t>Debtor Table</a:t>
            </a:r>
          </a:p>
        </p:txBody>
      </p:sp>
      <p:graphicFrame>
        <p:nvGraphicFramePr>
          <p:cNvPr id="2" name="Table 1">
            <a:extLst>
              <a:ext uri="{FF2B5EF4-FFF2-40B4-BE49-F238E27FC236}">
                <a16:creationId xmlns:a16="http://schemas.microsoft.com/office/drawing/2014/main" id="{9ADD6A4B-F2A6-77A5-EBA8-9B4227E7F541}"/>
              </a:ext>
            </a:extLst>
          </p:cNvPr>
          <p:cNvGraphicFramePr>
            <a:graphicFrameLocks noGrp="1"/>
          </p:cNvGraphicFramePr>
          <p:nvPr>
            <p:extLst>
              <p:ext uri="{D42A27DB-BD31-4B8C-83A1-F6EECF244321}">
                <p14:modId xmlns:p14="http://schemas.microsoft.com/office/powerpoint/2010/main" val="4138348554"/>
              </p:ext>
            </p:extLst>
          </p:nvPr>
        </p:nvGraphicFramePr>
        <p:xfrm>
          <a:off x="1216057" y="1758244"/>
          <a:ext cx="10218656" cy="4835349"/>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2055044">
                  <a:extLst>
                    <a:ext uri="{9D8B030D-6E8A-4147-A177-3AD203B41FA5}">
                      <a16:colId xmlns:a16="http://schemas.microsoft.com/office/drawing/2014/main" val="1768256383"/>
                    </a:ext>
                  </a:extLst>
                </a:gridCol>
                <a:gridCol w="1306337">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debtor_id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debtor record</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 </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Customer_id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Customer</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Total_due</a:t>
                      </a:r>
                      <a:endParaRPr lang="en-IN" dirty="0"/>
                    </a:p>
                  </a:txBody>
                  <a:tcPr/>
                </a:tc>
                <a:tc>
                  <a:txBody>
                    <a:bodyPr/>
                    <a:lstStyle/>
                    <a:p>
                      <a:r>
                        <a:rPr lang="en-IN" dirty="0"/>
                        <a:t>Decimal</a:t>
                      </a:r>
                    </a:p>
                  </a:txBody>
                  <a:tcPr/>
                </a:tc>
                <a:tc>
                  <a:txBody>
                    <a:bodyPr/>
                    <a:lstStyle/>
                    <a:p>
                      <a:r>
                        <a:rPr lang="en-IN" dirty="0"/>
                        <a:t>5,2</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pPr algn="l" fontAlgn="base">
                        <a:buNone/>
                      </a:pPr>
                      <a:r>
                        <a:rPr lang="en-IN" dirty="0">
                          <a:effectLst/>
                        </a:rPr>
                        <a:t>Stores total due amount</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Overdue_amount</a:t>
                      </a:r>
                      <a:endParaRPr lang="en-IN" dirty="0"/>
                    </a:p>
                  </a:txBody>
                  <a:tcPr/>
                </a:tc>
                <a:tc>
                  <a:txBody>
                    <a:bodyPr/>
                    <a:lstStyle/>
                    <a:p>
                      <a:r>
                        <a:rPr lang="en-IN" dirty="0"/>
                        <a:t>Decimal</a:t>
                      </a:r>
                    </a:p>
                  </a:txBody>
                  <a:tcPr/>
                </a:tc>
                <a:tc>
                  <a:txBody>
                    <a:bodyPr/>
                    <a:lstStyle/>
                    <a:p>
                      <a:r>
                        <a:rPr lang="en-IN" dirty="0"/>
                        <a:t>5,2</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overdue amount</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err="1"/>
                        <a:t>last_reminder_date</a:t>
                      </a:r>
                      <a:endParaRPr lang="en-IN" dirty="0"/>
                    </a:p>
                  </a:txBody>
                  <a:tcPr/>
                </a:tc>
                <a:tc>
                  <a:txBody>
                    <a:bodyPr/>
                    <a:lstStyle/>
                    <a:p>
                      <a:r>
                        <a:rPr lang="en-IN" dirty="0"/>
                        <a:t>Date</a:t>
                      </a:r>
                    </a:p>
                  </a:txBody>
                  <a:tcPr/>
                </a:tc>
                <a:tc>
                  <a:txBody>
                    <a:bodyPr/>
                    <a:lstStyle/>
                    <a:p>
                      <a:r>
                        <a:rPr lang="en-IN" dirty="0"/>
                        <a:t>-</a:t>
                      </a:r>
                    </a:p>
                  </a:txBody>
                  <a:tcPr/>
                </a:tc>
                <a:tc>
                  <a:txBody>
                    <a:bodyPr/>
                    <a:lstStyle/>
                    <a:p>
                      <a:r>
                        <a:rPr lang="en-IN" dirty="0"/>
                        <a:t>Null allow</a:t>
                      </a:r>
                    </a:p>
                  </a:txBody>
                  <a:tcPr/>
                </a:tc>
                <a:tc>
                  <a:txBody>
                    <a:bodyPr/>
                    <a:lstStyle/>
                    <a:p>
                      <a:r>
                        <a:rPr lang="en-IN" dirty="0"/>
                        <a:t>Stores last reminder date</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a:t>Notes</a:t>
                      </a:r>
                    </a:p>
                  </a:txBody>
                  <a:tcPr/>
                </a:tc>
                <a:tc>
                  <a:txBody>
                    <a:bodyPr/>
                    <a:lstStyle/>
                    <a:p>
                      <a:r>
                        <a:rPr lang="en-IN" dirty="0"/>
                        <a:t>Varchar</a:t>
                      </a:r>
                    </a:p>
                  </a:txBody>
                  <a:tcPr/>
                </a:tc>
                <a:tc>
                  <a:txBody>
                    <a:bodyPr/>
                    <a:lstStyle/>
                    <a:p>
                      <a:r>
                        <a:rPr lang="en-IN" dirty="0"/>
                        <a:t>200</a:t>
                      </a:r>
                    </a:p>
                  </a:txBody>
                  <a:tcPr/>
                </a:tc>
                <a:tc>
                  <a:txBody>
                    <a:bodyPr/>
                    <a:lstStyle/>
                    <a:p>
                      <a:pPr>
                        <a:buNone/>
                      </a:pPr>
                      <a:r>
                        <a:rPr lang="en-IN" dirty="0"/>
                        <a:t>Null Allow</a:t>
                      </a:r>
                    </a:p>
                  </a:txBody>
                  <a:tcPr anchor="ctr"/>
                </a:tc>
                <a:tc>
                  <a:txBody>
                    <a:bodyPr/>
                    <a:lstStyle/>
                    <a:p>
                      <a:pPr>
                        <a:buNone/>
                      </a:pPr>
                      <a:r>
                        <a:rPr lang="en-IN" dirty="0"/>
                        <a:t>Stores remarks</a:t>
                      </a:r>
                    </a:p>
                  </a:txBody>
                  <a:tcPr anchor="ct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created_at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creation time</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err="1"/>
                        <a:t>updated_at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update time</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3257590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C1F2-25FE-8E16-A8AD-6D2007EEBDE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241AE4-9845-34BF-1FD9-4EE4596FD042}"/>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BF0814C9-E5FE-8B3B-4374-2AA4FA3C9C21}"/>
              </a:ext>
            </a:extLst>
          </p:cNvPr>
          <p:cNvSpPr>
            <a:spLocks noGrp="1"/>
          </p:cNvSpPr>
          <p:nvPr>
            <p:ph idx="1"/>
          </p:nvPr>
        </p:nvSpPr>
        <p:spPr>
          <a:xfrm>
            <a:off x="1206630" y="1253331"/>
            <a:ext cx="10515600" cy="4351338"/>
          </a:xfrm>
        </p:spPr>
        <p:txBody>
          <a:bodyPr/>
          <a:lstStyle/>
          <a:p>
            <a:r>
              <a:rPr lang="en-IN" sz="2400" b="1" dirty="0"/>
              <a:t>Payment Table</a:t>
            </a:r>
          </a:p>
        </p:txBody>
      </p:sp>
      <p:graphicFrame>
        <p:nvGraphicFramePr>
          <p:cNvPr id="2" name="Table 1">
            <a:extLst>
              <a:ext uri="{FF2B5EF4-FFF2-40B4-BE49-F238E27FC236}">
                <a16:creationId xmlns:a16="http://schemas.microsoft.com/office/drawing/2014/main" id="{AAC1E51E-FE16-513F-9C57-04ADE1DC99B0}"/>
              </a:ext>
            </a:extLst>
          </p:cNvPr>
          <p:cNvGraphicFramePr>
            <a:graphicFrameLocks noGrp="1"/>
          </p:cNvGraphicFramePr>
          <p:nvPr>
            <p:extLst>
              <p:ext uri="{D42A27DB-BD31-4B8C-83A1-F6EECF244321}">
                <p14:modId xmlns:p14="http://schemas.microsoft.com/office/powerpoint/2010/main" val="346782965"/>
              </p:ext>
            </p:extLst>
          </p:nvPr>
        </p:nvGraphicFramePr>
        <p:xfrm>
          <a:off x="1216057" y="1758244"/>
          <a:ext cx="10218656" cy="4835349"/>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2055044">
                  <a:extLst>
                    <a:ext uri="{9D8B030D-6E8A-4147-A177-3AD203B41FA5}">
                      <a16:colId xmlns:a16="http://schemas.microsoft.com/office/drawing/2014/main" val="1768256383"/>
                    </a:ext>
                  </a:extLst>
                </a:gridCol>
                <a:gridCol w="1306337">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payment_id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payment</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debtor_id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 </a:t>
                      </a:r>
                    </a:p>
                  </a:txBody>
                  <a:tcPr/>
                </a:tc>
                <a:tc>
                  <a:txBody>
                    <a:bodyPr/>
                    <a:lstStyle/>
                    <a:p>
                      <a:r>
                        <a:rPr lang="en-IN" dirty="0"/>
                        <a:t>References Debtor</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sale_id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Sale</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a:t>Amount</a:t>
                      </a:r>
                    </a:p>
                  </a:txBody>
                  <a:tcPr/>
                </a:tc>
                <a:tc>
                  <a:txBody>
                    <a:bodyPr/>
                    <a:lstStyle/>
                    <a:p>
                      <a:r>
                        <a:rPr lang="en-IN" dirty="0"/>
                        <a:t>Decimal</a:t>
                      </a:r>
                    </a:p>
                  </a:txBody>
                  <a:tcPr/>
                </a:tc>
                <a:tc>
                  <a:txBody>
                    <a:bodyPr/>
                    <a:lstStyle/>
                    <a:p>
                      <a:r>
                        <a:rPr lang="en-IN" dirty="0"/>
                        <a:t>12,2</a:t>
                      </a:r>
                    </a:p>
                  </a:txBody>
                  <a:tcPr/>
                </a:tc>
                <a:tc>
                  <a:txBody>
                    <a:bodyPr/>
                    <a:lstStyle/>
                    <a:p>
                      <a:r>
                        <a:rPr lang="en-IN" dirty="0"/>
                        <a:t>Not null</a:t>
                      </a:r>
                    </a:p>
                  </a:txBody>
                  <a:tcPr/>
                </a:tc>
                <a:tc>
                  <a:txBody>
                    <a:bodyPr/>
                    <a:lstStyle/>
                    <a:p>
                      <a:pPr algn="l" fontAlgn="base">
                        <a:buNone/>
                      </a:pPr>
                      <a:r>
                        <a:rPr lang="en-IN" dirty="0"/>
                        <a:t>Stores payment amount</a:t>
                      </a:r>
                      <a:endParaRPr lang="en-IN" dirty="0">
                        <a:effectLst/>
                      </a:endParaRP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Payment_date</a:t>
                      </a:r>
                      <a:endParaRPr lang="en-IN" dirty="0"/>
                    </a:p>
                  </a:txBody>
                  <a:tcPr/>
                </a:tc>
                <a:tc>
                  <a:txBody>
                    <a:bodyPr/>
                    <a:lstStyle/>
                    <a:p>
                      <a:r>
                        <a:rPr lang="en-IN" dirty="0"/>
                        <a:t>Date</a:t>
                      </a:r>
                    </a:p>
                  </a:txBody>
                  <a:tcPr/>
                </a:tc>
                <a:tc>
                  <a:txBody>
                    <a:bodyPr/>
                    <a:lstStyle/>
                    <a:p>
                      <a:r>
                        <a:rPr lang="en-IN" dirty="0"/>
                        <a:t>-</a:t>
                      </a:r>
                    </a:p>
                  </a:txBody>
                  <a:tcPr/>
                </a:tc>
                <a:tc>
                  <a:txBody>
                    <a:bodyPr/>
                    <a:lstStyle/>
                    <a:p>
                      <a:r>
                        <a:rPr lang="en-IN" sz="1800" dirty="0"/>
                        <a:t>Not null</a:t>
                      </a:r>
                      <a:endParaRPr lang="en-IN" dirty="0"/>
                    </a:p>
                  </a:txBody>
                  <a:tcPr/>
                </a:tc>
                <a:tc>
                  <a:txBody>
                    <a:bodyPr/>
                    <a:lstStyle/>
                    <a:p>
                      <a:r>
                        <a:rPr lang="en-IN" dirty="0"/>
                        <a:t>Stores payment date</a:t>
                      </a:r>
                    </a:p>
                  </a:txBody>
                  <a:tcP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err="1"/>
                        <a:t>Payment_method</a:t>
                      </a:r>
                      <a:endParaRPr lang="en-IN" dirty="0"/>
                    </a:p>
                  </a:txBody>
                  <a:tcPr/>
                </a:tc>
                <a:tc>
                  <a:txBody>
                    <a:bodyPr/>
                    <a:lstStyle/>
                    <a:p>
                      <a:r>
                        <a:rPr lang="en-IN" dirty="0"/>
                        <a:t>varchar</a:t>
                      </a:r>
                    </a:p>
                  </a:txBody>
                  <a:tcPr/>
                </a:tc>
                <a:tc>
                  <a:txBody>
                    <a:bodyPr/>
                    <a:lstStyle/>
                    <a:p>
                      <a:r>
                        <a:rPr lang="en-IN" dirty="0"/>
                        <a:t>25</a:t>
                      </a:r>
                    </a:p>
                  </a:txBody>
                  <a:tcPr/>
                </a:tc>
                <a:tc>
                  <a:txBody>
                    <a:bodyPr/>
                    <a:lstStyle/>
                    <a:p>
                      <a:r>
                        <a:rPr lang="en-IN" dirty="0"/>
                        <a:t>Null allow</a:t>
                      </a:r>
                    </a:p>
                  </a:txBody>
                  <a:tcPr/>
                </a:tc>
                <a:tc>
                  <a:txBody>
                    <a:bodyPr/>
                    <a:lstStyle/>
                    <a:p>
                      <a:r>
                        <a:rPr lang="en-IN" dirty="0"/>
                        <a:t>Stores payment type</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a:t>Notes</a:t>
                      </a:r>
                    </a:p>
                  </a:txBody>
                  <a:tcPr/>
                </a:tc>
                <a:tc>
                  <a:txBody>
                    <a:bodyPr/>
                    <a:lstStyle/>
                    <a:p>
                      <a:r>
                        <a:rPr lang="en-IN" dirty="0"/>
                        <a:t>Varchar</a:t>
                      </a:r>
                    </a:p>
                  </a:txBody>
                  <a:tcPr/>
                </a:tc>
                <a:tc>
                  <a:txBody>
                    <a:bodyPr/>
                    <a:lstStyle/>
                    <a:p>
                      <a:r>
                        <a:rPr lang="en-IN" dirty="0"/>
                        <a:t>200</a:t>
                      </a:r>
                    </a:p>
                  </a:txBody>
                  <a:tcPr/>
                </a:tc>
                <a:tc>
                  <a:txBody>
                    <a:bodyPr/>
                    <a:lstStyle/>
                    <a:p>
                      <a:pPr>
                        <a:buNone/>
                      </a:pPr>
                      <a:r>
                        <a:rPr lang="en-IN" dirty="0"/>
                        <a:t>Null Allow</a:t>
                      </a:r>
                    </a:p>
                  </a:txBody>
                  <a:tcPr anchor="ctr"/>
                </a:tc>
                <a:tc>
                  <a:txBody>
                    <a:bodyPr/>
                    <a:lstStyle/>
                    <a:p>
                      <a:pPr>
                        <a:buNone/>
                      </a:pPr>
                      <a:r>
                        <a:rPr lang="en-IN" dirty="0"/>
                        <a:t>Stores remarks</a:t>
                      </a:r>
                    </a:p>
                  </a:txBody>
                  <a:tcPr anchor="ct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Recived_by_id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 </a:t>
                      </a:r>
                    </a:p>
                  </a:txBody>
                  <a:tcPr/>
                </a:tc>
                <a:tc>
                  <a:txBody>
                    <a:bodyPr/>
                    <a:lstStyle/>
                    <a:p>
                      <a:r>
                        <a:rPr lang="en-IN" dirty="0"/>
                        <a:t>References User</a:t>
                      </a:r>
                    </a:p>
                  </a:txBody>
                  <a:tcPr/>
                </a:tc>
                <a:extLst>
                  <a:ext uri="{0D108BD9-81ED-4DB2-BD59-A6C34878D82A}">
                    <a16:rowId xmlns:a16="http://schemas.microsoft.com/office/drawing/2014/main" val="3572593437"/>
                  </a:ext>
                </a:extLst>
              </a:tr>
              <a:tr h="466141">
                <a:tc>
                  <a:txBody>
                    <a:bodyPr/>
                    <a:lstStyle/>
                    <a:p>
                      <a:r>
                        <a:rPr lang="en-IN" dirty="0"/>
                        <a:t>9.</a:t>
                      </a:r>
                    </a:p>
                  </a:txBody>
                  <a:tcPr/>
                </a:tc>
                <a:tc>
                  <a:txBody>
                    <a:bodyPr/>
                    <a:lstStyle/>
                    <a:p>
                      <a:r>
                        <a:rPr lang="en-IN" dirty="0" err="1"/>
                        <a:t>updated_at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lang="en-IN" sz="1800" dirty="0"/>
                        <a:t>Not null</a:t>
                      </a:r>
                      <a:endParaRPr lang="en-IN" dirty="0"/>
                    </a:p>
                  </a:txBody>
                  <a:tcPr/>
                </a:tc>
                <a:tc>
                  <a:txBody>
                    <a:bodyPr/>
                    <a:lstStyle/>
                    <a:p>
                      <a:r>
                        <a:rPr lang="en-IN" dirty="0"/>
                        <a:t>Stores update time</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12494979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0F3F2-9221-7A71-FA92-4D64EA9904F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2DA3627-07D5-E65B-1581-2B8B7EE95FB1}"/>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F56A0977-45CF-3778-DC46-A04FB579AC7F}"/>
              </a:ext>
            </a:extLst>
          </p:cNvPr>
          <p:cNvSpPr>
            <a:spLocks noGrp="1"/>
          </p:cNvSpPr>
          <p:nvPr>
            <p:ph idx="1"/>
          </p:nvPr>
        </p:nvSpPr>
        <p:spPr>
          <a:xfrm>
            <a:off x="1206630" y="1253331"/>
            <a:ext cx="10515600" cy="4351338"/>
          </a:xfrm>
        </p:spPr>
        <p:txBody>
          <a:bodyPr/>
          <a:lstStyle/>
          <a:p>
            <a:r>
              <a:rPr lang="en-IN" sz="2400" b="1" dirty="0" err="1"/>
              <a:t>Activity_log</a:t>
            </a:r>
            <a:r>
              <a:rPr lang="en-IN" sz="2400" b="1" dirty="0"/>
              <a:t> Table</a:t>
            </a:r>
          </a:p>
        </p:txBody>
      </p:sp>
      <p:graphicFrame>
        <p:nvGraphicFramePr>
          <p:cNvPr id="2" name="Table 1">
            <a:extLst>
              <a:ext uri="{FF2B5EF4-FFF2-40B4-BE49-F238E27FC236}">
                <a16:creationId xmlns:a16="http://schemas.microsoft.com/office/drawing/2014/main" id="{46B6C88F-5012-4B00-4874-925E8DFAFA9F}"/>
              </a:ext>
            </a:extLst>
          </p:cNvPr>
          <p:cNvGraphicFramePr>
            <a:graphicFrameLocks noGrp="1"/>
          </p:cNvGraphicFramePr>
          <p:nvPr>
            <p:extLst>
              <p:ext uri="{D42A27DB-BD31-4B8C-83A1-F6EECF244321}">
                <p14:modId xmlns:p14="http://schemas.microsoft.com/office/powerpoint/2010/main" val="1030176814"/>
              </p:ext>
            </p:extLst>
          </p:nvPr>
        </p:nvGraphicFramePr>
        <p:xfrm>
          <a:off x="1206630" y="2167743"/>
          <a:ext cx="10218656" cy="3262987"/>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2055044">
                  <a:extLst>
                    <a:ext uri="{9D8B030D-6E8A-4147-A177-3AD203B41FA5}">
                      <a16:colId xmlns:a16="http://schemas.microsoft.com/office/drawing/2014/main" val="1768256383"/>
                    </a:ext>
                  </a:extLst>
                </a:gridCol>
                <a:gridCol w="1306337">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pPr algn="just"/>
                      <a:r>
                        <a:rPr lang="en-IN" dirty="0"/>
                        <a:t>SR.NO </a:t>
                      </a:r>
                    </a:p>
                  </a:txBody>
                  <a:tcPr/>
                </a:tc>
                <a:tc>
                  <a:txBody>
                    <a:bodyPr/>
                    <a:lstStyle/>
                    <a:p>
                      <a:pPr algn="just"/>
                      <a:r>
                        <a:rPr lang="en-IN" dirty="0"/>
                        <a:t>FILD NAME </a:t>
                      </a:r>
                    </a:p>
                  </a:txBody>
                  <a:tcPr/>
                </a:tc>
                <a:tc>
                  <a:txBody>
                    <a:bodyPr/>
                    <a:lstStyle/>
                    <a:p>
                      <a:pPr algn="just"/>
                      <a:r>
                        <a:rPr lang="en-IN" dirty="0"/>
                        <a:t>DATA TYPE </a:t>
                      </a:r>
                    </a:p>
                  </a:txBody>
                  <a:tcPr/>
                </a:tc>
                <a:tc>
                  <a:txBody>
                    <a:bodyPr/>
                    <a:lstStyle/>
                    <a:p>
                      <a:pPr algn="just"/>
                      <a:r>
                        <a:rPr lang="en-IN" dirty="0"/>
                        <a:t>SIZE</a:t>
                      </a:r>
                    </a:p>
                  </a:txBody>
                  <a:tcPr/>
                </a:tc>
                <a:tc>
                  <a:txBody>
                    <a:bodyPr/>
                    <a:lstStyle/>
                    <a:p>
                      <a:pPr algn="just"/>
                      <a:r>
                        <a:rPr lang="en-IN" dirty="0"/>
                        <a:t>CONSTRAINT</a:t>
                      </a:r>
                    </a:p>
                  </a:txBody>
                  <a:tcPr/>
                </a:tc>
                <a:tc>
                  <a:txBody>
                    <a:bodyPr/>
                    <a:lstStyle/>
                    <a:p>
                      <a:pPr algn="just"/>
                      <a:r>
                        <a:rPr lang="en-IN" dirty="0"/>
                        <a:t>DESCRIPTION</a:t>
                      </a:r>
                    </a:p>
                  </a:txBody>
                  <a:tcPr/>
                </a:tc>
                <a:extLst>
                  <a:ext uri="{0D108BD9-81ED-4DB2-BD59-A6C34878D82A}">
                    <a16:rowId xmlns:a16="http://schemas.microsoft.com/office/drawing/2014/main" val="756231417"/>
                  </a:ext>
                </a:extLst>
              </a:tr>
              <a:tr h="466141">
                <a:tc>
                  <a:txBody>
                    <a:bodyPr/>
                    <a:lstStyle/>
                    <a:p>
                      <a:pPr algn="just"/>
                      <a:r>
                        <a:rPr lang="en-IN" dirty="0"/>
                        <a:t>1.</a:t>
                      </a:r>
                    </a:p>
                  </a:txBody>
                  <a:tcPr/>
                </a:tc>
                <a:tc>
                  <a:txBody>
                    <a:bodyPr/>
                    <a:lstStyle/>
                    <a:p>
                      <a:pPr algn="just"/>
                      <a:r>
                        <a:rPr lang="en-IN" dirty="0" err="1"/>
                        <a:t>log_id</a:t>
                      </a:r>
                      <a:endParaRPr lang="en-IN" dirty="0"/>
                    </a:p>
                  </a:txBody>
                  <a:tcPr/>
                </a:tc>
                <a:tc>
                  <a:txBody>
                    <a:bodyPr/>
                    <a:lstStyle/>
                    <a:p>
                      <a:pPr algn="just"/>
                      <a:r>
                        <a:rPr lang="en-IN" dirty="0"/>
                        <a:t>Integer</a:t>
                      </a:r>
                    </a:p>
                  </a:txBody>
                  <a:tcPr/>
                </a:tc>
                <a:tc>
                  <a:txBody>
                    <a:bodyPr/>
                    <a:lstStyle/>
                    <a:p>
                      <a:pPr algn="just"/>
                      <a:r>
                        <a:rPr lang="en-IN" dirty="0"/>
                        <a:t>4</a:t>
                      </a:r>
                    </a:p>
                  </a:txBody>
                  <a:tcPr/>
                </a:tc>
                <a:tc>
                  <a:txBody>
                    <a:bodyPr/>
                    <a:lstStyle/>
                    <a:p>
                      <a:pPr algn="just"/>
                      <a:r>
                        <a:rPr lang="en-IN" dirty="0"/>
                        <a:t>Primary key</a:t>
                      </a:r>
                    </a:p>
                  </a:txBody>
                  <a:tcPr/>
                </a:tc>
                <a:tc>
                  <a:txBody>
                    <a:bodyPr/>
                    <a:lstStyle/>
                    <a:p>
                      <a:pPr algn="just"/>
                      <a:r>
                        <a:rPr lang="en-IN" dirty="0"/>
                        <a:t>Unique identifier for log</a:t>
                      </a:r>
                    </a:p>
                  </a:txBody>
                  <a:tcPr/>
                </a:tc>
                <a:extLst>
                  <a:ext uri="{0D108BD9-81ED-4DB2-BD59-A6C34878D82A}">
                    <a16:rowId xmlns:a16="http://schemas.microsoft.com/office/drawing/2014/main" val="1046504683"/>
                  </a:ext>
                </a:extLst>
              </a:tr>
              <a:tr h="466141">
                <a:tc>
                  <a:txBody>
                    <a:bodyPr/>
                    <a:lstStyle/>
                    <a:p>
                      <a:pPr algn="just"/>
                      <a:r>
                        <a:rPr lang="en-IN" dirty="0"/>
                        <a:t>2.</a:t>
                      </a:r>
                    </a:p>
                  </a:txBody>
                  <a:tcPr/>
                </a:tc>
                <a:tc>
                  <a:txBody>
                    <a:bodyPr/>
                    <a:lstStyle/>
                    <a:p>
                      <a:pPr algn="just"/>
                      <a:r>
                        <a:rPr lang="en-IN" dirty="0" err="1"/>
                        <a:t>user_id</a:t>
                      </a:r>
                      <a:endParaRPr lang="en-IN" dirty="0"/>
                    </a:p>
                  </a:txBody>
                  <a:tcPr/>
                </a:tc>
                <a:tc>
                  <a:txBody>
                    <a:bodyPr/>
                    <a:lstStyle/>
                    <a:p>
                      <a:pPr algn="just"/>
                      <a:r>
                        <a:rPr lang="en-IN" dirty="0"/>
                        <a:t>integer</a:t>
                      </a:r>
                    </a:p>
                  </a:txBody>
                  <a:tcPr/>
                </a:tc>
                <a:tc>
                  <a:txBody>
                    <a:bodyPr/>
                    <a:lstStyle/>
                    <a:p>
                      <a:pPr algn="just"/>
                      <a:r>
                        <a:rPr lang="en-IN" dirty="0"/>
                        <a:t>4</a:t>
                      </a:r>
                    </a:p>
                  </a:txBody>
                  <a:tcPr/>
                </a:tc>
                <a:tc>
                  <a:txBody>
                    <a:bodyPr/>
                    <a:lstStyle/>
                    <a:p>
                      <a:pPr algn="just"/>
                      <a:r>
                        <a:rPr lang="en-IN" dirty="0"/>
                        <a:t>Foreign key </a:t>
                      </a:r>
                    </a:p>
                  </a:txBody>
                  <a:tcPr/>
                </a:tc>
                <a:tc>
                  <a:txBody>
                    <a:bodyPr/>
                    <a:lstStyle/>
                    <a:p>
                      <a:pPr algn="just"/>
                      <a:r>
                        <a:rPr lang="en-IN" dirty="0"/>
                        <a:t>References User</a:t>
                      </a:r>
                    </a:p>
                  </a:txBody>
                  <a:tcPr/>
                </a:tc>
                <a:extLst>
                  <a:ext uri="{0D108BD9-81ED-4DB2-BD59-A6C34878D82A}">
                    <a16:rowId xmlns:a16="http://schemas.microsoft.com/office/drawing/2014/main" val="1498848976"/>
                  </a:ext>
                </a:extLst>
              </a:tr>
              <a:tr h="466141">
                <a:tc>
                  <a:txBody>
                    <a:bodyPr/>
                    <a:lstStyle/>
                    <a:p>
                      <a:pPr algn="just"/>
                      <a:r>
                        <a:rPr lang="en-IN" dirty="0"/>
                        <a:t>3.</a:t>
                      </a:r>
                    </a:p>
                  </a:txBody>
                  <a:tcPr/>
                </a:tc>
                <a:tc>
                  <a:txBody>
                    <a:bodyPr/>
                    <a:lstStyle/>
                    <a:p>
                      <a:pPr algn="just"/>
                      <a:r>
                        <a:rPr lang="en-IN" dirty="0" err="1"/>
                        <a:t>Action_type</a:t>
                      </a:r>
                      <a:endParaRPr lang="en-IN" dirty="0"/>
                    </a:p>
                  </a:txBody>
                  <a:tcPr/>
                </a:tc>
                <a:tc>
                  <a:txBody>
                    <a:bodyPr/>
                    <a:lstStyle/>
                    <a:p>
                      <a:pPr algn="just"/>
                      <a:r>
                        <a:rPr lang="en-IN" dirty="0"/>
                        <a:t>Varchar</a:t>
                      </a:r>
                    </a:p>
                  </a:txBody>
                  <a:tcPr/>
                </a:tc>
                <a:tc>
                  <a:txBody>
                    <a:bodyPr/>
                    <a:lstStyle/>
                    <a:p>
                      <a:pPr algn="just"/>
                      <a:r>
                        <a:rPr lang="en-IN" dirty="0"/>
                        <a:t>20</a:t>
                      </a:r>
                    </a:p>
                  </a:txBody>
                  <a:tcPr/>
                </a:tc>
                <a:tc>
                  <a:txBody>
                    <a:bodyPr/>
                    <a:lstStyle/>
                    <a:p>
                      <a:pPr algn="just"/>
                      <a:r>
                        <a:rPr lang="en-IN" dirty="0"/>
                        <a:t>Not null</a:t>
                      </a:r>
                    </a:p>
                  </a:txBody>
                  <a:tcPr/>
                </a:tc>
                <a:tc>
                  <a:txBody>
                    <a:bodyPr/>
                    <a:lstStyle/>
                    <a:p>
                      <a:pPr algn="just">
                        <a:buNone/>
                      </a:pPr>
                      <a:r>
                        <a:rPr lang="en-IN" dirty="0"/>
                        <a:t>Stores activity type</a:t>
                      </a:r>
                    </a:p>
                  </a:txBody>
                  <a:tcPr anchor="ctr"/>
                </a:tc>
                <a:extLst>
                  <a:ext uri="{0D108BD9-81ED-4DB2-BD59-A6C34878D82A}">
                    <a16:rowId xmlns:a16="http://schemas.microsoft.com/office/drawing/2014/main" val="584237038"/>
                  </a:ext>
                </a:extLst>
              </a:tr>
              <a:tr h="466141">
                <a:tc>
                  <a:txBody>
                    <a:bodyPr/>
                    <a:lstStyle/>
                    <a:p>
                      <a:pPr algn="just"/>
                      <a:r>
                        <a:rPr lang="en-IN" dirty="0"/>
                        <a:t>4.</a:t>
                      </a:r>
                    </a:p>
                  </a:txBody>
                  <a:tcPr/>
                </a:tc>
                <a:tc>
                  <a:txBody>
                    <a:bodyPr/>
                    <a:lstStyle/>
                    <a:p>
                      <a:pPr algn="just"/>
                      <a:r>
                        <a:rPr lang="en-IN" dirty="0"/>
                        <a:t>description</a:t>
                      </a:r>
                    </a:p>
                  </a:txBody>
                  <a:tcPr/>
                </a:tc>
                <a:tc>
                  <a:txBody>
                    <a:bodyPr/>
                    <a:lstStyle/>
                    <a:p>
                      <a:pPr algn="just"/>
                      <a:r>
                        <a:rPr lang="en-IN" dirty="0"/>
                        <a:t>Varchar</a:t>
                      </a:r>
                    </a:p>
                  </a:txBody>
                  <a:tcPr/>
                </a:tc>
                <a:tc>
                  <a:txBody>
                    <a:bodyPr/>
                    <a:lstStyle/>
                    <a:p>
                      <a:pPr algn="just"/>
                      <a:r>
                        <a:rPr lang="en-IN" dirty="0"/>
                        <a:t>100</a:t>
                      </a:r>
                    </a:p>
                  </a:txBody>
                  <a:tcPr/>
                </a:tc>
                <a:tc>
                  <a:txBody>
                    <a:bodyPr/>
                    <a:lstStyle/>
                    <a:p>
                      <a:pPr algn="just"/>
                      <a:r>
                        <a:rPr lang="en-IN" dirty="0"/>
                        <a:t>Not null</a:t>
                      </a:r>
                    </a:p>
                  </a:txBody>
                  <a:tcPr/>
                </a:tc>
                <a:tc>
                  <a:txBody>
                    <a:bodyPr/>
                    <a:lstStyle/>
                    <a:p>
                      <a:pPr algn="just" fontAlgn="base">
                        <a:buNone/>
                      </a:pPr>
                      <a:r>
                        <a:rPr lang="en-IN" dirty="0"/>
                        <a:t>Stores action description</a:t>
                      </a:r>
                      <a:endParaRPr lang="en-IN" dirty="0">
                        <a:effectLst/>
                      </a:endParaRPr>
                    </a:p>
                  </a:txBody>
                  <a:tcPr anchor="ctr"/>
                </a:tc>
                <a:extLst>
                  <a:ext uri="{0D108BD9-81ED-4DB2-BD59-A6C34878D82A}">
                    <a16:rowId xmlns:a16="http://schemas.microsoft.com/office/drawing/2014/main" val="2466471007"/>
                  </a:ext>
                </a:extLst>
              </a:tr>
              <a:tr h="466141">
                <a:tc>
                  <a:txBody>
                    <a:bodyPr/>
                    <a:lstStyle/>
                    <a:p>
                      <a:pPr algn="just"/>
                      <a:r>
                        <a:rPr lang="en-IN" dirty="0"/>
                        <a:t>5.</a:t>
                      </a:r>
                    </a:p>
                  </a:txBody>
                  <a:tcPr/>
                </a:tc>
                <a:tc>
                  <a:txBody>
                    <a:bodyPr/>
                    <a:lstStyle/>
                    <a:p>
                      <a:pPr algn="just"/>
                      <a:r>
                        <a:rPr lang="en-IN" dirty="0"/>
                        <a:t>Amount </a:t>
                      </a:r>
                    </a:p>
                  </a:txBody>
                  <a:tcPr/>
                </a:tc>
                <a:tc>
                  <a:txBody>
                    <a:bodyPr/>
                    <a:lstStyle/>
                    <a:p>
                      <a:pPr algn="just"/>
                      <a:r>
                        <a:rPr lang="en-IN" dirty="0"/>
                        <a:t>Decimal</a:t>
                      </a:r>
                    </a:p>
                  </a:txBody>
                  <a:tcPr/>
                </a:tc>
                <a:tc>
                  <a:txBody>
                    <a:bodyPr/>
                    <a:lstStyle/>
                    <a:p>
                      <a:pPr algn="just"/>
                      <a:r>
                        <a:rPr lang="en-IN" dirty="0"/>
                        <a:t>5,2</a:t>
                      </a:r>
                    </a:p>
                  </a:txBody>
                  <a:tcPr/>
                </a:tc>
                <a:tc>
                  <a:txBody>
                    <a:bodyPr/>
                    <a:lstStyle/>
                    <a:p>
                      <a:pPr algn="just"/>
                      <a:r>
                        <a:rPr lang="en-IN" dirty="0"/>
                        <a:t>Null allow</a:t>
                      </a:r>
                    </a:p>
                  </a:txBody>
                  <a:tcPr/>
                </a:tc>
                <a:tc>
                  <a:txBody>
                    <a:bodyPr/>
                    <a:lstStyle/>
                    <a:p>
                      <a:pPr algn="just"/>
                      <a:r>
                        <a:rPr lang="en-IN" dirty="0"/>
                        <a:t>Stores related amount</a:t>
                      </a:r>
                    </a:p>
                  </a:txBody>
                  <a:tcPr/>
                </a:tc>
                <a:extLst>
                  <a:ext uri="{0D108BD9-81ED-4DB2-BD59-A6C34878D82A}">
                    <a16:rowId xmlns:a16="http://schemas.microsoft.com/office/drawing/2014/main" val="2510266949"/>
                  </a:ext>
                </a:extLst>
              </a:tr>
              <a:tr h="466141">
                <a:tc>
                  <a:txBody>
                    <a:bodyPr/>
                    <a:lstStyle/>
                    <a:p>
                      <a:pPr algn="just"/>
                      <a:r>
                        <a:rPr lang="en-IN" dirty="0"/>
                        <a:t>6.</a:t>
                      </a:r>
                    </a:p>
                  </a:txBody>
                  <a:tcPr/>
                </a:tc>
                <a:tc>
                  <a:txBody>
                    <a:bodyPr/>
                    <a:lstStyle/>
                    <a:p>
                      <a:pPr algn="just"/>
                      <a:r>
                        <a:rPr lang="en-IN" dirty="0"/>
                        <a:t>timestamp</a:t>
                      </a:r>
                    </a:p>
                  </a:txBody>
                  <a:tcPr/>
                </a:tc>
                <a:tc>
                  <a:txBody>
                    <a:bodyPr/>
                    <a:lstStyle/>
                    <a:p>
                      <a:pPr algn="just"/>
                      <a:r>
                        <a:rPr lang="en-IN" dirty="0"/>
                        <a:t>date</a:t>
                      </a:r>
                    </a:p>
                  </a:txBody>
                  <a:tcPr/>
                </a:tc>
                <a:tc>
                  <a:txBody>
                    <a:bodyPr/>
                    <a:lstStyle/>
                    <a:p>
                      <a:pPr algn="just"/>
                      <a:r>
                        <a:rPr lang="en-IN" dirty="0"/>
                        <a:t>-</a:t>
                      </a:r>
                    </a:p>
                  </a:txBody>
                  <a:tcPr/>
                </a:tc>
                <a:tc>
                  <a:txBody>
                    <a:bodyPr/>
                    <a:lstStyle/>
                    <a:p>
                      <a:pPr algn="just"/>
                      <a:r>
                        <a:rPr lang="en-IN" sz="1800" dirty="0"/>
                        <a:t>Not null</a:t>
                      </a:r>
                      <a:endParaRPr lang="en-IN" dirty="0"/>
                    </a:p>
                  </a:txBody>
                  <a:tcPr/>
                </a:tc>
                <a:tc>
                  <a:txBody>
                    <a:bodyPr/>
                    <a:lstStyle/>
                    <a:p>
                      <a:pPr algn="just"/>
                      <a:r>
                        <a:rPr lang="en-IN" dirty="0"/>
                        <a:t>Stores action time</a:t>
                      </a:r>
                    </a:p>
                  </a:txBody>
                  <a:tcPr/>
                </a:tc>
                <a:extLst>
                  <a:ext uri="{0D108BD9-81ED-4DB2-BD59-A6C34878D82A}">
                    <a16:rowId xmlns:a16="http://schemas.microsoft.com/office/drawing/2014/main" val="1484841137"/>
                  </a:ext>
                </a:extLst>
              </a:tr>
            </a:tbl>
          </a:graphicData>
        </a:graphic>
      </p:graphicFrame>
    </p:spTree>
    <p:extLst>
      <p:ext uri="{BB962C8B-B14F-4D97-AF65-F5344CB8AC3E}">
        <p14:creationId xmlns:p14="http://schemas.microsoft.com/office/powerpoint/2010/main" val="663183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574BB-9019-08C9-15F7-C3893FE4EAF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5B85D9E-76E9-836A-53C4-58E83443082F}"/>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1CF47873-48C9-E59D-EA1E-DF561C549F7A}"/>
              </a:ext>
            </a:extLst>
          </p:cNvPr>
          <p:cNvSpPr>
            <a:spLocks noGrp="1"/>
          </p:cNvSpPr>
          <p:nvPr>
            <p:ph idx="1"/>
          </p:nvPr>
        </p:nvSpPr>
        <p:spPr>
          <a:xfrm>
            <a:off x="1206630" y="1253331"/>
            <a:ext cx="10515600" cy="4351338"/>
          </a:xfrm>
        </p:spPr>
        <p:txBody>
          <a:bodyPr/>
          <a:lstStyle/>
          <a:p>
            <a:r>
              <a:rPr lang="en-IN" sz="2400" b="1" dirty="0"/>
              <a:t>Alert Table</a:t>
            </a:r>
          </a:p>
        </p:txBody>
      </p:sp>
      <p:graphicFrame>
        <p:nvGraphicFramePr>
          <p:cNvPr id="2" name="Table 1">
            <a:extLst>
              <a:ext uri="{FF2B5EF4-FFF2-40B4-BE49-F238E27FC236}">
                <a16:creationId xmlns:a16="http://schemas.microsoft.com/office/drawing/2014/main" id="{0CDA4BDB-5474-866F-96CC-46194511F259}"/>
              </a:ext>
            </a:extLst>
          </p:cNvPr>
          <p:cNvGraphicFramePr>
            <a:graphicFrameLocks noGrp="1"/>
          </p:cNvGraphicFramePr>
          <p:nvPr>
            <p:extLst>
              <p:ext uri="{D42A27DB-BD31-4B8C-83A1-F6EECF244321}">
                <p14:modId xmlns:p14="http://schemas.microsoft.com/office/powerpoint/2010/main" val="2365874326"/>
              </p:ext>
            </p:extLst>
          </p:nvPr>
        </p:nvGraphicFramePr>
        <p:xfrm>
          <a:off x="1216057" y="1758244"/>
          <a:ext cx="10218656" cy="4195269"/>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2055044">
                  <a:extLst>
                    <a:ext uri="{9D8B030D-6E8A-4147-A177-3AD203B41FA5}">
                      <a16:colId xmlns:a16="http://schemas.microsoft.com/office/drawing/2014/main" val="1768256383"/>
                    </a:ext>
                  </a:extLst>
                </a:gridCol>
                <a:gridCol w="1306337">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alert_id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alert</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Alert_type</a:t>
                      </a:r>
                      <a:endParaRPr lang="en-IN" dirty="0"/>
                    </a:p>
                  </a:txBody>
                  <a:tcPr/>
                </a:tc>
                <a:tc>
                  <a:txBody>
                    <a:bodyPr/>
                    <a:lstStyle/>
                    <a:p>
                      <a:r>
                        <a:rPr lang="en-IN" dirty="0"/>
                        <a:t>Varchar</a:t>
                      </a:r>
                    </a:p>
                  </a:txBody>
                  <a:tcPr/>
                </a:tc>
                <a:tc>
                  <a:txBody>
                    <a:bodyPr/>
                    <a:lstStyle/>
                    <a:p>
                      <a:r>
                        <a:rPr lang="en-IN" dirty="0"/>
                        <a:t>25</a:t>
                      </a:r>
                    </a:p>
                  </a:txBody>
                  <a:tcPr/>
                </a:tc>
                <a:tc>
                  <a:txBody>
                    <a:bodyPr/>
                    <a:lstStyle/>
                    <a:p>
                      <a:r>
                        <a:rPr lang="en-IN" dirty="0"/>
                        <a:t>Not null</a:t>
                      </a:r>
                    </a:p>
                  </a:txBody>
                  <a:tcPr/>
                </a:tc>
                <a:tc>
                  <a:txBody>
                    <a:bodyPr/>
                    <a:lstStyle/>
                    <a:p>
                      <a:r>
                        <a:rPr lang="en-IN" dirty="0"/>
                        <a:t>Stores alert type</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Medicine_id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a:t>
                      </a:r>
                    </a:p>
                  </a:txBody>
                  <a:tcPr/>
                </a:tc>
                <a:tc>
                  <a:txBody>
                    <a:bodyPr/>
                    <a:lstStyle/>
                    <a:p>
                      <a:pPr>
                        <a:buNone/>
                      </a:pPr>
                      <a:r>
                        <a:rPr lang="en-IN" dirty="0"/>
                        <a:t>References Medicine</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Customer_id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Foreign key </a:t>
                      </a:r>
                    </a:p>
                  </a:txBody>
                  <a:tcPr/>
                </a:tc>
                <a:tc>
                  <a:txBody>
                    <a:bodyPr/>
                    <a:lstStyle/>
                    <a:p>
                      <a:pPr>
                        <a:buNone/>
                      </a:pPr>
                      <a:r>
                        <a:rPr lang="en-IN" dirty="0"/>
                        <a:t>References Customer</a:t>
                      </a:r>
                    </a:p>
                  </a:txBody>
                  <a:tcPr anchor="ct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Message</a:t>
                      </a:r>
                    </a:p>
                  </a:txBody>
                  <a:tcPr/>
                </a:tc>
                <a:tc>
                  <a:txBody>
                    <a:bodyPr/>
                    <a:lstStyle/>
                    <a:p>
                      <a:r>
                        <a:rPr lang="en-IN" dirty="0"/>
                        <a:t>Varchar</a:t>
                      </a:r>
                    </a:p>
                  </a:txBody>
                  <a:tcPr/>
                </a:tc>
                <a:tc>
                  <a:txBody>
                    <a:bodyPr/>
                    <a:lstStyle/>
                    <a:p>
                      <a:r>
                        <a:rPr lang="en-IN" dirty="0"/>
                        <a:t>200</a:t>
                      </a:r>
                    </a:p>
                  </a:txBody>
                  <a:tcPr/>
                </a:tc>
                <a:tc>
                  <a:txBody>
                    <a:bodyPr/>
                    <a:lstStyle/>
                    <a:p>
                      <a:r>
                        <a:rPr lang="en-IN" dirty="0"/>
                        <a:t>Not null</a:t>
                      </a:r>
                    </a:p>
                  </a:txBody>
                  <a:tcPr/>
                </a:tc>
                <a:tc>
                  <a:txBody>
                    <a:bodyPr/>
                    <a:lstStyle/>
                    <a:p>
                      <a:r>
                        <a:rPr lang="en-IN" dirty="0"/>
                        <a:t>Stores alert message</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err="1"/>
                        <a:t>Day_left</a:t>
                      </a:r>
                      <a:endParaRPr lang="en-IN" dirty="0"/>
                    </a:p>
                  </a:txBody>
                  <a:tcPr/>
                </a:tc>
                <a:tc>
                  <a:txBody>
                    <a:bodyPr/>
                    <a:lstStyle/>
                    <a:p>
                      <a:r>
                        <a:rPr lang="en-IN" dirty="0"/>
                        <a:t>integer</a:t>
                      </a:r>
                    </a:p>
                  </a:txBody>
                  <a:tcPr/>
                </a:tc>
                <a:tc>
                  <a:txBody>
                    <a:bodyPr/>
                    <a:lstStyle/>
                    <a:p>
                      <a:r>
                        <a:rPr lang="en-IN" dirty="0"/>
                        <a:t>4</a:t>
                      </a:r>
                    </a:p>
                  </a:txBody>
                  <a:tcPr/>
                </a:tc>
                <a:tc>
                  <a:txBody>
                    <a:bodyPr/>
                    <a:lstStyle/>
                    <a:p>
                      <a:pPr>
                        <a:buNone/>
                      </a:pPr>
                      <a:r>
                        <a:rPr lang="en-IN" dirty="0"/>
                        <a:t>Null Allowed</a:t>
                      </a:r>
                    </a:p>
                  </a:txBody>
                  <a:tcPr anchor="ctr"/>
                </a:tc>
                <a:tc>
                  <a:txBody>
                    <a:bodyPr/>
                    <a:lstStyle/>
                    <a:p>
                      <a:pPr>
                        <a:buNone/>
                      </a:pPr>
                      <a:r>
                        <a:rPr lang="en-IN" dirty="0"/>
                        <a:t>Stores remaining days</a:t>
                      </a:r>
                    </a:p>
                  </a:txBody>
                  <a:tcPr anchor="ct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created_at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lang="en-IN" sz="1800" dirty="0"/>
                        <a:t>Not null</a:t>
                      </a:r>
                      <a:endParaRPr lang="en-IN" dirty="0"/>
                    </a:p>
                  </a:txBody>
                  <a:tcPr/>
                </a:tc>
                <a:tc>
                  <a:txBody>
                    <a:bodyPr/>
                    <a:lstStyle/>
                    <a:p>
                      <a:r>
                        <a:rPr lang="en-IN" dirty="0"/>
                        <a:t>Stores creation time</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1541575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CBFF2-66D3-8341-A8FC-74CD0550375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F5CDB04-0E2E-1568-96C3-7BC1D7E5685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439C4578-33FC-2F15-EBD1-8A1261206957}"/>
              </a:ext>
            </a:extLst>
          </p:cNvPr>
          <p:cNvSpPr>
            <a:spLocks noGrp="1"/>
          </p:cNvSpPr>
          <p:nvPr>
            <p:ph idx="1"/>
          </p:nvPr>
        </p:nvSpPr>
        <p:spPr>
          <a:xfrm>
            <a:off x="1206630" y="1253331"/>
            <a:ext cx="10515600" cy="4351338"/>
          </a:xfrm>
        </p:spPr>
        <p:txBody>
          <a:bodyPr/>
          <a:lstStyle/>
          <a:p>
            <a:r>
              <a:rPr lang="en-IN" sz="2400" b="1" dirty="0"/>
              <a:t>Report Table</a:t>
            </a:r>
          </a:p>
        </p:txBody>
      </p:sp>
      <p:graphicFrame>
        <p:nvGraphicFramePr>
          <p:cNvPr id="2" name="Table 1">
            <a:extLst>
              <a:ext uri="{FF2B5EF4-FFF2-40B4-BE49-F238E27FC236}">
                <a16:creationId xmlns:a16="http://schemas.microsoft.com/office/drawing/2014/main" id="{DC4CD0FD-A481-FE05-754B-7D892D9AE091}"/>
              </a:ext>
            </a:extLst>
          </p:cNvPr>
          <p:cNvGraphicFramePr>
            <a:graphicFrameLocks noGrp="1"/>
          </p:cNvGraphicFramePr>
          <p:nvPr>
            <p:extLst>
              <p:ext uri="{D42A27DB-BD31-4B8C-83A1-F6EECF244321}">
                <p14:modId xmlns:p14="http://schemas.microsoft.com/office/powerpoint/2010/main" val="3959657200"/>
              </p:ext>
            </p:extLst>
          </p:nvPr>
        </p:nvGraphicFramePr>
        <p:xfrm>
          <a:off x="1216057" y="1758244"/>
          <a:ext cx="10218656" cy="4195269"/>
        </p:xfrm>
        <a:graphic>
          <a:graphicData uri="http://schemas.openxmlformats.org/drawingml/2006/table">
            <a:tbl>
              <a:tblPr firstRow="1" bandRow="1">
                <a:tableStyleId>{5C22544A-7EE6-4342-B048-85BDC9FD1C3A}</a:tableStyleId>
              </a:tblPr>
              <a:tblGrid>
                <a:gridCol w="838986">
                  <a:extLst>
                    <a:ext uri="{9D8B030D-6E8A-4147-A177-3AD203B41FA5}">
                      <a16:colId xmlns:a16="http://schemas.microsoft.com/office/drawing/2014/main" val="2361305984"/>
                    </a:ext>
                  </a:extLst>
                </a:gridCol>
                <a:gridCol w="2055044">
                  <a:extLst>
                    <a:ext uri="{9D8B030D-6E8A-4147-A177-3AD203B41FA5}">
                      <a16:colId xmlns:a16="http://schemas.microsoft.com/office/drawing/2014/main" val="1768256383"/>
                    </a:ext>
                  </a:extLst>
                </a:gridCol>
                <a:gridCol w="1306337">
                  <a:extLst>
                    <a:ext uri="{9D8B030D-6E8A-4147-A177-3AD203B41FA5}">
                      <a16:colId xmlns:a16="http://schemas.microsoft.com/office/drawing/2014/main" val="2202159465"/>
                    </a:ext>
                  </a:extLst>
                </a:gridCol>
                <a:gridCol w="956803">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report_id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report</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Report_type</a:t>
                      </a:r>
                      <a:endParaRPr lang="en-IN" dirty="0"/>
                    </a:p>
                  </a:txBody>
                  <a:tcPr/>
                </a:tc>
                <a:tc>
                  <a:txBody>
                    <a:bodyPr/>
                    <a:lstStyle/>
                    <a:p>
                      <a:r>
                        <a:rPr lang="en-IN" dirty="0"/>
                        <a:t>varchar</a:t>
                      </a:r>
                    </a:p>
                  </a:txBody>
                  <a:tcPr/>
                </a:tc>
                <a:tc>
                  <a:txBody>
                    <a:bodyPr/>
                    <a:lstStyle/>
                    <a:p>
                      <a:r>
                        <a:rPr lang="en-IN" dirty="0"/>
                        <a:t>20</a:t>
                      </a:r>
                    </a:p>
                  </a:txBody>
                  <a:tcPr/>
                </a:tc>
                <a:tc>
                  <a:txBody>
                    <a:bodyPr/>
                    <a:lstStyle/>
                    <a:p>
                      <a:r>
                        <a:rPr lang="en-IN" dirty="0"/>
                        <a:t>Not null</a:t>
                      </a:r>
                    </a:p>
                  </a:txBody>
                  <a:tcPr/>
                </a:tc>
                <a:tc>
                  <a:txBody>
                    <a:bodyPr/>
                    <a:lstStyle/>
                    <a:p>
                      <a:r>
                        <a:rPr lang="en-IN" dirty="0"/>
                        <a:t>Stores report category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a:t>Title</a:t>
                      </a:r>
                    </a:p>
                  </a:txBody>
                  <a:tcPr/>
                </a:tc>
                <a:tc>
                  <a:txBody>
                    <a:bodyPr/>
                    <a:lstStyle/>
                    <a:p>
                      <a:r>
                        <a:rPr lang="en-IN" dirty="0"/>
                        <a:t>Varchar</a:t>
                      </a:r>
                    </a:p>
                  </a:txBody>
                  <a:tcPr/>
                </a:tc>
                <a:tc>
                  <a:txBody>
                    <a:bodyPr/>
                    <a:lstStyle/>
                    <a:p>
                      <a:r>
                        <a:rPr lang="en-IN" dirty="0"/>
                        <a:t>200</a:t>
                      </a:r>
                    </a:p>
                  </a:txBody>
                  <a:tcPr/>
                </a:tc>
                <a:tc>
                  <a:txBody>
                    <a:bodyPr/>
                    <a:lstStyle/>
                    <a:p>
                      <a:r>
                        <a:rPr lang="en-IN" dirty="0"/>
                        <a:t>Not null</a:t>
                      </a:r>
                    </a:p>
                  </a:txBody>
                  <a:tcPr/>
                </a:tc>
                <a:tc>
                  <a:txBody>
                    <a:bodyPr/>
                    <a:lstStyle/>
                    <a:p>
                      <a:r>
                        <a:rPr lang="en-IN" dirty="0"/>
                        <a:t>Stores report title</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Form_date</a:t>
                      </a:r>
                      <a:endParaRPr lang="en-IN" dirty="0"/>
                    </a:p>
                  </a:txBody>
                  <a:tcPr/>
                </a:tc>
                <a:tc>
                  <a:txBody>
                    <a:bodyPr/>
                    <a:lstStyle/>
                    <a:p>
                      <a:r>
                        <a:rPr lang="en-IN" dirty="0"/>
                        <a:t>Date</a:t>
                      </a:r>
                    </a:p>
                  </a:txBody>
                  <a:tcPr/>
                </a:tc>
                <a:tc>
                  <a:txBody>
                    <a:bodyPr/>
                    <a:lstStyle/>
                    <a:p>
                      <a:r>
                        <a:rPr lang="en-IN" dirty="0"/>
                        <a:t>-</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dirty="0"/>
                    </a:p>
                  </a:txBody>
                  <a:tcPr/>
                </a:tc>
                <a:tc>
                  <a:txBody>
                    <a:bodyPr/>
                    <a:lstStyle/>
                    <a:p>
                      <a:pPr>
                        <a:buNone/>
                      </a:pPr>
                      <a:r>
                        <a:rPr lang="en-IN" dirty="0"/>
                        <a:t>Stores start date</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To_date</a:t>
                      </a:r>
                      <a:endParaRPr lang="en-IN" dirty="0"/>
                    </a:p>
                  </a:txBody>
                  <a:tcPr/>
                </a:tc>
                <a:tc>
                  <a:txBody>
                    <a:bodyPr/>
                    <a:lstStyle/>
                    <a:p>
                      <a:r>
                        <a:rPr lang="en-IN" dirty="0"/>
                        <a:t>Date</a:t>
                      </a:r>
                    </a:p>
                  </a:txBody>
                  <a:tcPr/>
                </a:tc>
                <a:tc>
                  <a:txBody>
                    <a:bodyPr/>
                    <a:lstStyle/>
                    <a:p>
                      <a:r>
                        <a:rPr lang="en-IN" dirty="0"/>
                        <a:t>-</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dirty="0"/>
                    </a:p>
                  </a:txBody>
                  <a:tcPr/>
                </a:tc>
                <a:tc>
                  <a:txBody>
                    <a:bodyPr/>
                    <a:lstStyle/>
                    <a:p>
                      <a:pPr>
                        <a:buNone/>
                      </a:pPr>
                      <a:r>
                        <a:rPr lang="en-IN" dirty="0"/>
                        <a:t>Stores end date</a:t>
                      </a:r>
                    </a:p>
                  </a:txBody>
                  <a:tcPr anchor="ct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File</a:t>
                      </a:r>
                    </a:p>
                  </a:txBody>
                  <a:tcPr/>
                </a:tc>
                <a:tc>
                  <a:txBody>
                    <a:bodyPr/>
                    <a:lstStyle/>
                    <a:p>
                      <a:r>
                        <a:rPr lang="en-IN" dirty="0"/>
                        <a:t>file</a:t>
                      </a:r>
                    </a:p>
                  </a:txBody>
                  <a:tcPr/>
                </a:tc>
                <a:tc>
                  <a:txBody>
                    <a:bodyPr/>
                    <a:lstStyle/>
                    <a:p>
                      <a:r>
                        <a:rPr lang="en-IN" dirty="0"/>
                        <a:t>-</a:t>
                      </a:r>
                    </a:p>
                  </a:txBody>
                  <a:tcPr/>
                </a:tc>
                <a:tc>
                  <a:txBody>
                    <a:bodyPr/>
                    <a:lstStyle/>
                    <a:p>
                      <a:r>
                        <a:rPr lang="en-IN" dirty="0"/>
                        <a:t>Null allowed</a:t>
                      </a:r>
                    </a:p>
                  </a:txBody>
                  <a:tcPr/>
                </a:tc>
                <a:tc>
                  <a:txBody>
                    <a:bodyPr/>
                    <a:lstStyle/>
                    <a:p>
                      <a:r>
                        <a:rPr lang="en-IN" dirty="0"/>
                        <a:t>Stores generated report file</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r>
                        <a:rPr lang="en-IN" dirty="0" err="1"/>
                        <a:t>Generated_by_id</a:t>
                      </a:r>
                      <a:endParaRPr lang="en-IN" dirty="0"/>
                    </a:p>
                  </a:txBody>
                  <a:tcPr/>
                </a:tc>
                <a:tc>
                  <a:txBody>
                    <a:bodyPr/>
                    <a:lstStyle/>
                    <a:p>
                      <a:r>
                        <a:rPr lang="en-IN" dirty="0"/>
                        <a:t>integer</a:t>
                      </a:r>
                    </a:p>
                  </a:txBody>
                  <a:tcPr/>
                </a:tc>
                <a:tc>
                  <a:txBody>
                    <a:bodyPr/>
                    <a:lstStyle/>
                    <a:p>
                      <a:r>
                        <a:rPr lang="en-IN" dirty="0"/>
                        <a:t>4</a:t>
                      </a:r>
                    </a:p>
                  </a:txBody>
                  <a:tcPr/>
                </a:tc>
                <a:tc>
                  <a:txBody>
                    <a:bodyPr/>
                    <a:lstStyle/>
                    <a:p>
                      <a:pPr>
                        <a:buNone/>
                      </a:pPr>
                      <a:r>
                        <a:rPr lang="en-IN" dirty="0"/>
                        <a:t>Foreign key</a:t>
                      </a:r>
                    </a:p>
                  </a:txBody>
                  <a:tcPr anchor="ctr"/>
                </a:tc>
                <a:tc>
                  <a:txBody>
                    <a:bodyPr/>
                    <a:lstStyle/>
                    <a:p>
                      <a:pPr>
                        <a:buNone/>
                      </a:pPr>
                      <a:r>
                        <a:rPr lang="en-IN" dirty="0"/>
                        <a:t>References User</a:t>
                      </a:r>
                    </a:p>
                  </a:txBody>
                  <a:tcPr anchor="ctr"/>
                </a:tc>
                <a:extLst>
                  <a:ext uri="{0D108BD9-81ED-4DB2-BD59-A6C34878D82A}">
                    <a16:rowId xmlns:a16="http://schemas.microsoft.com/office/drawing/2014/main" val="253505178"/>
                  </a:ext>
                </a:extLst>
              </a:tr>
              <a:tr h="466141">
                <a:tc>
                  <a:txBody>
                    <a:bodyPr/>
                    <a:lstStyle/>
                    <a:p>
                      <a:r>
                        <a:rPr lang="en-IN" dirty="0"/>
                        <a:t>8.</a:t>
                      </a:r>
                    </a:p>
                  </a:txBody>
                  <a:tcPr/>
                </a:tc>
                <a:tc>
                  <a:txBody>
                    <a:bodyPr/>
                    <a:lstStyle/>
                    <a:p>
                      <a:r>
                        <a:rPr lang="en-IN" dirty="0" err="1"/>
                        <a:t>generated_at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lang="en-IN" sz="1800" dirty="0"/>
                        <a:t>Not null</a:t>
                      </a:r>
                      <a:endParaRPr lang="en-IN" dirty="0"/>
                    </a:p>
                  </a:txBody>
                  <a:tcPr/>
                </a:tc>
                <a:tc>
                  <a:txBody>
                    <a:bodyPr/>
                    <a:lstStyle/>
                    <a:p>
                      <a:r>
                        <a:rPr lang="en-IN" dirty="0"/>
                        <a:t>Stores generation time</a:t>
                      </a:r>
                    </a:p>
                  </a:txBody>
                  <a:tcPr/>
                </a:tc>
                <a:extLst>
                  <a:ext uri="{0D108BD9-81ED-4DB2-BD59-A6C34878D82A}">
                    <a16:rowId xmlns:a16="http://schemas.microsoft.com/office/drawing/2014/main" val="248701195"/>
                  </a:ext>
                </a:extLst>
              </a:tr>
            </a:tbl>
          </a:graphicData>
        </a:graphic>
      </p:graphicFrame>
    </p:spTree>
    <p:extLst>
      <p:ext uri="{BB962C8B-B14F-4D97-AF65-F5344CB8AC3E}">
        <p14:creationId xmlns:p14="http://schemas.microsoft.com/office/powerpoint/2010/main" val="2212254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DAE5-7BCA-BD45-1558-255316A2532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3BACB65-EB6C-06A2-82AD-DE106918FF65}"/>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A427943D-ED7E-ECC5-3FF9-6285D29D864C}"/>
              </a:ext>
            </a:extLst>
          </p:cNvPr>
          <p:cNvSpPr>
            <a:spLocks noGrp="1"/>
          </p:cNvSpPr>
          <p:nvPr>
            <p:ph idx="1"/>
          </p:nvPr>
        </p:nvSpPr>
        <p:spPr>
          <a:xfrm>
            <a:off x="1206630" y="1253331"/>
            <a:ext cx="10515600" cy="4351338"/>
          </a:xfrm>
        </p:spPr>
        <p:txBody>
          <a:bodyPr/>
          <a:lstStyle/>
          <a:p>
            <a:r>
              <a:rPr lang="en-IN" sz="2400" b="1" dirty="0"/>
              <a:t>Setting Table</a:t>
            </a:r>
          </a:p>
        </p:txBody>
      </p:sp>
      <p:graphicFrame>
        <p:nvGraphicFramePr>
          <p:cNvPr id="2" name="Table 1">
            <a:extLst>
              <a:ext uri="{FF2B5EF4-FFF2-40B4-BE49-F238E27FC236}">
                <a16:creationId xmlns:a16="http://schemas.microsoft.com/office/drawing/2014/main" id="{61305620-7986-DAB7-F4E1-7A5CAAA72B33}"/>
              </a:ext>
            </a:extLst>
          </p:cNvPr>
          <p:cNvGraphicFramePr>
            <a:graphicFrameLocks noGrp="1"/>
          </p:cNvGraphicFramePr>
          <p:nvPr>
            <p:extLst>
              <p:ext uri="{D42A27DB-BD31-4B8C-83A1-F6EECF244321}">
                <p14:modId xmlns:p14="http://schemas.microsoft.com/office/powerpoint/2010/main" val="1353636038"/>
              </p:ext>
            </p:extLst>
          </p:nvPr>
        </p:nvGraphicFramePr>
        <p:xfrm>
          <a:off x="1216057" y="1758244"/>
          <a:ext cx="10218656" cy="4598823"/>
        </p:xfrm>
        <a:graphic>
          <a:graphicData uri="http://schemas.openxmlformats.org/drawingml/2006/table">
            <a:tbl>
              <a:tblPr firstRow="1" bandRow="1">
                <a:tableStyleId>{5C22544A-7EE6-4342-B048-85BDC9FD1C3A}</a:tableStyleId>
              </a:tblPr>
              <a:tblGrid>
                <a:gridCol w="829559">
                  <a:extLst>
                    <a:ext uri="{9D8B030D-6E8A-4147-A177-3AD203B41FA5}">
                      <a16:colId xmlns:a16="http://schemas.microsoft.com/office/drawing/2014/main" val="2361305984"/>
                    </a:ext>
                  </a:extLst>
                </a:gridCol>
                <a:gridCol w="2290714">
                  <a:extLst>
                    <a:ext uri="{9D8B030D-6E8A-4147-A177-3AD203B41FA5}">
                      <a16:colId xmlns:a16="http://schemas.microsoft.com/office/drawing/2014/main" val="1768256383"/>
                    </a:ext>
                  </a:extLst>
                </a:gridCol>
                <a:gridCol w="1234911">
                  <a:extLst>
                    <a:ext uri="{9D8B030D-6E8A-4147-A177-3AD203B41FA5}">
                      <a16:colId xmlns:a16="http://schemas.microsoft.com/office/drawing/2014/main" val="2202159465"/>
                    </a:ext>
                  </a:extLst>
                </a:gridCol>
                <a:gridCol w="801986">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setting_id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IN" dirty="0"/>
                        <a:t>Unique identifier for settings</a:t>
                      </a:r>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4</a:t>
                      </a:r>
                    </a:p>
                  </a:txBody>
                  <a:tcPr/>
                </a:tc>
                <a:tc>
                  <a:txBody>
                    <a:bodyPr/>
                    <a:lstStyle/>
                    <a:p>
                      <a:r>
                        <a:rPr lang="en-IN" dirty="0"/>
                        <a:t>Not null</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expiry_alert_days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Integer</a:t>
                      </a:r>
                    </a:p>
                  </a:txBody>
                  <a:tcPr/>
                </a:tc>
                <a:tc>
                  <a:txBody>
                    <a:bodyPr/>
                    <a:lstStyle/>
                    <a:p>
                      <a:r>
                        <a:rPr lang="en-IN" dirty="0"/>
                        <a:t>4</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US" dirty="0"/>
                        <a:t>Stores alert days before expiry</a:t>
                      </a:r>
                      <a:endParaRPr lang="en-IN" dirty="0"/>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expiry_alerts_enabled</a:t>
                      </a:r>
                      <a:endParaRPr lang="en-IN" dirty="0"/>
                    </a:p>
                  </a:txBody>
                  <a:tcPr/>
                </a:tc>
                <a:tc>
                  <a:txBody>
                    <a:bodyPr/>
                    <a:lstStyle/>
                    <a:p>
                      <a:r>
                        <a:rPr lang="en-IN"/>
                        <a:t>Boolean</a:t>
                      </a:r>
                      <a:endParaRPr lang="en-IN" dirty="0"/>
                    </a:p>
                  </a:txBody>
                  <a:tcPr/>
                </a:tc>
                <a:tc>
                  <a:txBody>
                    <a:bodyPr/>
                    <a:lstStyle/>
                    <a:p>
                      <a:r>
                        <a:rPr lang="en-IN" dirty="0"/>
                        <a:t>1</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pPr>
                        <a:buNone/>
                      </a:pPr>
                      <a:r>
                        <a:rPr lang="en-IN" dirty="0"/>
                        <a:t>Enables/disables expiry alerts</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low_stock_alerts_enabled</a:t>
                      </a:r>
                      <a:endParaRPr lang="en-IN" dirty="0"/>
                    </a:p>
                  </a:txBody>
                  <a:tcPr/>
                </a:tc>
                <a:tc>
                  <a:txBody>
                    <a:bodyPr/>
                    <a:lstStyle/>
                    <a:p>
                      <a:r>
                        <a:rPr lang="en-IN"/>
                        <a:t>Boolean</a:t>
                      </a:r>
                      <a:endParaRPr lang="en-IN" dirty="0"/>
                    </a:p>
                  </a:txBody>
                  <a:tcPr/>
                </a:tc>
                <a:tc>
                  <a:txBody>
                    <a:bodyPr/>
                    <a:lstStyle/>
                    <a:p>
                      <a:r>
                        <a:rPr lang="en-IN" dirty="0"/>
                        <a:t>1</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pPr>
                        <a:buNone/>
                      </a:pPr>
                      <a:r>
                        <a:rPr lang="en-US" dirty="0"/>
                        <a:t>Enables/disables low stock alerts</a:t>
                      </a:r>
                      <a:endParaRPr lang="en-IN" dirty="0"/>
                    </a:p>
                  </a:txBody>
                  <a:tcPr anchor="ct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err="1"/>
                        <a:t>debtor_reminders_enabled</a:t>
                      </a:r>
                      <a:endParaRPr lang="en-IN" dirty="0"/>
                    </a:p>
                  </a:txBody>
                  <a:tcPr/>
                </a:tc>
                <a:tc>
                  <a:txBody>
                    <a:bodyPr/>
                    <a:lstStyle/>
                    <a:p>
                      <a:r>
                        <a:rPr lang="en-IN"/>
                        <a:t>Boolean</a:t>
                      </a:r>
                      <a:endParaRPr lang="en-IN" dirty="0"/>
                    </a:p>
                  </a:txBody>
                  <a:tcPr/>
                </a:tc>
                <a:tc>
                  <a:txBody>
                    <a:bodyPr/>
                    <a:lstStyle/>
                    <a:p>
                      <a:r>
                        <a:rPr lang="en-IN" dirty="0"/>
                        <a:t>1</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Enables/disables debtor reminders</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pPr>
                        <a:buNone/>
                      </a:pPr>
                      <a:r>
                        <a:rPr lang="en-IN" dirty="0" err="1"/>
                        <a:t>daily_sales_report</a:t>
                      </a:r>
                      <a:endParaRPr lang="en-IN" dirty="0"/>
                    </a:p>
                  </a:txBody>
                  <a:tcPr anchor="ctr"/>
                </a:tc>
                <a:tc>
                  <a:txBody>
                    <a:bodyPr/>
                    <a:lstStyle/>
                    <a:p>
                      <a:r>
                        <a:rPr lang="en-IN" dirty="0"/>
                        <a:t>Boolean</a:t>
                      </a:r>
                    </a:p>
                  </a:txBody>
                  <a:tcPr/>
                </a:tc>
                <a:tc>
                  <a:txBody>
                    <a:bodyPr/>
                    <a:lstStyle/>
                    <a:p>
                      <a:r>
                        <a:rPr lang="en-IN" dirty="0"/>
                        <a:t>1</a:t>
                      </a:r>
                    </a:p>
                  </a:txBody>
                  <a:tcPr/>
                </a:tc>
                <a:tc>
                  <a:txBody>
                    <a:bodyPr/>
                    <a:lstStyle/>
                    <a:p>
                      <a:pPr>
                        <a:buNone/>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IN" dirty="0"/>
                        <a:t>Enables daily sales report</a:t>
                      </a:r>
                    </a:p>
                  </a:txBody>
                  <a:tcPr anchor="ctr"/>
                </a:tc>
                <a:extLst>
                  <a:ext uri="{0D108BD9-81ED-4DB2-BD59-A6C34878D82A}">
                    <a16:rowId xmlns:a16="http://schemas.microsoft.com/office/drawing/2014/main" val="253505178"/>
                  </a:ext>
                </a:extLst>
              </a:tr>
            </a:tbl>
          </a:graphicData>
        </a:graphic>
      </p:graphicFrame>
    </p:spTree>
    <p:extLst>
      <p:ext uri="{BB962C8B-B14F-4D97-AF65-F5344CB8AC3E}">
        <p14:creationId xmlns:p14="http://schemas.microsoft.com/office/powerpoint/2010/main" val="229098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372CF-7510-B2FE-C320-3BC0598B54C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F290381-F4BD-331E-85CE-A0E0E24FA9CA}"/>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graphicFrame>
        <p:nvGraphicFramePr>
          <p:cNvPr id="2" name="Table 1">
            <a:extLst>
              <a:ext uri="{FF2B5EF4-FFF2-40B4-BE49-F238E27FC236}">
                <a16:creationId xmlns:a16="http://schemas.microsoft.com/office/drawing/2014/main" id="{C1E3C7CB-94BE-EE47-DF96-4F5C36881D94}"/>
              </a:ext>
            </a:extLst>
          </p:cNvPr>
          <p:cNvGraphicFramePr>
            <a:graphicFrameLocks noGrp="1"/>
          </p:cNvGraphicFramePr>
          <p:nvPr>
            <p:extLst>
              <p:ext uri="{D42A27DB-BD31-4B8C-83A1-F6EECF244321}">
                <p14:modId xmlns:p14="http://schemas.microsoft.com/office/powerpoint/2010/main" val="1904048355"/>
              </p:ext>
            </p:extLst>
          </p:nvPr>
        </p:nvGraphicFramePr>
        <p:xfrm>
          <a:off x="1139072" y="2263647"/>
          <a:ext cx="10218656" cy="2330705"/>
        </p:xfrm>
        <a:graphic>
          <a:graphicData uri="http://schemas.openxmlformats.org/drawingml/2006/table">
            <a:tbl>
              <a:tblPr firstRow="1" bandRow="1">
                <a:tableStyleId>{5C22544A-7EE6-4342-B048-85BDC9FD1C3A}</a:tableStyleId>
              </a:tblPr>
              <a:tblGrid>
                <a:gridCol w="829559">
                  <a:extLst>
                    <a:ext uri="{9D8B030D-6E8A-4147-A177-3AD203B41FA5}">
                      <a16:colId xmlns:a16="http://schemas.microsoft.com/office/drawing/2014/main" val="2361305984"/>
                    </a:ext>
                  </a:extLst>
                </a:gridCol>
                <a:gridCol w="2290714">
                  <a:extLst>
                    <a:ext uri="{9D8B030D-6E8A-4147-A177-3AD203B41FA5}">
                      <a16:colId xmlns:a16="http://schemas.microsoft.com/office/drawing/2014/main" val="1768256383"/>
                    </a:ext>
                  </a:extLst>
                </a:gridCol>
                <a:gridCol w="1234911">
                  <a:extLst>
                    <a:ext uri="{9D8B030D-6E8A-4147-A177-3AD203B41FA5}">
                      <a16:colId xmlns:a16="http://schemas.microsoft.com/office/drawing/2014/main" val="2202159465"/>
                    </a:ext>
                  </a:extLst>
                </a:gridCol>
                <a:gridCol w="801986">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8.</a:t>
                      </a:r>
                    </a:p>
                  </a:txBody>
                  <a:tcPr/>
                </a:tc>
                <a:tc>
                  <a:txBody>
                    <a:bodyPr/>
                    <a:lstStyle/>
                    <a:p>
                      <a:r>
                        <a:rPr lang="en-IN" dirty="0" err="1"/>
                        <a:t>invoice_prefix</a:t>
                      </a:r>
                      <a:endParaRPr lang="en-IN" dirty="0"/>
                    </a:p>
                  </a:txBody>
                  <a:tcPr/>
                </a:tc>
                <a:tc>
                  <a:txBody>
                    <a:bodyPr/>
                    <a:lstStyle/>
                    <a:p>
                      <a:r>
                        <a:rPr lang="en-IN" dirty="0"/>
                        <a:t>varchar</a:t>
                      </a:r>
                    </a:p>
                  </a:txBody>
                  <a:tcPr/>
                </a:tc>
                <a:tc>
                  <a:txBody>
                    <a:bodyPr/>
                    <a:lstStyle/>
                    <a:p>
                      <a:r>
                        <a:rPr lang="en-IN" dirty="0"/>
                        <a:t>10</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invoice prefix</a:t>
                      </a:r>
                    </a:p>
                  </a:txBody>
                  <a:tcPr/>
                </a:tc>
                <a:extLst>
                  <a:ext uri="{0D108BD9-81ED-4DB2-BD59-A6C34878D82A}">
                    <a16:rowId xmlns:a16="http://schemas.microsoft.com/office/drawing/2014/main" val="1046504683"/>
                  </a:ext>
                </a:extLst>
              </a:tr>
              <a:tr h="466141">
                <a:tc>
                  <a:txBody>
                    <a:bodyPr/>
                    <a:lstStyle/>
                    <a:p>
                      <a:r>
                        <a:rPr lang="en-IN" dirty="0"/>
                        <a:t>9.</a:t>
                      </a:r>
                    </a:p>
                  </a:txBody>
                  <a:tcPr/>
                </a:tc>
                <a:tc>
                  <a:txBody>
                    <a:bodyPr/>
                    <a:lstStyle/>
                    <a:p>
                      <a:r>
                        <a:rPr lang="en-IN" dirty="0" err="1"/>
                        <a:t>invoice_next_number</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4</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next invoice number</a:t>
                      </a:r>
                    </a:p>
                  </a:txBody>
                  <a:tcPr/>
                </a:tc>
                <a:extLst>
                  <a:ext uri="{0D108BD9-81ED-4DB2-BD59-A6C34878D82A}">
                    <a16:rowId xmlns:a16="http://schemas.microsoft.com/office/drawing/2014/main" val="1498848976"/>
                  </a:ext>
                </a:extLst>
              </a:tr>
              <a:tr h="466141">
                <a:tc>
                  <a:txBody>
                    <a:bodyPr/>
                    <a:lstStyle/>
                    <a:p>
                      <a:r>
                        <a:rPr lang="en-IN" dirty="0"/>
                        <a:t>10.</a:t>
                      </a:r>
                    </a:p>
                  </a:txBody>
                  <a:tcPr/>
                </a:tc>
                <a:tc>
                  <a:txBody>
                    <a:bodyPr/>
                    <a:lstStyle/>
                    <a:p>
                      <a:r>
                        <a:rPr lang="en-IN" dirty="0" err="1"/>
                        <a:t>created_at</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Datetime</a:t>
                      </a:r>
                    </a:p>
                  </a:txBody>
                  <a:tcPr/>
                </a:tc>
                <a:tc>
                  <a:txBody>
                    <a:bodyPr/>
                    <a:lstStyle/>
                    <a:p>
                      <a:r>
                        <a:rPr lang="en-IN" dirty="0"/>
                        <a:t>-</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creation time</a:t>
                      </a:r>
                    </a:p>
                  </a:txBody>
                  <a:tcPr/>
                </a:tc>
                <a:extLst>
                  <a:ext uri="{0D108BD9-81ED-4DB2-BD59-A6C34878D82A}">
                    <a16:rowId xmlns:a16="http://schemas.microsoft.com/office/drawing/2014/main" val="584237038"/>
                  </a:ext>
                </a:extLst>
              </a:tr>
              <a:tr h="466141">
                <a:tc>
                  <a:txBody>
                    <a:bodyPr/>
                    <a:lstStyle/>
                    <a:p>
                      <a:r>
                        <a:rPr lang="en-IN" dirty="0"/>
                        <a:t>11.</a:t>
                      </a:r>
                    </a:p>
                  </a:txBody>
                  <a:tcPr/>
                </a:tc>
                <a:tc>
                  <a:txBody>
                    <a:bodyPr/>
                    <a:lstStyle/>
                    <a:p>
                      <a:r>
                        <a:rPr lang="en-IN" dirty="0" err="1"/>
                        <a:t>updated_at</a:t>
                      </a:r>
                      <a:endParaRPr lang="en-IN" dirty="0"/>
                    </a:p>
                  </a:txBody>
                  <a:tcPr/>
                </a:tc>
                <a:tc>
                  <a:txBody>
                    <a:bodyPr/>
                    <a:lstStyle/>
                    <a:p>
                      <a:r>
                        <a:rPr lang="en-IN" dirty="0"/>
                        <a:t>Datetime</a:t>
                      </a:r>
                    </a:p>
                  </a:txBody>
                  <a:tcPr/>
                </a:tc>
                <a:tc>
                  <a:txBody>
                    <a:bodyPr/>
                    <a:lstStyle/>
                    <a:p>
                      <a:r>
                        <a:rPr lang="en-IN" dirty="0"/>
                        <a:t>-</a:t>
                      </a:r>
                    </a:p>
                  </a:txBody>
                  <a:tcPr/>
                </a:tc>
                <a:tc>
                  <a:txBody>
                    <a:bodyPr/>
                    <a:lstStyle/>
                    <a:p>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pPr>
                        <a:buNone/>
                      </a:pPr>
                      <a:r>
                        <a:rPr lang="en-IN" dirty="0"/>
                        <a:t>Stores last update time</a:t>
                      </a:r>
                    </a:p>
                  </a:txBody>
                  <a:tcPr anchor="ctr"/>
                </a:tc>
                <a:extLst>
                  <a:ext uri="{0D108BD9-81ED-4DB2-BD59-A6C34878D82A}">
                    <a16:rowId xmlns:a16="http://schemas.microsoft.com/office/drawing/2014/main" val="2466471007"/>
                  </a:ext>
                </a:extLst>
              </a:tr>
            </a:tbl>
          </a:graphicData>
        </a:graphic>
      </p:graphicFrame>
    </p:spTree>
    <p:extLst>
      <p:ext uri="{BB962C8B-B14F-4D97-AF65-F5344CB8AC3E}">
        <p14:creationId xmlns:p14="http://schemas.microsoft.com/office/powerpoint/2010/main" val="20008904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22E45-B6FA-282B-88C6-833A478CA9C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D2300F-8A5B-6D00-AAB6-FC7A0176F01B}"/>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A0A7B8A7-205D-5666-FF44-C963E73AA28A}"/>
              </a:ext>
            </a:extLst>
          </p:cNvPr>
          <p:cNvSpPr>
            <a:spLocks noGrp="1"/>
          </p:cNvSpPr>
          <p:nvPr>
            <p:ph idx="1"/>
          </p:nvPr>
        </p:nvSpPr>
        <p:spPr>
          <a:xfrm>
            <a:off x="1206630" y="1253331"/>
            <a:ext cx="10515600" cy="4351338"/>
          </a:xfrm>
        </p:spPr>
        <p:txBody>
          <a:bodyPr/>
          <a:lstStyle/>
          <a:p>
            <a:r>
              <a:rPr lang="en-IN" sz="2400" b="1" dirty="0" err="1"/>
              <a:t>Medicine_request</a:t>
            </a:r>
            <a:r>
              <a:rPr lang="en-IN" sz="2400" b="1" dirty="0"/>
              <a:t> Table</a:t>
            </a:r>
          </a:p>
        </p:txBody>
      </p:sp>
      <p:graphicFrame>
        <p:nvGraphicFramePr>
          <p:cNvPr id="2" name="Table 1">
            <a:extLst>
              <a:ext uri="{FF2B5EF4-FFF2-40B4-BE49-F238E27FC236}">
                <a16:creationId xmlns:a16="http://schemas.microsoft.com/office/drawing/2014/main" id="{837ACFE1-97E4-0E1F-3505-0F0D43FAF405}"/>
              </a:ext>
            </a:extLst>
          </p:cNvPr>
          <p:cNvGraphicFramePr>
            <a:graphicFrameLocks noGrp="1"/>
          </p:cNvGraphicFramePr>
          <p:nvPr>
            <p:extLst>
              <p:ext uri="{D42A27DB-BD31-4B8C-83A1-F6EECF244321}">
                <p14:modId xmlns:p14="http://schemas.microsoft.com/office/powerpoint/2010/main" val="2705506889"/>
              </p:ext>
            </p:extLst>
          </p:nvPr>
        </p:nvGraphicFramePr>
        <p:xfrm>
          <a:off x="1216057" y="1758244"/>
          <a:ext cx="10218656" cy="4891025"/>
        </p:xfrm>
        <a:graphic>
          <a:graphicData uri="http://schemas.openxmlformats.org/drawingml/2006/table">
            <a:tbl>
              <a:tblPr firstRow="1" bandRow="1">
                <a:tableStyleId>{5C22544A-7EE6-4342-B048-85BDC9FD1C3A}</a:tableStyleId>
              </a:tblPr>
              <a:tblGrid>
                <a:gridCol w="829559">
                  <a:extLst>
                    <a:ext uri="{9D8B030D-6E8A-4147-A177-3AD203B41FA5}">
                      <a16:colId xmlns:a16="http://schemas.microsoft.com/office/drawing/2014/main" val="2361305984"/>
                    </a:ext>
                  </a:extLst>
                </a:gridCol>
                <a:gridCol w="2290714">
                  <a:extLst>
                    <a:ext uri="{9D8B030D-6E8A-4147-A177-3AD203B41FA5}">
                      <a16:colId xmlns:a16="http://schemas.microsoft.com/office/drawing/2014/main" val="1768256383"/>
                    </a:ext>
                  </a:extLst>
                </a:gridCol>
                <a:gridCol w="1234911">
                  <a:extLst>
                    <a:ext uri="{9D8B030D-6E8A-4147-A177-3AD203B41FA5}">
                      <a16:colId xmlns:a16="http://schemas.microsoft.com/office/drawing/2014/main" val="2202159465"/>
                    </a:ext>
                  </a:extLst>
                </a:gridCol>
                <a:gridCol w="801986">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Medicine_req_id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US" dirty="0"/>
                        <a:t>Unique identifier for medicine request</a:t>
                      </a:r>
                      <a:endParaRPr lang="en-IN" dirty="0"/>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pharmacy_id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4</a:t>
                      </a:r>
                    </a:p>
                  </a:txBody>
                  <a:tcPr/>
                </a:tc>
                <a:tc>
                  <a:txBody>
                    <a:bodyPr/>
                    <a:lstStyle/>
                    <a:p>
                      <a:r>
                        <a:rPr lang="en-IN" dirty="0"/>
                        <a:t>Foreign Key </a:t>
                      </a:r>
                    </a:p>
                  </a:txBody>
                  <a:tcPr/>
                </a:tc>
                <a:tc>
                  <a:txBody>
                    <a:bodyPr/>
                    <a:lstStyle/>
                    <a:p>
                      <a:r>
                        <a:rPr lang="en-IN" dirty="0"/>
                        <a:t>References Pharmacy</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Customer_id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Integer</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Foreign Key</a:t>
                      </a:r>
                    </a:p>
                    <a:p>
                      <a:endParaRPr lang="en-IN" dirty="0"/>
                    </a:p>
                  </a:txBody>
                  <a:tcPr/>
                </a:tc>
                <a:tc>
                  <a:txBody>
                    <a:bodyPr/>
                    <a:lstStyle/>
                    <a:p>
                      <a:r>
                        <a:rPr lang="en-IN" dirty="0"/>
                        <a:t>References Customer</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medicine_name</a:t>
                      </a:r>
                      <a:endParaRPr lang="en-IN" dirty="0"/>
                    </a:p>
                  </a:txBody>
                  <a:tcPr/>
                </a:tc>
                <a:tc>
                  <a:txBody>
                    <a:bodyPr/>
                    <a:lstStyle/>
                    <a:p>
                      <a:r>
                        <a:rPr lang="en-IN"/>
                        <a:t>Varchar</a:t>
                      </a:r>
                      <a:endParaRPr lang="en-IN" dirty="0"/>
                    </a:p>
                  </a:txBody>
                  <a:tcPr/>
                </a:tc>
                <a:tc>
                  <a:txBody>
                    <a:bodyPr/>
                    <a:lstStyle/>
                    <a:p>
                      <a:r>
                        <a:rPr lang="en-IN" dirty="0"/>
                        <a:t>25</a:t>
                      </a:r>
                    </a:p>
                  </a:txBody>
                  <a:tcPr/>
                </a:tc>
                <a:tc>
                  <a:txBody>
                    <a:bodyPr/>
                    <a:lstStyle/>
                    <a:p>
                      <a:r>
                        <a:rPr lang="en-IN" dirty="0"/>
                        <a:t>Not null </a:t>
                      </a:r>
                    </a:p>
                  </a:txBody>
                  <a:tcPr/>
                </a:tc>
                <a:tc>
                  <a:txBody>
                    <a:bodyPr/>
                    <a:lstStyle/>
                    <a:p>
                      <a:pPr>
                        <a:buNone/>
                      </a:pPr>
                      <a:r>
                        <a:rPr lang="en-IN" dirty="0"/>
                        <a:t>Stores requested medicine name</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medicine_code</a:t>
                      </a:r>
                      <a:endParaRPr lang="en-IN" dirty="0"/>
                    </a:p>
                  </a:txBody>
                  <a:tcPr/>
                </a:tc>
                <a:tc>
                  <a:txBody>
                    <a:bodyPr/>
                    <a:lstStyle/>
                    <a:p>
                      <a:r>
                        <a:rPr lang="en-IN" dirty="0"/>
                        <a:t>Varchar</a:t>
                      </a:r>
                    </a:p>
                  </a:txBody>
                  <a:tcPr/>
                </a:tc>
                <a:tc>
                  <a:txBody>
                    <a:bodyPr/>
                    <a:lstStyle/>
                    <a:p>
                      <a:r>
                        <a:rPr lang="en-IN" dirty="0"/>
                        <a:t>20</a:t>
                      </a:r>
                    </a:p>
                  </a:txBody>
                  <a:tcPr/>
                </a:tc>
                <a:tc>
                  <a:txBody>
                    <a:bodyPr/>
                    <a:lstStyle/>
                    <a:p>
                      <a:r>
                        <a:rPr lang="en-IN" dirty="0"/>
                        <a:t>Null allow</a:t>
                      </a:r>
                    </a:p>
                  </a:txBody>
                  <a:tcPr/>
                </a:tc>
                <a:tc>
                  <a:txBody>
                    <a:bodyPr/>
                    <a:lstStyle/>
                    <a:p>
                      <a:pPr>
                        <a:buNone/>
                      </a:pPr>
                      <a:r>
                        <a:rPr lang="en-IN" dirty="0"/>
                        <a:t>Stores requested medicine code</a:t>
                      </a:r>
                    </a:p>
                  </a:txBody>
                  <a:tcPr anchor="ctr"/>
                </a:tc>
                <a:extLst>
                  <a:ext uri="{0D108BD9-81ED-4DB2-BD59-A6C34878D82A}">
                    <a16:rowId xmlns:a16="http://schemas.microsoft.com/office/drawing/2014/main" val="2510266949"/>
                  </a:ext>
                </a:extLst>
              </a:tr>
              <a:tr h="466141">
                <a:tc>
                  <a:txBody>
                    <a:bodyPr/>
                    <a:lstStyle/>
                    <a:p>
                      <a:r>
                        <a:rPr lang="en-IN" dirty="0"/>
                        <a:t>6.</a:t>
                      </a:r>
                    </a:p>
                  </a:txBody>
                  <a:tcPr/>
                </a:tc>
                <a:tc>
                  <a:txBody>
                    <a:bodyPr/>
                    <a:lstStyle/>
                    <a:p>
                      <a:r>
                        <a:rPr lang="en-IN" dirty="0"/>
                        <a:t>quantity</a:t>
                      </a:r>
                    </a:p>
                  </a:txBody>
                  <a:tcPr/>
                </a:tc>
                <a:tc>
                  <a:txBody>
                    <a:bodyPr/>
                    <a:lstStyle/>
                    <a:p>
                      <a:r>
                        <a:rPr lang="en-IN" dirty="0"/>
                        <a:t>Integer</a:t>
                      </a:r>
                    </a:p>
                  </a:txBody>
                  <a:tcPr/>
                </a:tc>
                <a:tc>
                  <a:txBody>
                    <a:bodyPr/>
                    <a:lstStyle/>
                    <a:p>
                      <a:r>
                        <a:rPr lang="en-IN" dirty="0"/>
                        <a:t>4</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requested quantity</a:t>
                      </a:r>
                    </a:p>
                  </a:txBody>
                  <a:tcPr/>
                </a:tc>
                <a:extLst>
                  <a:ext uri="{0D108BD9-81ED-4DB2-BD59-A6C34878D82A}">
                    <a16:rowId xmlns:a16="http://schemas.microsoft.com/office/drawing/2014/main" val="1484841137"/>
                  </a:ext>
                </a:extLst>
              </a:tr>
              <a:tr h="466141">
                <a:tc>
                  <a:txBody>
                    <a:bodyPr/>
                    <a:lstStyle/>
                    <a:p>
                      <a:r>
                        <a:rPr lang="en-IN" dirty="0"/>
                        <a:t>7.</a:t>
                      </a:r>
                    </a:p>
                  </a:txBody>
                  <a:tcPr/>
                </a:tc>
                <a:tc>
                  <a:txBody>
                    <a:bodyPr/>
                    <a:lstStyle/>
                    <a:p>
                      <a:pPr>
                        <a:buNone/>
                      </a:pPr>
                      <a:r>
                        <a:rPr lang="en-IN" dirty="0"/>
                        <a:t>priority</a:t>
                      </a:r>
                    </a:p>
                  </a:txBody>
                  <a:tcPr anchor="ctr"/>
                </a:tc>
                <a:tc>
                  <a:txBody>
                    <a:bodyPr/>
                    <a:lstStyle/>
                    <a:p>
                      <a:r>
                        <a:rPr lang="en-IN" dirty="0"/>
                        <a:t>Varchar</a:t>
                      </a:r>
                    </a:p>
                  </a:txBody>
                  <a:tcPr/>
                </a:tc>
                <a:tc>
                  <a:txBody>
                    <a:bodyPr/>
                    <a:lstStyle/>
                    <a:p>
                      <a:r>
                        <a:rPr lang="en-IN" dirty="0"/>
                        <a:t>20</a:t>
                      </a:r>
                    </a:p>
                  </a:txBody>
                  <a:tcPr/>
                </a:tc>
                <a:tc>
                  <a:txBody>
                    <a:bodyPr/>
                    <a:lstStyle/>
                    <a:p>
                      <a:pPr>
                        <a:buNone/>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IN" dirty="0"/>
                        <a:t>Stores priority level</a:t>
                      </a:r>
                    </a:p>
                  </a:txBody>
                  <a:tcPr anchor="ctr"/>
                </a:tc>
                <a:extLst>
                  <a:ext uri="{0D108BD9-81ED-4DB2-BD59-A6C34878D82A}">
                    <a16:rowId xmlns:a16="http://schemas.microsoft.com/office/drawing/2014/main" val="253505178"/>
                  </a:ext>
                </a:extLst>
              </a:tr>
              <a:tr h="466141">
                <a:tc>
                  <a:txBody>
                    <a:bodyPr/>
                    <a:lstStyle/>
                    <a:p>
                      <a:r>
                        <a:rPr lang="en-IN" dirty="0"/>
                        <a:t>8. </a:t>
                      </a:r>
                    </a:p>
                  </a:txBody>
                  <a:tcPr/>
                </a:tc>
                <a:tc>
                  <a:txBody>
                    <a:bodyPr/>
                    <a:lstStyle/>
                    <a:p>
                      <a:pPr>
                        <a:buNone/>
                      </a:pPr>
                      <a:r>
                        <a:rPr lang="en-IN" dirty="0"/>
                        <a:t>status</a:t>
                      </a:r>
                    </a:p>
                  </a:txBody>
                  <a:tcPr anchor="ctr"/>
                </a:tc>
                <a:tc>
                  <a:txBody>
                    <a:bodyPr/>
                    <a:lstStyle/>
                    <a:p>
                      <a:r>
                        <a:rPr lang="en-IN" dirty="0"/>
                        <a:t>Varchar</a:t>
                      </a:r>
                    </a:p>
                  </a:txBody>
                  <a:tcPr/>
                </a:tc>
                <a:tc>
                  <a:txBody>
                    <a:bodyPr/>
                    <a:lstStyle/>
                    <a:p>
                      <a:r>
                        <a:rPr lang="en-IN" dirty="0"/>
                        <a:t>20</a:t>
                      </a:r>
                    </a:p>
                  </a:txBody>
                  <a:tcPr/>
                </a:tc>
                <a:tc>
                  <a:txBody>
                    <a:bodyPr/>
                    <a:lstStyle/>
                    <a:p>
                      <a:pPr>
                        <a:buNone/>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IN" dirty="0"/>
                        <a:t>Stores request status</a:t>
                      </a:r>
                    </a:p>
                  </a:txBody>
                  <a:tcPr anchor="ctr"/>
                </a:tc>
                <a:extLst>
                  <a:ext uri="{0D108BD9-81ED-4DB2-BD59-A6C34878D82A}">
                    <a16:rowId xmlns:a16="http://schemas.microsoft.com/office/drawing/2014/main" val="1593633768"/>
                  </a:ext>
                </a:extLst>
              </a:tr>
            </a:tbl>
          </a:graphicData>
        </a:graphic>
      </p:graphicFrame>
    </p:spTree>
    <p:extLst>
      <p:ext uri="{BB962C8B-B14F-4D97-AF65-F5344CB8AC3E}">
        <p14:creationId xmlns:p14="http://schemas.microsoft.com/office/powerpoint/2010/main" val="3658968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7EBFE-9F74-A4E3-7B69-417209466DD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7F7E21F-D586-6D08-A829-2A53FE787B31}"/>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graphicFrame>
        <p:nvGraphicFramePr>
          <p:cNvPr id="2" name="Table 1">
            <a:extLst>
              <a:ext uri="{FF2B5EF4-FFF2-40B4-BE49-F238E27FC236}">
                <a16:creationId xmlns:a16="http://schemas.microsoft.com/office/drawing/2014/main" id="{45F7D8B1-0558-00DD-A4F2-300451686168}"/>
              </a:ext>
            </a:extLst>
          </p:cNvPr>
          <p:cNvGraphicFramePr>
            <a:graphicFrameLocks noGrp="1"/>
          </p:cNvGraphicFramePr>
          <p:nvPr>
            <p:extLst>
              <p:ext uri="{D42A27DB-BD31-4B8C-83A1-F6EECF244321}">
                <p14:modId xmlns:p14="http://schemas.microsoft.com/office/powerpoint/2010/main" val="1302929594"/>
              </p:ext>
            </p:extLst>
          </p:nvPr>
        </p:nvGraphicFramePr>
        <p:xfrm>
          <a:off x="1139072" y="1477466"/>
          <a:ext cx="10218656" cy="3729128"/>
        </p:xfrm>
        <a:graphic>
          <a:graphicData uri="http://schemas.openxmlformats.org/drawingml/2006/table">
            <a:tbl>
              <a:tblPr firstRow="1" bandRow="1">
                <a:tableStyleId>{5C22544A-7EE6-4342-B048-85BDC9FD1C3A}</a:tableStyleId>
              </a:tblPr>
              <a:tblGrid>
                <a:gridCol w="829559">
                  <a:extLst>
                    <a:ext uri="{9D8B030D-6E8A-4147-A177-3AD203B41FA5}">
                      <a16:colId xmlns:a16="http://schemas.microsoft.com/office/drawing/2014/main" val="2361305984"/>
                    </a:ext>
                  </a:extLst>
                </a:gridCol>
                <a:gridCol w="2290714">
                  <a:extLst>
                    <a:ext uri="{9D8B030D-6E8A-4147-A177-3AD203B41FA5}">
                      <a16:colId xmlns:a16="http://schemas.microsoft.com/office/drawing/2014/main" val="1768256383"/>
                    </a:ext>
                  </a:extLst>
                </a:gridCol>
                <a:gridCol w="1234911">
                  <a:extLst>
                    <a:ext uri="{9D8B030D-6E8A-4147-A177-3AD203B41FA5}">
                      <a16:colId xmlns:a16="http://schemas.microsoft.com/office/drawing/2014/main" val="2202159465"/>
                    </a:ext>
                  </a:extLst>
                </a:gridCol>
                <a:gridCol w="801986">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9.</a:t>
                      </a:r>
                    </a:p>
                  </a:txBody>
                  <a:tcPr/>
                </a:tc>
                <a:tc>
                  <a:txBody>
                    <a:bodyPr/>
                    <a:lstStyle/>
                    <a:p>
                      <a:r>
                        <a:rPr lang="en-IN" dirty="0"/>
                        <a:t>notes</a:t>
                      </a:r>
                    </a:p>
                  </a:txBody>
                  <a:tcPr/>
                </a:tc>
                <a:tc>
                  <a:txBody>
                    <a:bodyPr/>
                    <a:lstStyle/>
                    <a:p>
                      <a:r>
                        <a:rPr lang="en-IN" dirty="0"/>
                        <a:t>varchar</a:t>
                      </a:r>
                    </a:p>
                  </a:txBody>
                  <a:tcPr/>
                </a:tc>
                <a:tc>
                  <a:txBody>
                    <a:bodyPr/>
                    <a:lstStyle/>
                    <a:p>
                      <a:r>
                        <a:rPr lang="en-IN" dirty="0"/>
                        <a:t>100</a:t>
                      </a:r>
                    </a:p>
                  </a:txBody>
                  <a:tcPr/>
                </a:tc>
                <a:tc>
                  <a:txBody>
                    <a:bodyPr/>
                    <a:lstStyle/>
                    <a:p>
                      <a:r>
                        <a:rPr lang="en-IN" dirty="0"/>
                        <a:t>Primary key</a:t>
                      </a:r>
                    </a:p>
                  </a:txBody>
                  <a:tcPr/>
                </a:tc>
                <a:tc>
                  <a:txBody>
                    <a:bodyPr/>
                    <a:lstStyle/>
                    <a:p>
                      <a:r>
                        <a:rPr lang="en-IN" dirty="0"/>
                        <a:t>Stores additional notes</a:t>
                      </a:r>
                    </a:p>
                  </a:txBody>
                  <a:tcPr/>
                </a:tc>
                <a:extLst>
                  <a:ext uri="{0D108BD9-81ED-4DB2-BD59-A6C34878D82A}">
                    <a16:rowId xmlns:a16="http://schemas.microsoft.com/office/drawing/2014/main" val="1046504683"/>
                  </a:ext>
                </a:extLst>
              </a:tr>
              <a:tr h="466141">
                <a:tc>
                  <a:txBody>
                    <a:bodyPr/>
                    <a:lstStyle/>
                    <a:p>
                      <a:r>
                        <a:rPr lang="en-IN" dirty="0"/>
                        <a:t>10.</a:t>
                      </a:r>
                    </a:p>
                  </a:txBody>
                  <a:tcPr/>
                </a:tc>
                <a:tc>
                  <a:txBody>
                    <a:bodyPr/>
                    <a:lstStyle/>
                    <a:p>
                      <a:r>
                        <a:rPr lang="en-IN" dirty="0" err="1"/>
                        <a:t>customer_name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Varchar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25</a:t>
                      </a:r>
                    </a:p>
                  </a:txBody>
                  <a:tcPr/>
                </a:tc>
                <a:tc>
                  <a:txBody>
                    <a:bodyPr/>
                    <a:lstStyle/>
                    <a:p>
                      <a:r>
                        <a:rPr lang="en-IN" dirty="0"/>
                        <a:t>Foreign Key</a:t>
                      </a:r>
                    </a:p>
                  </a:txBody>
                  <a:tcPr/>
                </a:tc>
                <a:tc>
                  <a:txBody>
                    <a:bodyPr/>
                    <a:lstStyle/>
                    <a:p>
                      <a:r>
                        <a:rPr lang="en-IN" dirty="0"/>
                        <a:t>Stores customer name</a:t>
                      </a:r>
                    </a:p>
                  </a:txBody>
                  <a:tcPr/>
                </a:tc>
                <a:extLst>
                  <a:ext uri="{0D108BD9-81ED-4DB2-BD59-A6C34878D82A}">
                    <a16:rowId xmlns:a16="http://schemas.microsoft.com/office/drawing/2014/main" val="1498848976"/>
                  </a:ext>
                </a:extLst>
              </a:tr>
              <a:tr h="466141">
                <a:tc>
                  <a:txBody>
                    <a:bodyPr/>
                    <a:lstStyle/>
                    <a:p>
                      <a:r>
                        <a:rPr lang="en-IN" dirty="0"/>
                        <a:t>11.</a:t>
                      </a:r>
                    </a:p>
                  </a:txBody>
                  <a:tcPr/>
                </a:tc>
                <a:tc>
                  <a:txBody>
                    <a:bodyPr/>
                    <a:lstStyle/>
                    <a:p>
                      <a:r>
                        <a:rPr lang="en-IN" dirty="0" err="1"/>
                        <a:t>customer_phone</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Integer</a:t>
                      </a:r>
                    </a:p>
                  </a:txBody>
                  <a:tcPr/>
                </a:tc>
                <a:tc>
                  <a:txBody>
                    <a:bodyPr/>
                    <a:lstStyle/>
                    <a:p>
                      <a:r>
                        <a:rPr lang="en-IN"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Foreign Key</a:t>
                      </a:r>
                    </a:p>
                  </a:txBody>
                  <a:tcPr/>
                </a:tc>
                <a:tc>
                  <a:txBody>
                    <a:bodyPr/>
                    <a:lstStyle/>
                    <a:p>
                      <a:r>
                        <a:rPr lang="en-IN" dirty="0"/>
                        <a:t>Stores customer phone</a:t>
                      </a:r>
                    </a:p>
                  </a:txBody>
                  <a:tcPr/>
                </a:tc>
                <a:extLst>
                  <a:ext uri="{0D108BD9-81ED-4DB2-BD59-A6C34878D82A}">
                    <a16:rowId xmlns:a16="http://schemas.microsoft.com/office/drawing/2014/main" val="584237038"/>
                  </a:ext>
                </a:extLst>
              </a:tr>
              <a:tr h="466141">
                <a:tc>
                  <a:txBody>
                    <a:bodyPr/>
                    <a:lstStyle/>
                    <a:p>
                      <a:r>
                        <a:rPr lang="en-IN" dirty="0"/>
                        <a:t>12.</a:t>
                      </a:r>
                    </a:p>
                  </a:txBody>
                  <a:tcPr/>
                </a:tc>
                <a:tc>
                  <a:txBody>
                    <a:bodyPr/>
                    <a:lstStyle/>
                    <a:p>
                      <a:r>
                        <a:rPr lang="en-IN" dirty="0" err="1"/>
                        <a:t>requested_by_id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Not null </a:t>
                      </a:r>
                    </a:p>
                  </a:txBody>
                  <a:tcPr/>
                </a:tc>
                <a:tc>
                  <a:txBody>
                    <a:bodyPr/>
                    <a:lstStyle/>
                    <a:p>
                      <a:pPr>
                        <a:buNone/>
                      </a:pPr>
                      <a:r>
                        <a:rPr lang="en-IN" dirty="0"/>
                        <a:t>References User</a:t>
                      </a:r>
                    </a:p>
                  </a:txBody>
                  <a:tcPr anchor="ctr"/>
                </a:tc>
                <a:extLst>
                  <a:ext uri="{0D108BD9-81ED-4DB2-BD59-A6C34878D82A}">
                    <a16:rowId xmlns:a16="http://schemas.microsoft.com/office/drawing/2014/main" val="2466471007"/>
                  </a:ext>
                </a:extLst>
              </a:tr>
              <a:tr h="466141">
                <a:tc>
                  <a:txBody>
                    <a:bodyPr/>
                    <a:lstStyle/>
                    <a:p>
                      <a:r>
                        <a:rPr lang="en-IN" dirty="0"/>
                        <a:t>13.</a:t>
                      </a:r>
                    </a:p>
                  </a:txBody>
                  <a:tcPr/>
                </a:tc>
                <a:tc>
                  <a:txBody>
                    <a:bodyPr/>
                    <a:lstStyle/>
                    <a:p>
                      <a:pPr>
                        <a:buNone/>
                      </a:pPr>
                      <a:r>
                        <a:rPr lang="en-IN" dirty="0" err="1"/>
                        <a:t>requested_date</a:t>
                      </a:r>
                      <a:endParaRPr lang="en-IN" dirty="0"/>
                    </a:p>
                  </a:txBody>
                  <a:tcPr anchor="ctr"/>
                </a:tc>
                <a:tc>
                  <a:txBody>
                    <a:bodyPr/>
                    <a:lstStyle/>
                    <a:p>
                      <a:r>
                        <a:rPr lang="en-IN" dirty="0"/>
                        <a:t>Datetime </a:t>
                      </a:r>
                    </a:p>
                  </a:txBody>
                  <a:tcPr/>
                </a:tc>
                <a:tc>
                  <a:txBody>
                    <a:bodyPr/>
                    <a:lstStyle/>
                    <a:p>
                      <a:r>
                        <a:rPr lang="en-IN" dirty="0"/>
                        <a:t>-</a:t>
                      </a:r>
                    </a:p>
                  </a:txBody>
                  <a:tcPr/>
                </a:tc>
                <a:tc>
                  <a:txBody>
                    <a:bodyPr/>
                    <a:lstStyle/>
                    <a:p>
                      <a:r>
                        <a:rPr lang="en-IN" dirty="0"/>
                        <a:t>Null allowed </a:t>
                      </a:r>
                    </a:p>
                  </a:txBody>
                  <a:tcPr/>
                </a:tc>
                <a:tc>
                  <a:txBody>
                    <a:bodyPr/>
                    <a:lstStyle/>
                    <a:p>
                      <a:pPr>
                        <a:buNone/>
                      </a:pPr>
                      <a:r>
                        <a:rPr lang="en-IN" dirty="0"/>
                        <a:t>Stores request date</a:t>
                      </a:r>
                    </a:p>
                  </a:txBody>
                  <a:tcPr anchor="ctr"/>
                </a:tc>
                <a:extLst>
                  <a:ext uri="{0D108BD9-81ED-4DB2-BD59-A6C34878D82A}">
                    <a16:rowId xmlns:a16="http://schemas.microsoft.com/office/drawing/2014/main" val="2510266949"/>
                  </a:ext>
                </a:extLst>
              </a:tr>
              <a:tr h="466141">
                <a:tc>
                  <a:txBody>
                    <a:bodyPr/>
                    <a:lstStyle/>
                    <a:p>
                      <a:r>
                        <a:rPr lang="en-IN" dirty="0"/>
                        <a:t>14.</a:t>
                      </a:r>
                    </a:p>
                  </a:txBody>
                  <a:tcPr/>
                </a:tc>
                <a:tc>
                  <a:txBody>
                    <a:bodyPr/>
                    <a:lstStyle/>
                    <a:p>
                      <a:r>
                        <a:rPr lang="en-IN" dirty="0" err="1"/>
                        <a:t>created_at</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Datetime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a:t>
                      </a:r>
                    </a:p>
                  </a:txBody>
                  <a:tcPr/>
                </a:tc>
                <a:tc>
                  <a:txBody>
                    <a:bodyPr/>
                    <a:lstStyle/>
                    <a:p>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tc>
                <a:tc>
                  <a:txBody>
                    <a:bodyPr/>
                    <a:lstStyle/>
                    <a:p>
                      <a:r>
                        <a:rPr lang="en-IN" dirty="0"/>
                        <a:t>Stores creation time</a:t>
                      </a:r>
                    </a:p>
                  </a:txBody>
                  <a:tcPr/>
                </a:tc>
                <a:extLst>
                  <a:ext uri="{0D108BD9-81ED-4DB2-BD59-A6C34878D82A}">
                    <a16:rowId xmlns:a16="http://schemas.microsoft.com/office/drawing/2014/main" val="1484841137"/>
                  </a:ext>
                </a:extLst>
              </a:tr>
              <a:tr h="466141">
                <a:tc>
                  <a:txBody>
                    <a:bodyPr/>
                    <a:lstStyle/>
                    <a:p>
                      <a:r>
                        <a:rPr lang="en-IN" dirty="0"/>
                        <a:t>15.</a:t>
                      </a:r>
                    </a:p>
                  </a:txBody>
                  <a:tcPr/>
                </a:tc>
                <a:tc>
                  <a:txBody>
                    <a:bodyPr/>
                    <a:lstStyle/>
                    <a:p>
                      <a:pPr>
                        <a:buNone/>
                      </a:pPr>
                      <a:r>
                        <a:rPr lang="en-IN" dirty="0" err="1"/>
                        <a:t>updated_at</a:t>
                      </a:r>
                      <a:endParaRPr lang="en-IN"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Datetime </a:t>
                      </a:r>
                    </a:p>
                  </a:txBody>
                  <a:tcPr/>
                </a:tc>
                <a:tc>
                  <a:txBody>
                    <a:bodyPr/>
                    <a:lstStyle/>
                    <a:p>
                      <a:r>
                        <a:rPr lang="en-IN" dirty="0"/>
                        <a:t>-</a:t>
                      </a:r>
                    </a:p>
                  </a:txBody>
                  <a:tcPr/>
                </a:tc>
                <a:tc>
                  <a:txBody>
                    <a:bodyPr/>
                    <a:lstStyle/>
                    <a:p>
                      <a:pPr>
                        <a:buNone/>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IN" dirty="0"/>
                        <a:t>Stores update time</a:t>
                      </a:r>
                    </a:p>
                  </a:txBody>
                  <a:tcPr anchor="ctr"/>
                </a:tc>
                <a:extLst>
                  <a:ext uri="{0D108BD9-81ED-4DB2-BD59-A6C34878D82A}">
                    <a16:rowId xmlns:a16="http://schemas.microsoft.com/office/drawing/2014/main" val="253505178"/>
                  </a:ext>
                </a:extLst>
              </a:tr>
            </a:tbl>
          </a:graphicData>
        </a:graphic>
      </p:graphicFrame>
    </p:spTree>
    <p:extLst>
      <p:ext uri="{BB962C8B-B14F-4D97-AF65-F5344CB8AC3E}">
        <p14:creationId xmlns:p14="http://schemas.microsoft.com/office/powerpoint/2010/main" val="202680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43EB3-DC00-6666-B9CF-665E9D10FD6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2757952-B892-0FE7-FFAD-C2A704A542C0}"/>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200" b="1" u="sng" dirty="0"/>
          </a:p>
        </p:txBody>
      </p:sp>
      <p:sp>
        <p:nvSpPr>
          <p:cNvPr id="5" name="Content Placeholder 2">
            <a:extLst>
              <a:ext uri="{FF2B5EF4-FFF2-40B4-BE49-F238E27FC236}">
                <a16:creationId xmlns:a16="http://schemas.microsoft.com/office/drawing/2014/main" id="{ACAE2BB3-DFDB-368C-11EB-9AFFCB1065B0}"/>
              </a:ext>
            </a:extLst>
          </p:cNvPr>
          <p:cNvSpPr>
            <a:spLocks noGrp="1"/>
          </p:cNvSpPr>
          <p:nvPr>
            <p:ph idx="1"/>
          </p:nvPr>
        </p:nvSpPr>
        <p:spPr>
          <a:xfrm>
            <a:off x="1206630" y="1253331"/>
            <a:ext cx="10515600" cy="4351338"/>
          </a:xfrm>
        </p:spPr>
        <p:txBody>
          <a:bodyPr/>
          <a:lstStyle/>
          <a:p>
            <a:r>
              <a:rPr lang="en-IN" sz="2400" b="1" dirty="0" err="1"/>
              <a:t>Password_reset_otp</a:t>
            </a:r>
            <a:r>
              <a:rPr lang="en-IN" sz="2400" b="1" dirty="0"/>
              <a:t> Table</a:t>
            </a:r>
          </a:p>
        </p:txBody>
      </p:sp>
      <p:graphicFrame>
        <p:nvGraphicFramePr>
          <p:cNvPr id="2" name="Table 1">
            <a:extLst>
              <a:ext uri="{FF2B5EF4-FFF2-40B4-BE49-F238E27FC236}">
                <a16:creationId xmlns:a16="http://schemas.microsoft.com/office/drawing/2014/main" id="{026899DD-DD4B-0097-4F0E-7A428C49EDFB}"/>
              </a:ext>
            </a:extLst>
          </p:cNvPr>
          <p:cNvGraphicFramePr>
            <a:graphicFrameLocks noGrp="1"/>
          </p:cNvGraphicFramePr>
          <p:nvPr>
            <p:extLst>
              <p:ext uri="{D42A27DB-BD31-4B8C-83A1-F6EECF244321}">
                <p14:modId xmlns:p14="http://schemas.microsoft.com/office/powerpoint/2010/main" val="3559005396"/>
              </p:ext>
            </p:extLst>
          </p:nvPr>
        </p:nvGraphicFramePr>
        <p:xfrm>
          <a:off x="1216057" y="1758244"/>
          <a:ext cx="10218656" cy="3318663"/>
        </p:xfrm>
        <a:graphic>
          <a:graphicData uri="http://schemas.openxmlformats.org/drawingml/2006/table">
            <a:tbl>
              <a:tblPr firstRow="1" bandRow="1">
                <a:tableStyleId>{5C22544A-7EE6-4342-B048-85BDC9FD1C3A}</a:tableStyleId>
              </a:tblPr>
              <a:tblGrid>
                <a:gridCol w="829559">
                  <a:extLst>
                    <a:ext uri="{9D8B030D-6E8A-4147-A177-3AD203B41FA5}">
                      <a16:colId xmlns:a16="http://schemas.microsoft.com/office/drawing/2014/main" val="2361305984"/>
                    </a:ext>
                  </a:extLst>
                </a:gridCol>
                <a:gridCol w="2290714">
                  <a:extLst>
                    <a:ext uri="{9D8B030D-6E8A-4147-A177-3AD203B41FA5}">
                      <a16:colId xmlns:a16="http://schemas.microsoft.com/office/drawing/2014/main" val="1768256383"/>
                    </a:ext>
                  </a:extLst>
                </a:gridCol>
                <a:gridCol w="1234911">
                  <a:extLst>
                    <a:ext uri="{9D8B030D-6E8A-4147-A177-3AD203B41FA5}">
                      <a16:colId xmlns:a16="http://schemas.microsoft.com/office/drawing/2014/main" val="2202159465"/>
                    </a:ext>
                  </a:extLst>
                </a:gridCol>
                <a:gridCol w="801986">
                  <a:extLst>
                    <a:ext uri="{9D8B030D-6E8A-4147-A177-3AD203B41FA5}">
                      <a16:colId xmlns:a16="http://schemas.microsoft.com/office/drawing/2014/main" val="3036415337"/>
                    </a:ext>
                  </a:extLst>
                </a:gridCol>
                <a:gridCol w="2296327">
                  <a:extLst>
                    <a:ext uri="{9D8B030D-6E8A-4147-A177-3AD203B41FA5}">
                      <a16:colId xmlns:a16="http://schemas.microsoft.com/office/drawing/2014/main" val="724710868"/>
                    </a:ext>
                  </a:extLst>
                </a:gridCol>
                <a:gridCol w="2765159">
                  <a:extLst>
                    <a:ext uri="{9D8B030D-6E8A-4147-A177-3AD203B41FA5}">
                      <a16:colId xmlns:a16="http://schemas.microsoft.com/office/drawing/2014/main" val="4195210944"/>
                    </a:ext>
                  </a:extLst>
                </a:gridCol>
              </a:tblGrid>
              <a:tr h="466141">
                <a:tc>
                  <a:txBody>
                    <a:bodyPr/>
                    <a:lstStyle/>
                    <a:p>
                      <a:r>
                        <a:rPr lang="en-IN" dirty="0"/>
                        <a:t>SR.NO </a:t>
                      </a:r>
                    </a:p>
                  </a:txBody>
                  <a:tcPr/>
                </a:tc>
                <a:tc>
                  <a:txBody>
                    <a:bodyPr/>
                    <a:lstStyle/>
                    <a:p>
                      <a:r>
                        <a:rPr lang="en-IN" dirty="0"/>
                        <a:t>FILD NAME </a:t>
                      </a:r>
                    </a:p>
                  </a:txBody>
                  <a:tcPr/>
                </a:tc>
                <a:tc>
                  <a:txBody>
                    <a:bodyPr/>
                    <a:lstStyle/>
                    <a:p>
                      <a:r>
                        <a:rPr lang="en-IN" dirty="0"/>
                        <a:t>DATA TYPE </a:t>
                      </a:r>
                    </a:p>
                  </a:txBody>
                  <a:tcPr/>
                </a:tc>
                <a:tc>
                  <a:txBody>
                    <a:bodyPr/>
                    <a:lstStyle/>
                    <a:p>
                      <a:r>
                        <a:rPr lang="en-IN" dirty="0"/>
                        <a:t>SIZE</a:t>
                      </a:r>
                    </a:p>
                  </a:txBody>
                  <a:tcPr/>
                </a:tc>
                <a:tc>
                  <a:txBody>
                    <a:bodyPr/>
                    <a:lstStyle/>
                    <a:p>
                      <a:r>
                        <a:rPr lang="en-IN" dirty="0"/>
                        <a:t>CONSTRAINT</a:t>
                      </a:r>
                    </a:p>
                  </a:txBody>
                  <a:tcPr/>
                </a:tc>
                <a:tc>
                  <a:txBody>
                    <a:bodyPr/>
                    <a:lstStyle/>
                    <a:p>
                      <a:r>
                        <a:rPr lang="en-IN" dirty="0"/>
                        <a:t>DESCRIPTION</a:t>
                      </a:r>
                    </a:p>
                  </a:txBody>
                  <a:tcPr/>
                </a:tc>
                <a:extLst>
                  <a:ext uri="{0D108BD9-81ED-4DB2-BD59-A6C34878D82A}">
                    <a16:rowId xmlns:a16="http://schemas.microsoft.com/office/drawing/2014/main" val="756231417"/>
                  </a:ext>
                </a:extLst>
              </a:tr>
              <a:tr h="466141">
                <a:tc>
                  <a:txBody>
                    <a:bodyPr/>
                    <a:lstStyle/>
                    <a:p>
                      <a:r>
                        <a:rPr lang="en-IN" dirty="0"/>
                        <a:t>1.</a:t>
                      </a:r>
                    </a:p>
                  </a:txBody>
                  <a:tcPr/>
                </a:tc>
                <a:tc>
                  <a:txBody>
                    <a:bodyPr/>
                    <a:lstStyle/>
                    <a:p>
                      <a:r>
                        <a:rPr lang="en-IN" dirty="0" err="1"/>
                        <a:t>Pass_id</a:t>
                      </a:r>
                      <a:endParaRPr lang="en-IN" dirty="0"/>
                    </a:p>
                  </a:txBody>
                  <a:tcPr/>
                </a:tc>
                <a:tc>
                  <a:txBody>
                    <a:bodyPr/>
                    <a:lstStyle/>
                    <a:p>
                      <a:r>
                        <a:rPr lang="en-IN" dirty="0"/>
                        <a:t>Integer</a:t>
                      </a:r>
                    </a:p>
                  </a:txBody>
                  <a:tcPr/>
                </a:tc>
                <a:tc>
                  <a:txBody>
                    <a:bodyPr/>
                    <a:lstStyle/>
                    <a:p>
                      <a:r>
                        <a:rPr lang="en-IN" dirty="0"/>
                        <a:t>4</a:t>
                      </a:r>
                    </a:p>
                  </a:txBody>
                  <a:tcPr/>
                </a:tc>
                <a:tc>
                  <a:txBody>
                    <a:bodyPr/>
                    <a:lstStyle/>
                    <a:p>
                      <a:r>
                        <a:rPr lang="en-IN" dirty="0"/>
                        <a:t>Primary key</a:t>
                      </a:r>
                    </a:p>
                  </a:txBody>
                  <a:tcPr/>
                </a:tc>
                <a:tc>
                  <a:txBody>
                    <a:bodyPr/>
                    <a:lstStyle/>
                    <a:p>
                      <a:r>
                        <a:rPr lang="en-US" dirty="0"/>
                        <a:t>Unique identifier for OTP record</a:t>
                      </a:r>
                      <a:endParaRPr lang="en-IN" dirty="0"/>
                    </a:p>
                  </a:txBody>
                  <a:tcPr/>
                </a:tc>
                <a:extLst>
                  <a:ext uri="{0D108BD9-81ED-4DB2-BD59-A6C34878D82A}">
                    <a16:rowId xmlns:a16="http://schemas.microsoft.com/office/drawing/2014/main" val="1046504683"/>
                  </a:ext>
                </a:extLst>
              </a:tr>
              <a:tr h="466141">
                <a:tc>
                  <a:txBody>
                    <a:bodyPr/>
                    <a:lstStyle/>
                    <a:p>
                      <a:r>
                        <a:rPr lang="en-IN" dirty="0"/>
                        <a:t>2.</a:t>
                      </a:r>
                    </a:p>
                  </a:txBody>
                  <a:tcPr/>
                </a:tc>
                <a:tc>
                  <a:txBody>
                    <a:bodyPr/>
                    <a:lstStyle/>
                    <a:p>
                      <a:r>
                        <a:rPr lang="en-IN" dirty="0" err="1"/>
                        <a:t>user_id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Integer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4</a:t>
                      </a:r>
                    </a:p>
                  </a:txBody>
                  <a:tcPr/>
                </a:tc>
                <a:tc>
                  <a:txBody>
                    <a:bodyPr/>
                    <a:lstStyle/>
                    <a:p>
                      <a:r>
                        <a:rPr lang="en-IN" dirty="0"/>
                        <a:t>Foreign Key</a:t>
                      </a:r>
                    </a:p>
                  </a:txBody>
                  <a:tcPr/>
                </a:tc>
                <a:tc>
                  <a:txBody>
                    <a:bodyPr/>
                    <a:lstStyle/>
                    <a:p>
                      <a:r>
                        <a:rPr lang="en-IN" dirty="0"/>
                        <a:t>References User</a:t>
                      </a:r>
                    </a:p>
                  </a:txBody>
                  <a:tcPr/>
                </a:tc>
                <a:extLst>
                  <a:ext uri="{0D108BD9-81ED-4DB2-BD59-A6C34878D82A}">
                    <a16:rowId xmlns:a16="http://schemas.microsoft.com/office/drawing/2014/main" val="1498848976"/>
                  </a:ext>
                </a:extLst>
              </a:tr>
              <a:tr h="466141">
                <a:tc>
                  <a:txBody>
                    <a:bodyPr/>
                    <a:lstStyle/>
                    <a:p>
                      <a:r>
                        <a:rPr lang="en-IN" dirty="0"/>
                        <a:t>3.</a:t>
                      </a:r>
                    </a:p>
                  </a:txBody>
                  <a:tcPr/>
                </a:tc>
                <a:tc>
                  <a:txBody>
                    <a:bodyPr/>
                    <a:lstStyle/>
                    <a:p>
                      <a:r>
                        <a:rPr lang="en-IN" dirty="0" err="1"/>
                        <a:t>Otp</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Varchar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Not Null</a:t>
                      </a:r>
                    </a:p>
                    <a:p>
                      <a:endParaRPr lang="en-IN" dirty="0"/>
                    </a:p>
                  </a:txBody>
                  <a:tcPr/>
                </a:tc>
                <a:tc>
                  <a:txBody>
                    <a:bodyPr/>
                    <a:lstStyle/>
                    <a:p>
                      <a:r>
                        <a:rPr lang="en-IN" dirty="0"/>
                        <a:t>Stores one-time password</a:t>
                      </a:r>
                    </a:p>
                  </a:txBody>
                  <a:tcPr/>
                </a:tc>
                <a:extLst>
                  <a:ext uri="{0D108BD9-81ED-4DB2-BD59-A6C34878D82A}">
                    <a16:rowId xmlns:a16="http://schemas.microsoft.com/office/drawing/2014/main" val="584237038"/>
                  </a:ext>
                </a:extLst>
              </a:tr>
              <a:tr h="466141">
                <a:tc>
                  <a:txBody>
                    <a:bodyPr/>
                    <a:lstStyle/>
                    <a:p>
                      <a:r>
                        <a:rPr lang="en-IN" dirty="0"/>
                        <a:t>4.</a:t>
                      </a:r>
                    </a:p>
                  </a:txBody>
                  <a:tcPr/>
                </a:tc>
                <a:tc>
                  <a:txBody>
                    <a:bodyPr/>
                    <a:lstStyle/>
                    <a:p>
                      <a:r>
                        <a:rPr lang="en-IN" dirty="0" err="1"/>
                        <a:t>created_at</a:t>
                      </a:r>
                      <a:endParaRPr lang="en-IN" dirty="0"/>
                    </a:p>
                  </a:txBody>
                  <a:tcPr/>
                </a:tc>
                <a:tc>
                  <a:txBody>
                    <a:bodyPr/>
                    <a:lstStyle/>
                    <a:p>
                      <a:r>
                        <a:rPr lang="en-IN" dirty="0" err="1"/>
                        <a:t>DateTime</a:t>
                      </a:r>
                      <a:endParaRPr lang="en-IN" dirty="0"/>
                    </a:p>
                  </a:txBody>
                  <a:tcPr/>
                </a:tc>
                <a:tc>
                  <a:txBody>
                    <a:bodyPr/>
                    <a:lstStyle/>
                    <a:p>
                      <a:r>
                        <a:rPr lang="en-IN" dirty="0"/>
                        <a:t>-</a:t>
                      </a:r>
                    </a:p>
                  </a:txBody>
                  <a:tcPr/>
                </a:tc>
                <a:tc>
                  <a:txBody>
                    <a:bodyPr/>
                    <a:lstStyle/>
                    <a:p>
                      <a:pPr>
                        <a:buNone/>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IN" dirty="0"/>
                        <a:t>Stores OTP creation time</a:t>
                      </a:r>
                    </a:p>
                  </a:txBody>
                  <a:tcPr anchor="ctr"/>
                </a:tc>
                <a:extLst>
                  <a:ext uri="{0D108BD9-81ED-4DB2-BD59-A6C34878D82A}">
                    <a16:rowId xmlns:a16="http://schemas.microsoft.com/office/drawing/2014/main" val="2466471007"/>
                  </a:ext>
                </a:extLst>
              </a:tr>
              <a:tr h="466141">
                <a:tc>
                  <a:txBody>
                    <a:bodyPr/>
                    <a:lstStyle/>
                    <a:p>
                      <a:r>
                        <a:rPr lang="en-IN" dirty="0"/>
                        <a:t>5.</a:t>
                      </a:r>
                    </a:p>
                  </a:txBody>
                  <a:tcPr/>
                </a:tc>
                <a:tc>
                  <a:txBody>
                    <a:bodyPr/>
                    <a:lstStyle/>
                    <a:p>
                      <a:r>
                        <a:rPr lang="en-IN" dirty="0" err="1"/>
                        <a:t>is_used</a:t>
                      </a:r>
                      <a:endParaRPr lang="en-IN" dirty="0"/>
                    </a:p>
                  </a:txBody>
                  <a:tcPr/>
                </a:tc>
                <a:tc>
                  <a:txBody>
                    <a:bodyPr/>
                    <a:lstStyle/>
                    <a:p>
                      <a:r>
                        <a:rPr lang="en-IN" dirty="0"/>
                        <a:t>Boolean</a:t>
                      </a:r>
                    </a:p>
                  </a:txBody>
                  <a:tcPr/>
                </a:tc>
                <a:tc>
                  <a:txBody>
                    <a:bodyPr/>
                    <a:lstStyle/>
                    <a:p>
                      <a:r>
                        <a:rPr lang="en-IN" dirty="0"/>
                        <a:t>1</a:t>
                      </a:r>
                    </a:p>
                  </a:txBody>
                  <a:tcPr/>
                </a:tc>
                <a:tc>
                  <a:txBody>
                    <a:bodyPr/>
                    <a:lstStyle/>
                    <a:p>
                      <a:pPr>
                        <a:buNone/>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Not null</a:t>
                      </a:r>
                      <a:endParaRPr lang="en-IN" sz="1800" dirty="0"/>
                    </a:p>
                  </a:txBody>
                  <a:tcPr anchor="ctr"/>
                </a:tc>
                <a:tc>
                  <a:txBody>
                    <a:bodyPr/>
                    <a:lstStyle/>
                    <a:p>
                      <a:pPr>
                        <a:buNone/>
                      </a:pPr>
                      <a:r>
                        <a:rPr lang="en-US" dirty="0"/>
                        <a:t>Indicates whether OTP is used</a:t>
                      </a:r>
                      <a:endParaRPr lang="en-IN" dirty="0"/>
                    </a:p>
                  </a:txBody>
                  <a:tcPr anchor="ctr"/>
                </a:tc>
                <a:extLst>
                  <a:ext uri="{0D108BD9-81ED-4DB2-BD59-A6C34878D82A}">
                    <a16:rowId xmlns:a16="http://schemas.microsoft.com/office/drawing/2014/main" val="2510266949"/>
                  </a:ext>
                </a:extLst>
              </a:tr>
            </a:tbl>
          </a:graphicData>
        </a:graphic>
      </p:graphicFrame>
    </p:spTree>
    <p:extLst>
      <p:ext uri="{BB962C8B-B14F-4D97-AF65-F5344CB8AC3E}">
        <p14:creationId xmlns:p14="http://schemas.microsoft.com/office/powerpoint/2010/main" val="18518564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38847-11F7-A601-89A5-20D2B4D4F9A5}"/>
              </a:ext>
            </a:extLst>
          </p:cNvPr>
          <p:cNvSpPr>
            <a:spLocks noGrp="1"/>
          </p:cNvSpPr>
          <p:nvPr>
            <p:ph type="title"/>
          </p:nvPr>
        </p:nvSpPr>
        <p:spPr/>
        <p:txBody>
          <a:bodyPr/>
          <a:lstStyle/>
          <a:p>
            <a:pPr marL="457200" indent="-457200">
              <a:buFont typeface="Wingdings" panose="05000000000000000000" pitchFamily="2" charset="2"/>
              <a:buChar char="§"/>
            </a:pPr>
            <a:r>
              <a:rPr lang="en-IN" sz="3200" b="1" u="sng" dirty="0">
                <a:latin typeface="+mn-lt"/>
              </a:rPr>
              <a:t>Screen/ Forms</a:t>
            </a:r>
            <a:r>
              <a:rPr lang="en-IN" sz="3200" b="1" dirty="0">
                <a:latin typeface="+mn-lt"/>
              </a:rPr>
              <a:t> :-</a:t>
            </a:r>
            <a:endParaRPr lang="en-IN" sz="3200" dirty="0">
              <a:latin typeface="+mn-lt"/>
            </a:endParaRPr>
          </a:p>
        </p:txBody>
      </p:sp>
      <p:sp>
        <p:nvSpPr>
          <p:cNvPr id="3" name="Content Placeholder 2">
            <a:extLst>
              <a:ext uri="{FF2B5EF4-FFF2-40B4-BE49-F238E27FC236}">
                <a16:creationId xmlns:a16="http://schemas.microsoft.com/office/drawing/2014/main" id="{3FBFAE58-BC47-25C6-17E5-220898869FC8}"/>
              </a:ext>
            </a:extLst>
          </p:cNvPr>
          <p:cNvSpPr>
            <a:spLocks noGrp="1"/>
          </p:cNvSpPr>
          <p:nvPr>
            <p:ph idx="1"/>
          </p:nvPr>
        </p:nvSpPr>
        <p:spPr/>
        <p:txBody>
          <a:bodyPr/>
          <a:lstStyle/>
          <a:p>
            <a:pPr>
              <a:buFont typeface="Wingdings" panose="05000000000000000000" pitchFamily="2" charset="2"/>
              <a:buChar char="Ø"/>
            </a:pPr>
            <a:r>
              <a:rPr lang="en-IN" b="1" u="sng" dirty="0"/>
              <a:t>Manager :-</a:t>
            </a:r>
          </a:p>
          <a:p>
            <a:r>
              <a:rPr lang="en-IN" sz="2400" b="1" dirty="0"/>
              <a:t>Registration page</a:t>
            </a:r>
          </a:p>
          <a:p>
            <a:pPr marL="0" indent="0">
              <a:buNone/>
            </a:pPr>
            <a:endParaRPr lang="en-IN" dirty="0"/>
          </a:p>
        </p:txBody>
      </p:sp>
      <p:pic>
        <p:nvPicPr>
          <p:cNvPr id="4" name="Picture 3">
            <a:extLst>
              <a:ext uri="{FF2B5EF4-FFF2-40B4-BE49-F238E27FC236}">
                <a16:creationId xmlns:a16="http://schemas.microsoft.com/office/drawing/2014/main" id="{EB4C8DDF-1724-66C4-578C-782491AD91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1522" y="2818614"/>
            <a:ext cx="7088956" cy="3587555"/>
          </a:xfrm>
          <a:prstGeom prst="rect">
            <a:avLst/>
          </a:prstGeom>
          <a:ln>
            <a:noFill/>
          </a:ln>
          <a:effectLst>
            <a:softEdge rad="112500"/>
          </a:effectLst>
        </p:spPr>
      </p:pic>
    </p:spTree>
    <p:extLst>
      <p:ext uri="{BB962C8B-B14F-4D97-AF65-F5344CB8AC3E}">
        <p14:creationId xmlns:p14="http://schemas.microsoft.com/office/powerpoint/2010/main" val="1352808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FE2DE-8C5F-B84D-6419-7900D84DA06D}"/>
              </a:ext>
            </a:extLst>
          </p:cNvPr>
          <p:cNvSpPr>
            <a:spLocks noGrp="1"/>
          </p:cNvSpPr>
          <p:nvPr>
            <p:ph idx="1"/>
          </p:nvPr>
        </p:nvSpPr>
        <p:spPr/>
        <p:txBody>
          <a:bodyPr/>
          <a:lstStyle/>
          <a:p>
            <a:r>
              <a:rPr lang="en-IN" sz="2400" b="1" dirty="0"/>
              <a:t>Login page </a:t>
            </a:r>
          </a:p>
          <a:p>
            <a:pPr marL="0" indent="0">
              <a:buNone/>
            </a:pPr>
            <a:endParaRPr lang="en-IN" dirty="0"/>
          </a:p>
        </p:txBody>
      </p:sp>
      <p:pic>
        <p:nvPicPr>
          <p:cNvPr id="4" name="Picture 3">
            <a:extLst>
              <a:ext uri="{FF2B5EF4-FFF2-40B4-BE49-F238E27FC236}">
                <a16:creationId xmlns:a16="http://schemas.microsoft.com/office/drawing/2014/main" id="{2DCE037D-92A8-1C12-A01D-262DB45B65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4030" y="2131378"/>
            <a:ext cx="7418894" cy="4045585"/>
          </a:xfrm>
          <a:prstGeom prst="rect">
            <a:avLst/>
          </a:prstGeom>
          <a:ln>
            <a:noFill/>
          </a:ln>
          <a:effectLst>
            <a:softEdge rad="112500"/>
          </a:effectLst>
        </p:spPr>
      </p:pic>
    </p:spTree>
    <p:extLst>
      <p:ext uri="{BB962C8B-B14F-4D97-AF65-F5344CB8AC3E}">
        <p14:creationId xmlns:p14="http://schemas.microsoft.com/office/powerpoint/2010/main" val="1274274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78445-F621-30CB-893D-BF89EFF26E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F111C-D04A-3D08-C18D-CA4E39F5F3E0}"/>
              </a:ext>
            </a:extLst>
          </p:cNvPr>
          <p:cNvSpPr>
            <a:spLocks noGrp="1"/>
          </p:cNvSpPr>
          <p:nvPr>
            <p:ph idx="1"/>
          </p:nvPr>
        </p:nvSpPr>
        <p:spPr>
          <a:xfrm>
            <a:off x="838200" y="1344858"/>
            <a:ext cx="10515600" cy="4351338"/>
          </a:xfrm>
        </p:spPr>
        <p:txBody>
          <a:bodyPr>
            <a:normAutofit/>
          </a:bodyPr>
          <a:lstStyle/>
          <a:p>
            <a:r>
              <a:rPr lang="en-IN" sz="2400" b="1" dirty="0"/>
              <a:t>Dashboard  Page</a:t>
            </a:r>
          </a:p>
        </p:txBody>
      </p:sp>
      <p:pic>
        <p:nvPicPr>
          <p:cNvPr id="2" name="Picture 1">
            <a:extLst>
              <a:ext uri="{FF2B5EF4-FFF2-40B4-BE49-F238E27FC236}">
                <a16:creationId xmlns:a16="http://schemas.microsoft.com/office/drawing/2014/main" id="{EF4BCA5E-C659-0AAE-9BD8-BD6BEFC31F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1798" y="2116454"/>
            <a:ext cx="7654565" cy="3579741"/>
          </a:xfrm>
          <a:prstGeom prst="rect">
            <a:avLst/>
          </a:prstGeom>
          <a:ln>
            <a:noFill/>
          </a:ln>
          <a:effectLst>
            <a:softEdge rad="112500"/>
          </a:effectLst>
        </p:spPr>
      </p:pic>
    </p:spTree>
    <p:extLst>
      <p:ext uri="{BB962C8B-B14F-4D97-AF65-F5344CB8AC3E}">
        <p14:creationId xmlns:p14="http://schemas.microsoft.com/office/powerpoint/2010/main" val="22037411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78F8-4408-5B4B-A090-C6B6598054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0FFA2-8EA1-272E-8589-6375E69234AF}"/>
              </a:ext>
            </a:extLst>
          </p:cNvPr>
          <p:cNvSpPr>
            <a:spLocks noGrp="1"/>
          </p:cNvSpPr>
          <p:nvPr>
            <p:ph idx="1"/>
          </p:nvPr>
        </p:nvSpPr>
        <p:spPr>
          <a:xfrm>
            <a:off x="838200" y="1344858"/>
            <a:ext cx="10515600" cy="4351338"/>
          </a:xfrm>
        </p:spPr>
        <p:txBody>
          <a:bodyPr>
            <a:normAutofit/>
          </a:bodyPr>
          <a:lstStyle/>
          <a:p>
            <a:pPr lvl="0"/>
            <a:r>
              <a:rPr lang="en-IN" sz="2400" b="1" dirty="0"/>
              <a:t>Add Medicine Page </a:t>
            </a:r>
          </a:p>
        </p:txBody>
      </p:sp>
      <p:pic>
        <p:nvPicPr>
          <p:cNvPr id="4" name="Picture 3">
            <a:extLst>
              <a:ext uri="{FF2B5EF4-FFF2-40B4-BE49-F238E27FC236}">
                <a16:creationId xmlns:a16="http://schemas.microsoft.com/office/drawing/2014/main" id="{D5CD59AA-C3E4-F1F4-AA32-B74BB859B963}"/>
              </a:ext>
            </a:extLst>
          </p:cNvPr>
          <p:cNvPicPr>
            <a:picLocks noChangeAspect="1"/>
          </p:cNvPicPr>
          <p:nvPr/>
        </p:nvPicPr>
        <p:blipFill>
          <a:blip r:embed="rId2"/>
          <a:stretch>
            <a:fillRect/>
          </a:stretch>
        </p:blipFill>
        <p:spPr>
          <a:xfrm>
            <a:off x="2394408" y="2119312"/>
            <a:ext cx="7494310" cy="3838428"/>
          </a:xfrm>
          <a:prstGeom prst="rect">
            <a:avLst/>
          </a:prstGeom>
          <a:ln>
            <a:noFill/>
          </a:ln>
          <a:effectLst>
            <a:softEdge rad="112500"/>
          </a:effectLst>
        </p:spPr>
      </p:pic>
    </p:spTree>
    <p:extLst>
      <p:ext uri="{BB962C8B-B14F-4D97-AF65-F5344CB8AC3E}">
        <p14:creationId xmlns:p14="http://schemas.microsoft.com/office/powerpoint/2010/main" val="8660701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EF86B-BDBE-CDAE-236F-F0E6FAE8804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C1144-3F89-5269-6A0C-A96B99B99A0A}"/>
              </a:ext>
            </a:extLst>
          </p:cNvPr>
          <p:cNvSpPr>
            <a:spLocks noGrp="1"/>
          </p:cNvSpPr>
          <p:nvPr>
            <p:ph idx="1"/>
          </p:nvPr>
        </p:nvSpPr>
        <p:spPr>
          <a:xfrm>
            <a:off x="838200" y="1344858"/>
            <a:ext cx="10515600" cy="4351338"/>
          </a:xfrm>
        </p:spPr>
        <p:txBody>
          <a:bodyPr>
            <a:normAutofit/>
          </a:bodyPr>
          <a:lstStyle/>
          <a:p>
            <a:pPr lvl="0"/>
            <a:r>
              <a:rPr lang="en-IN" sz="2400" b="1" dirty="0"/>
              <a:t>New Sales Page </a:t>
            </a:r>
          </a:p>
        </p:txBody>
      </p:sp>
      <p:pic>
        <p:nvPicPr>
          <p:cNvPr id="5" name="Picture 4">
            <a:extLst>
              <a:ext uri="{FF2B5EF4-FFF2-40B4-BE49-F238E27FC236}">
                <a16:creationId xmlns:a16="http://schemas.microsoft.com/office/drawing/2014/main" id="{948D191C-9780-95EB-12C8-E0BB0EA0B1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3834" y="2138680"/>
            <a:ext cx="7437749" cy="3557516"/>
          </a:xfrm>
          <a:prstGeom prst="rect">
            <a:avLst/>
          </a:prstGeom>
          <a:ln>
            <a:noFill/>
          </a:ln>
          <a:effectLst>
            <a:softEdge rad="112500"/>
          </a:effectLst>
        </p:spPr>
      </p:pic>
    </p:spTree>
    <p:extLst>
      <p:ext uri="{BB962C8B-B14F-4D97-AF65-F5344CB8AC3E}">
        <p14:creationId xmlns:p14="http://schemas.microsoft.com/office/powerpoint/2010/main" val="32169372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874E6-CEB6-1A1A-2A88-4453F0753E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0B9555-414C-683E-095A-621728A5841E}"/>
              </a:ext>
            </a:extLst>
          </p:cNvPr>
          <p:cNvSpPr>
            <a:spLocks noGrp="1"/>
          </p:cNvSpPr>
          <p:nvPr>
            <p:ph idx="1"/>
          </p:nvPr>
        </p:nvSpPr>
        <p:spPr>
          <a:xfrm>
            <a:off x="838200" y="1344858"/>
            <a:ext cx="10515600" cy="4351338"/>
          </a:xfrm>
        </p:spPr>
        <p:txBody>
          <a:bodyPr>
            <a:normAutofit/>
          </a:bodyPr>
          <a:lstStyle/>
          <a:p>
            <a:pPr lvl="0"/>
            <a:r>
              <a:rPr lang="en-IN" sz="2400" b="1" dirty="0"/>
              <a:t>Sales History Page </a:t>
            </a:r>
          </a:p>
        </p:txBody>
      </p:sp>
      <p:pic>
        <p:nvPicPr>
          <p:cNvPr id="2" name="Picture 1">
            <a:extLst>
              <a:ext uri="{FF2B5EF4-FFF2-40B4-BE49-F238E27FC236}">
                <a16:creationId xmlns:a16="http://schemas.microsoft.com/office/drawing/2014/main" id="{F04DF303-C102-EB8C-21C7-94EE270989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53006" y="2129790"/>
            <a:ext cx="7258639" cy="3566406"/>
          </a:xfrm>
          <a:prstGeom prst="rect">
            <a:avLst/>
          </a:prstGeom>
          <a:ln>
            <a:noFill/>
          </a:ln>
          <a:effectLst>
            <a:softEdge rad="112500"/>
          </a:effectLst>
        </p:spPr>
      </p:pic>
    </p:spTree>
    <p:extLst>
      <p:ext uri="{BB962C8B-B14F-4D97-AF65-F5344CB8AC3E}">
        <p14:creationId xmlns:p14="http://schemas.microsoft.com/office/powerpoint/2010/main" val="208195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1AA3-B379-2AB6-CD70-139CF89D28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E9A5B5-D0D5-4F05-3213-2023F8853CC1}"/>
              </a:ext>
            </a:extLst>
          </p:cNvPr>
          <p:cNvSpPr>
            <a:spLocks noGrp="1"/>
          </p:cNvSpPr>
          <p:nvPr>
            <p:ph idx="1"/>
          </p:nvPr>
        </p:nvSpPr>
        <p:spPr>
          <a:xfrm>
            <a:off x="838200" y="1344858"/>
            <a:ext cx="10515600" cy="4351338"/>
          </a:xfrm>
        </p:spPr>
        <p:txBody>
          <a:bodyPr>
            <a:normAutofit/>
          </a:bodyPr>
          <a:lstStyle/>
          <a:p>
            <a:pPr lvl="0"/>
            <a:r>
              <a:rPr lang="en-IN" sz="2400" b="1" dirty="0"/>
              <a:t>Customer Page </a:t>
            </a:r>
          </a:p>
        </p:txBody>
      </p:sp>
      <p:pic>
        <p:nvPicPr>
          <p:cNvPr id="4" name="Picture 3">
            <a:extLst>
              <a:ext uri="{FF2B5EF4-FFF2-40B4-BE49-F238E27FC236}">
                <a16:creationId xmlns:a16="http://schemas.microsoft.com/office/drawing/2014/main" id="{14CAA304-DD0F-E9FB-DE62-CFDCBB81D1E0}"/>
              </a:ext>
            </a:extLst>
          </p:cNvPr>
          <p:cNvPicPr>
            <a:picLocks noChangeAspect="1"/>
          </p:cNvPicPr>
          <p:nvPr/>
        </p:nvPicPr>
        <p:blipFill>
          <a:blip r:embed="rId2"/>
          <a:stretch>
            <a:fillRect/>
          </a:stretch>
        </p:blipFill>
        <p:spPr>
          <a:xfrm>
            <a:off x="2318994" y="2128519"/>
            <a:ext cx="7532016" cy="3567677"/>
          </a:xfrm>
          <a:prstGeom prst="rect">
            <a:avLst/>
          </a:prstGeom>
          <a:ln>
            <a:noFill/>
          </a:ln>
          <a:effectLst>
            <a:softEdge rad="112500"/>
          </a:effectLst>
        </p:spPr>
      </p:pic>
    </p:spTree>
    <p:extLst>
      <p:ext uri="{BB962C8B-B14F-4D97-AF65-F5344CB8AC3E}">
        <p14:creationId xmlns:p14="http://schemas.microsoft.com/office/powerpoint/2010/main" val="15372004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BC2A-691D-9F55-D979-72D3A78A36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1B99AA-E776-E608-0162-830D1C11738D}"/>
              </a:ext>
            </a:extLst>
          </p:cNvPr>
          <p:cNvSpPr>
            <a:spLocks noGrp="1"/>
          </p:cNvSpPr>
          <p:nvPr>
            <p:ph idx="1"/>
          </p:nvPr>
        </p:nvSpPr>
        <p:spPr>
          <a:xfrm>
            <a:off x="838200" y="1344858"/>
            <a:ext cx="10515600" cy="4351338"/>
          </a:xfrm>
        </p:spPr>
        <p:txBody>
          <a:bodyPr>
            <a:normAutofit/>
          </a:bodyPr>
          <a:lstStyle/>
          <a:p>
            <a:pPr lvl="0"/>
            <a:r>
              <a:rPr lang="en-IN" sz="2400" b="1" dirty="0"/>
              <a:t>Medicine Request Page </a:t>
            </a:r>
          </a:p>
        </p:txBody>
      </p:sp>
      <p:pic>
        <p:nvPicPr>
          <p:cNvPr id="2" name="Picture 1">
            <a:extLst>
              <a:ext uri="{FF2B5EF4-FFF2-40B4-BE49-F238E27FC236}">
                <a16:creationId xmlns:a16="http://schemas.microsoft.com/office/drawing/2014/main" id="{C3315020-3BD1-6285-8157-101DB85E17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47274" y="2120900"/>
            <a:ext cx="7456602" cy="3575296"/>
          </a:xfrm>
          <a:prstGeom prst="rect">
            <a:avLst/>
          </a:prstGeom>
          <a:ln>
            <a:noFill/>
          </a:ln>
          <a:effectLst>
            <a:softEdge rad="112500"/>
          </a:effectLst>
        </p:spPr>
      </p:pic>
    </p:spTree>
    <p:extLst>
      <p:ext uri="{BB962C8B-B14F-4D97-AF65-F5344CB8AC3E}">
        <p14:creationId xmlns:p14="http://schemas.microsoft.com/office/powerpoint/2010/main" val="23447647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B22EB-DDC6-046E-60D8-9C6C482F2EF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BAABB4-F792-07F2-2017-37601C52D6F6}"/>
              </a:ext>
            </a:extLst>
          </p:cNvPr>
          <p:cNvSpPr>
            <a:spLocks noGrp="1"/>
          </p:cNvSpPr>
          <p:nvPr>
            <p:ph idx="1"/>
          </p:nvPr>
        </p:nvSpPr>
        <p:spPr>
          <a:xfrm>
            <a:off x="838200" y="1344858"/>
            <a:ext cx="10515600" cy="4351338"/>
          </a:xfrm>
        </p:spPr>
        <p:txBody>
          <a:bodyPr>
            <a:normAutofit/>
          </a:bodyPr>
          <a:lstStyle/>
          <a:p>
            <a:pPr lvl="0"/>
            <a:r>
              <a:rPr lang="en-IN" sz="2400" b="1" dirty="0"/>
              <a:t>Debtors Page </a:t>
            </a:r>
          </a:p>
        </p:txBody>
      </p:sp>
      <p:pic>
        <p:nvPicPr>
          <p:cNvPr id="4" name="Picture 3">
            <a:extLst>
              <a:ext uri="{FF2B5EF4-FFF2-40B4-BE49-F238E27FC236}">
                <a16:creationId xmlns:a16="http://schemas.microsoft.com/office/drawing/2014/main" id="{9D646418-10BC-F3CD-EEA5-351A2F98AE94}"/>
              </a:ext>
            </a:extLst>
          </p:cNvPr>
          <p:cNvPicPr>
            <a:picLocks noChangeAspect="1"/>
          </p:cNvPicPr>
          <p:nvPr/>
        </p:nvPicPr>
        <p:blipFill>
          <a:blip r:embed="rId2"/>
          <a:stretch>
            <a:fillRect/>
          </a:stretch>
        </p:blipFill>
        <p:spPr>
          <a:xfrm>
            <a:off x="2130458" y="2122487"/>
            <a:ext cx="7711126" cy="3573709"/>
          </a:xfrm>
          <a:prstGeom prst="rect">
            <a:avLst/>
          </a:prstGeom>
          <a:ln>
            <a:noFill/>
          </a:ln>
          <a:effectLst>
            <a:softEdge rad="112500"/>
          </a:effectLst>
        </p:spPr>
      </p:pic>
    </p:spTree>
    <p:extLst>
      <p:ext uri="{BB962C8B-B14F-4D97-AF65-F5344CB8AC3E}">
        <p14:creationId xmlns:p14="http://schemas.microsoft.com/office/powerpoint/2010/main" val="1510259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49D96-D1B3-45B3-1F15-C5D340E92E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4CBEBD-7C8B-DC5E-6890-B80E53CBE8A2}"/>
              </a:ext>
            </a:extLst>
          </p:cNvPr>
          <p:cNvSpPr>
            <a:spLocks noGrp="1"/>
          </p:cNvSpPr>
          <p:nvPr>
            <p:ph idx="1"/>
          </p:nvPr>
        </p:nvSpPr>
        <p:spPr>
          <a:xfrm>
            <a:off x="838200" y="1344858"/>
            <a:ext cx="10515600" cy="4351338"/>
          </a:xfrm>
        </p:spPr>
        <p:txBody>
          <a:bodyPr>
            <a:normAutofit/>
          </a:bodyPr>
          <a:lstStyle/>
          <a:p>
            <a:pPr lvl="0"/>
            <a:r>
              <a:rPr lang="en-IN" sz="2400" b="1" dirty="0"/>
              <a:t>Setting Page </a:t>
            </a:r>
          </a:p>
        </p:txBody>
      </p:sp>
      <p:pic>
        <p:nvPicPr>
          <p:cNvPr id="2" name="Picture 1">
            <a:extLst>
              <a:ext uri="{FF2B5EF4-FFF2-40B4-BE49-F238E27FC236}">
                <a16:creationId xmlns:a16="http://schemas.microsoft.com/office/drawing/2014/main" id="{2EA7C7D7-33C8-F7D8-F498-57C20D658111}"/>
              </a:ext>
            </a:extLst>
          </p:cNvPr>
          <p:cNvPicPr>
            <a:picLocks noChangeAspect="1"/>
          </p:cNvPicPr>
          <p:nvPr/>
        </p:nvPicPr>
        <p:blipFill>
          <a:blip r:embed="rId2"/>
          <a:stretch>
            <a:fillRect/>
          </a:stretch>
        </p:blipFill>
        <p:spPr>
          <a:xfrm>
            <a:off x="2300140" y="2129789"/>
            <a:ext cx="7400041" cy="3566407"/>
          </a:xfrm>
          <a:prstGeom prst="rect">
            <a:avLst/>
          </a:prstGeom>
          <a:ln>
            <a:noFill/>
          </a:ln>
          <a:effectLst>
            <a:softEdge rad="112500"/>
          </a:effectLst>
        </p:spPr>
      </p:pic>
    </p:spTree>
    <p:extLst>
      <p:ext uri="{BB962C8B-B14F-4D97-AF65-F5344CB8AC3E}">
        <p14:creationId xmlns:p14="http://schemas.microsoft.com/office/powerpoint/2010/main" val="16701927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CD5E3-48B4-9404-27E2-0D2F65FD9CB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76FAF-82A8-F95D-760A-23CC76C84290}"/>
              </a:ext>
            </a:extLst>
          </p:cNvPr>
          <p:cNvSpPr>
            <a:spLocks noGrp="1"/>
          </p:cNvSpPr>
          <p:nvPr>
            <p:ph idx="1"/>
          </p:nvPr>
        </p:nvSpPr>
        <p:spPr>
          <a:xfrm>
            <a:off x="838200" y="1561675"/>
            <a:ext cx="10515600" cy="4351338"/>
          </a:xfrm>
        </p:spPr>
        <p:txBody>
          <a:bodyPr/>
          <a:lstStyle/>
          <a:p>
            <a:pPr>
              <a:buFont typeface="Wingdings" panose="05000000000000000000" pitchFamily="2" charset="2"/>
              <a:buChar char="Ø"/>
            </a:pPr>
            <a:r>
              <a:rPr lang="en-IN" b="1" u="sng" dirty="0"/>
              <a:t>Admin :-</a:t>
            </a:r>
          </a:p>
          <a:p>
            <a:r>
              <a:rPr lang="en-IN" sz="2400" b="1" dirty="0"/>
              <a:t>Login page</a:t>
            </a:r>
          </a:p>
          <a:p>
            <a:pPr marL="0" indent="0">
              <a:buNone/>
            </a:pPr>
            <a:endParaRPr lang="en-IN" dirty="0"/>
          </a:p>
        </p:txBody>
      </p:sp>
      <p:pic>
        <p:nvPicPr>
          <p:cNvPr id="5" name="Picture 4">
            <a:extLst>
              <a:ext uri="{FF2B5EF4-FFF2-40B4-BE49-F238E27FC236}">
                <a16:creationId xmlns:a16="http://schemas.microsoft.com/office/drawing/2014/main" id="{7EA7ECD5-A24B-0084-2431-28D2078F02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20186" y="2126933"/>
            <a:ext cx="6551628" cy="3786080"/>
          </a:xfrm>
          <a:prstGeom prst="rect">
            <a:avLst/>
          </a:prstGeom>
          <a:ln>
            <a:noFill/>
          </a:ln>
          <a:effectLst>
            <a:softEdge rad="112500"/>
          </a:effectLst>
        </p:spPr>
      </p:pic>
    </p:spTree>
    <p:extLst>
      <p:ext uri="{BB962C8B-B14F-4D97-AF65-F5344CB8AC3E}">
        <p14:creationId xmlns:p14="http://schemas.microsoft.com/office/powerpoint/2010/main" val="38299188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909F9-E882-C0B5-AFFF-E6A0F12943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C59B21-BEDB-146C-3BC2-0B886FA74329}"/>
              </a:ext>
            </a:extLst>
          </p:cNvPr>
          <p:cNvSpPr>
            <a:spLocks noGrp="1"/>
          </p:cNvSpPr>
          <p:nvPr>
            <p:ph idx="1"/>
          </p:nvPr>
        </p:nvSpPr>
        <p:spPr>
          <a:xfrm>
            <a:off x="838200" y="1344858"/>
            <a:ext cx="10515600" cy="4351338"/>
          </a:xfrm>
        </p:spPr>
        <p:txBody>
          <a:bodyPr>
            <a:normAutofit/>
          </a:bodyPr>
          <a:lstStyle/>
          <a:p>
            <a:pPr lvl="0"/>
            <a:r>
              <a:rPr lang="en-IN" sz="2400" b="1" dirty="0"/>
              <a:t>Dashboard Page </a:t>
            </a:r>
          </a:p>
        </p:txBody>
      </p:sp>
      <p:pic>
        <p:nvPicPr>
          <p:cNvPr id="2" name="Picture 1">
            <a:extLst>
              <a:ext uri="{FF2B5EF4-FFF2-40B4-BE49-F238E27FC236}">
                <a16:creationId xmlns:a16="http://schemas.microsoft.com/office/drawing/2014/main" id="{B37F7218-915F-B947-2F02-54D7F11C42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35810" y="2122488"/>
            <a:ext cx="7060677" cy="3573708"/>
          </a:xfrm>
          <a:prstGeom prst="rect">
            <a:avLst/>
          </a:prstGeom>
          <a:ln>
            <a:noFill/>
          </a:ln>
          <a:effectLst>
            <a:softEdge rad="112500"/>
          </a:effectLst>
        </p:spPr>
      </p:pic>
    </p:spTree>
    <p:extLst>
      <p:ext uri="{BB962C8B-B14F-4D97-AF65-F5344CB8AC3E}">
        <p14:creationId xmlns:p14="http://schemas.microsoft.com/office/powerpoint/2010/main" val="14871019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52C1-5B89-191C-F41D-C37464730A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E2EE0-1770-8620-C07A-FEB9DA21BA9D}"/>
              </a:ext>
            </a:extLst>
          </p:cNvPr>
          <p:cNvSpPr>
            <a:spLocks noGrp="1"/>
          </p:cNvSpPr>
          <p:nvPr>
            <p:ph idx="1"/>
          </p:nvPr>
        </p:nvSpPr>
        <p:spPr>
          <a:xfrm>
            <a:off x="838200" y="1344858"/>
            <a:ext cx="10515600" cy="4351338"/>
          </a:xfrm>
        </p:spPr>
        <p:txBody>
          <a:bodyPr/>
          <a:lstStyle/>
          <a:p>
            <a:r>
              <a:rPr lang="en-IN" dirty="0"/>
              <a:t> </a:t>
            </a:r>
            <a:r>
              <a:rPr lang="en-IN" sz="2400" b="1" dirty="0"/>
              <a:t>All Pharmacies Page </a:t>
            </a:r>
          </a:p>
        </p:txBody>
      </p:sp>
      <p:pic>
        <p:nvPicPr>
          <p:cNvPr id="4" name="Picture 3">
            <a:extLst>
              <a:ext uri="{FF2B5EF4-FFF2-40B4-BE49-F238E27FC236}">
                <a16:creationId xmlns:a16="http://schemas.microsoft.com/office/drawing/2014/main" id="{7FE5C964-94A9-B657-094A-08AB5076CA70}"/>
              </a:ext>
            </a:extLst>
          </p:cNvPr>
          <p:cNvPicPr>
            <a:picLocks noChangeAspect="1"/>
          </p:cNvPicPr>
          <p:nvPr/>
        </p:nvPicPr>
        <p:blipFill>
          <a:blip r:embed="rId2"/>
          <a:stretch>
            <a:fillRect/>
          </a:stretch>
        </p:blipFill>
        <p:spPr>
          <a:xfrm>
            <a:off x="2422689" y="2120900"/>
            <a:ext cx="7343480" cy="3575296"/>
          </a:xfrm>
          <a:prstGeom prst="rect">
            <a:avLst/>
          </a:prstGeom>
          <a:ln>
            <a:noFill/>
          </a:ln>
          <a:effectLst>
            <a:softEdge rad="112500"/>
          </a:effectLst>
        </p:spPr>
      </p:pic>
    </p:spTree>
    <p:extLst>
      <p:ext uri="{BB962C8B-B14F-4D97-AF65-F5344CB8AC3E}">
        <p14:creationId xmlns:p14="http://schemas.microsoft.com/office/powerpoint/2010/main" val="1252119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7595C-A40E-5580-3874-CAB2E91CD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CB414F-2CDC-4919-5E4E-9C5A2F2DB575}"/>
              </a:ext>
            </a:extLst>
          </p:cNvPr>
          <p:cNvSpPr>
            <a:spLocks noGrp="1"/>
          </p:cNvSpPr>
          <p:nvPr>
            <p:ph type="title"/>
          </p:nvPr>
        </p:nvSpPr>
        <p:spPr>
          <a:xfrm>
            <a:off x="838200" y="1182736"/>
            <a:ext cx="10515600" cy="1325563"/>
          </a:xfrm>
        </p:spPr>
        <p:txBody>
          <a:bodyPr/>
          <a:lstStyle/>
          <a:p>
            <a:pPr marL="457200" indent="-457200">
              <a:buFont typeface="Wingdings" panose="05000000000000000000" pitchFamily="2" charset="2"/>
              <a:buChar char="§"/>
            </a:pPr>
            <a:r>
              <a:rPr lang="en-IN" sz="3200" b="1" u="sng" dirty="0">
                <a:latin typeface="+mn-lt"/>
              </a:rPr>
              <a:t>Reports</a:t>
            </a:r>
            <a:r>
              <a:rPr lang="en-IN" sz="3200" b="1" dirty="0"/>
              <a:t> </a:t>
            </a:r>
            <a:endParaRPr lang="en-IN" dirty="0"/>
          </a:p>
        </p:txBody>
      </p:sp>
      <p:sp>
        <p:nvSpPr>
          <p:cNvPr id="4" name="Content Placeholder 3">
            <a:extLst>
              <a:ext uri="{FF2B5EF4-FFF2-40B4-BE49-F238E27FC236}">
                <a16:creationId xmlns:a16="http://schemas.microsoft.com/office/drawing/2014/main" id="{EE5FDD03-4F34-54C1-8D74-989F465D0EAB}"/>
              </a:ext>
            </a:extLst>
          </p:cNvPr>
          <p:cNvSpPr>
            <a:spLocks noGrp="1"/>
          </p:cNvSpPr>
          <p:nvPr>
            <p:ph idx="1"/>
          </p:nvPr>
        </p:nvSpPr>
        <p:spPr>
          <a:xfrm>
            <a:off x="838200" y="2508299"/>
            <a:ext cx="10515600" cy="2633253"/>
          </a:xfrm>
        </p:spPr>
        <p:txBody>
          <a:bodyPr>
            <a:normAutofit lnSpcReduction="10000"/>
          </a:bodyPr>
          <a:lstStyle/>
          <a:p>
            <a:pPr algn="just"/>
            <a:r>
              <a:rPr lang="en-US" sz="2400" b="1" dirty="0"/>
              <a:t>Financial &amp; Stock:</a:t>
            </a:r>
            <a:r>
              <a:rPr lang="en-US" sz="2400" dirty="0"/>
              <a:t> Generate revenue trend reports based on sales and medicine data, identify top-selling items, track expiry alerts, and prepare low-stock valuation reports.</a:t>
            </a:r>
          </a:p>
          <a:p>
            <a:pPr algn="just"/>
            <a:endParaRPr lang="en-US" sz="2400" dirty="0"/>
          </a:p>
          <a:p>
            <a:pPr algn="just"/>
            <a:r>
              <a:rPr lang="en-US" sz="2400" b="1" dirty="0"/>
              <a:t>Customer &amp; Audit:</a:t>
            </a:r>
            <a:r>
              <a:rPr lang="en-US" sz="2400" dirty="0"/>
              <a:t> Provide debtor ageing reports, </a:t>
            </a:r>
            <a:r>
              <a:rPr lang="en-US" sz="2400" dirty="0" err="1"/>
              <a:t>analyse</a:t>
            </a:r>
            <a:r>
              <a:rPr lang="en-US" sz="2400" dirty="0"/>
              <a:t> customer loyalty insights, and maintain admin user activity logs for system security and audit purposes. </a:t>
            </a:r>
          </a:p>
          <a:p>
            <a:pPr marL="0" indent="0">
              <a:buNone/>
            </a:pPr>
            <a:endParaRPr lang="en-IN" dirty="0"/>
          </a:p>
        </p:txBody>
      </p:sp>
    </p:spTree>
    <p:extLst>
      <p:ext uri="{BB962C8B-B14F-4D97-AF65-F5344CB8AC3E}">
        <p14:creationId xmlns:p14="http://schemas.microsoft.com/office/powerpoint/2010/main" val="8571335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81FA1-FE2C-35B7-C0AC-22534AB09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0D73-FC5D-58A9-CF66-CB925BB8B03C}"/>
              </a:ext>
            </a:extLst>
          </p:cNvPr>
          <p:cNvSpPr>
            <a:spLocks noGrp="1"/>
          </p:cNvSpPr>
          <p:nvPr>
            <p:ph type="title"/>
          </p:nvPr>
        </p:nvSpPr>
        <p:spPr/>
        <p:txBody>
          <a:bodyPr/>
          <a:lstStyle/>
          <a:p>
            <a:pPr marL="457200" indent="-457200">
              <a:buFont typeface="Wingdings" panose="05000000000000000000" pitchFamily="2" charset="2"/>
              <a:buChar char="§"/>
            </a:pPr>
            <a:r>
              <a:rPr lang="en-IN" sz="3200" b="1" u="sng" dirty="0">
                <a:latin typeface="+mn-lt"/>
              </a:rPr>
              <a:t>Reports</a:t>
            </a:r>
            <a:r>
              <a:rPr lang="en-IN" sz="3200" b="1" dirty="0"/>
              <a:t> </a:t>
            </a:r>
            <a:endParaRPr lang="en-IN" dirty="0"/>
          </a:p>
        </p:txBody>
      </p:sp>
      <p:pic>
        <p:nvPicPr>
          <p:cNvPr id="5" name="Content Placeholder 4">
            <a:extLst>
              <a:ext uri="{FF2B5EF4-FFF2-40B4-BE49-F238E27FC236}">
                <a16:creationId xmlns:a16="http://schemas.microsoft.com/office/drawing/2014/main" id="{3D418DF9-16BB-88F4-A9CA-C86DCD33943C}"/>
              </a:ext>
            </a:extLst>
          </p:cNvPr>
          <p:cNvPicPr>
            <a:picLocks noGrp="1" noChangeAspect="1"/>
          </p:cNvPicPr>
          <p:nvPr>
            <p:ph idx="1"/>
          </p:nvPr>
        </p:nvPicPr>
        <p:blipFill>
          <a:blip r:embed="rId2"/>
          <a:stretch>
            <a:fillRect/>
          </a:stretch>
        </p:blipFill>
        <p:spPr>
          <a:xfrm>
            <a:off x="1329894" y="1825625"/>
            <a:ext cx="9532211" cy="4351338"/>
          </a:xfrm>
          <a:prstGeom prst="rect">
            <a:avLst/>
          </a:prstGeom>
          <a:ln>
            <a:noFill/>
          </a:ln>
          <a:effectLst>
            <a:softEdge rad="112500"/>
          </a:effectLst>
        </p:spPr>
      </p:pic>
    </p:spTree>
    <p:extLst>
      <p:ext uri="{BB962C8B-B14F-4D97-AF65-F5344CB8AC3E}">
        <p14:creationId xmlns:p14="http://schemas.microsoft.com/office/powerpoint/2010/main" val="20239370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80">
            <a:extLst>
              <a:ext uri="{FF2B5EF4-FFF2-40B4-BE49-F238E27FC236}">
                <a16:creationId xmlns:a16="http://schemas.microsoft.com/office/drawing/2014/main" id="{BCA5C1D7-69F8-1E48-F87F-9CDDCEF3F4DF}"/>
              </a:ext>
            </a:extLst>
          </p:cNvPr>
          <p:cNvPicPr>
            <a:picLocks/>
          </p:cNvPicPr>
          <p:nvPr/>
        </p:nvPicPr>
        <p:blipFill>
          <a:blip r:embed="rId2" cstate="print"/>
          <a:stretch>
            <a:fillRect/>
          </a:stretch>
        </p:blipFill>
        <p:spPr>
          <a:xfrm>
            <a:off x="1611984" y="1216058"/>
            <a:ext cx="8776354" cy="4873657"/>
          </a:xfrm>
          <a:prstGeom prst="rect">
            <a:avLst/>
          </a:prstGeom>
        </p:spPr>
      </p:pic>
    </p:spTree>
    <p:extLst>
      <p:ext uri="{BB962C8B-B14F-4D97-AF65-F5344CB8AC3E}">
        <p14:creationId xmlns:p14="http://schemas.microsoft.com/office/powerpoint/2010/main" val="19969915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81">
            <a:extLst>
              <a:ext uri="{FF2B5EF4-FFF2-40B4-BE49-F238E27FC236}">
                <a16:creationId xmlns:a16="http://schemas.microsoft.com/office/drawing/2014/main" id="{A384FC36-960A-C5D6-6955-0B7684F1F1AF}"/>
              </a:ext>
            </a:extLst>
          </p:cNvPr>
          <p:cNvPicPr>
            <a:picLocks/>
          </p:cNvPicPr>
          <p:nvPr/>
        </p:nvPicPr>
        <p:blipFill>
          <a:blip r:embed="rId2" cstate="print"/>
          <a:stretch>
            <a:fillRect/>
          </a:stretch>
        </p:blipFill>
        <p:spPr>
          <a:xfrm>
            <a:off x="1762812" y="1385740"/>
            <a:ext cx="8248453" cy="4590853"/>
          </a:xfrm>
          <a:prstGeom prst="rect">
            <a:avLst/>
          </a:prstGeom>
        </p:spPr>
      </p:pic>
    </p:spTree>
    <p:extLst>
      <p:ext uri="{BB962C8B-B14F-4D97-AF65-F5344CB8AC3E}">
        <p14:creationId xmlns:p14="http://schemas.microsoft.com/office/powerpoint/2010/main" val="195790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0972-4001-171C-304F-F52FDB6CCC4F}"/>
              </a:ext>
            </a:extLst>
          </p:cNvPr>
          <p:cNvSpPr>
            <a:spLocks noGrp="1"/>
          </p:cNvSpPr>
          <p:nvPr>
            <p:ph type="title"/>
          </p:nvPr>
        </p:nvSpPr>
        <p:spPr/>
        <p:txBody>
          <a:bodyPr>
            <a:normAutofit/>
          </a:bodyPr>
          <a:lstStyle/>
          <a:p>
            <a:pPr marL="457200" indent="-457200">
              <a:buFont typeface="Wingdings" panose="05000000000000000000" pitchFamily="2" charset="2"/>
              <a:buChar char="§"/>
            </a:pPr>
            <a:r>
              <a:rPr lang="en-IN" sz="3200" b="1" u="sng" dirty="0">
                <a:latin typeface="+mn-lt"/>
              </a:rPr>
              <a:t>Testing</a:t>
            </a:r>
            <a:r>
              <a:rPr lang="en-IN" sz="3200" b="1" u="sng" dirty="0"/>
              <a:t> </a:t>
            </a:r>
          </a:p>
        </p:txBody>
      </p:sp>
      <p:sp>
        <p:nvSpPr>
          <p:cNvPr id="3" name="Content Placeholder 2">
            <a:extLst>
              <a:ext uri="{FF2B5EF4-FFF2-40B4-BE49-F238E27FC236}">
                <a16:creationId xmlns:a16="http://schemas.microsoft.com/office/drawing/2014/main" id="{700F9C57-C288-CF35-594E-5C848788C973}"/>
              </a:ext>
            </a:extLst>
          </p:cNvPr>
          <p:cNvSpPr>
            <a:spLocks noGrp="1"/>
          </p:cNvSpPr>
          <p:nvPr>
            <p:ph idx="1"/>
          </p:nvPr>
        </p:nvSpPr>
        <p:spPr/>
        <p:txBody>
          <a:bodyPr/>
          <a:lstStyle/>
          <a:p>
            <a:pPr>
              <a:buFont typeface="Wingdings" panose="05000000000000000000" pitchFamily="2" charset="2"/>
              <a:buChar char="Ø"/>
            </a:pPr>
            <a:r>
              <a:rPr lang="en-IN" b="1" dirty="0"/>
              <a:t>Test Cases</a:t>
            </a:r>
          </a:p>
        </p:txBody>
      </p:sp>
      <p:pic>
        <p:nvPicPr>
          <p:cNvPr id="5" name="Picture 4">
            <a:extLst>
              <a:ext uri="{FF2B5EF4-FFF2-40B4-BE49-F238E27FC236}">
                <a16:creationId xmlns:a16="http://schemas.microsoft.com/office/drawing/2014/main" id="{CC8A4D30-A73B-3C48-9F61-02921C18DF64}"/>
              </a:ext>
            </a:extLst>
          </p:cNvPr>
          <p:cNvPicPr>
            <a:picLocks noChangeAspect="1"/>
          </p:cNvPicPr>
          <p:nvPr/>
        </p:nvPicPr>
        <p:blipFill>
          <a:blip r:embed="rId2">
            <a:extLst>
              <a:ext uri="{28A0092B-C50C-407E-A947-70E740481C1C}">
                <a14:useLocalDpi xmlns:a14="http://schemas.microsoft.com/office/drawing/2010/main" val="0"/>
              </a:ext>
            </a:extLst>
          </a:blip>
          <a:srcRect l="14134" t="26070" r="14134" b="25402"/>
          <a:stretch>
            <a:fillRect/>
          </a:stretch>
        </p:blipFill>
        <p:spPr>
          <a:xfrm>
            <a:off x="2311139" y="2366128"/>
            <a:ext cx="7569722" cy="3544477"/>
          </a:xfrm>
          <a:prstGeom prst="rect">
            <a:avLst/>
          </a:prstGeom>
        </p:spPr>
      </p:pic>
    </p:spTree>
    <p:extLst>
      <p:ext uri="{BB962C8B-B14F-4D97-AF65-F5344CB8AC3E}">
        <p14:creationId xmlns:p14="http://schemas.microsoft.com/office/powerpoint/2010/main" val="31534382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4BAFE8-F10C-B905-C12F-B8D337A2D63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29" t="6874" r="5410" b="6055"/>
          <a:stretch>
            <a:fillRect/>
          </a:stretch>
        </p:blipFill>
        <p:spPr>
          <a:xfrm>
            <a:off x="3195687" y="603315"/>
            <a:ext cx="5109327" cy="5948314"/>
          </a:xfrm>
        </p:spPr>
      </p:pic>
    </p:spTree>
    <p:extLst>
      <p:ext uri="{BB962C8B-B14F-4D97-AF65-F5344CB8AC3E}">
        <p14:creationId xmlns:p14="http://schemas.microsoft.com/office/powerpoint/2010/main" val="1558722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6B306E-B866-1AF9-39DD-156733D308B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524" t="5739" r="5905" b="5565"/>
          <a:stretch>
            <a:fillRect/>
          </a:stretch>
        </p:blipFill>
        <p:spPr>
          <a:xfrm>
            <a:off x="3478491" y="744718"/>
            <a:ext cx="4788816" cy="5693789"/>
          </a:xfrm>
        </p:spPr>
      </p:pic>
    </p:spTree>
    <p:extLst>
      <p:ext uri="{BB962C8B-B14F-4D97-AF65-F5344CB8AC3E}">
        <p14:creationId xmlns:p14="http://schemas.microsoft.com/office/powerpoint/2010/main" val="11511617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3AF855-CE7B-2642-4B96-C0D81C98096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503" t="6304" r="5503" b="5780"/>
          <a:stretch>
            <a:fillRect/>
          </a:stretch>
        </p:blipFill>
        <p:spPr>
          <a:xfrm>
            <a:off x="3374795" y="622169"/>
            <a:ext cx="4977353" cy="5910606"/>
          </a:xfrm>
        </p:spPr>
      </p:pic>
    </p:spTree>
    <p:extLst>
      <p:ext uri="{BB962C8B-B14F-4D97-AF65-F5344CB8AC3E}">
        <p14:creationId xmlns:p14="http://schemas.microsoft.com/office/powerpoint/2010/main" val="30211108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952D48-3D5F-DDF1-E45A-EB5DE4D4036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719" t="5953" r="5721" b="5612"/>
          <a:stretch>
            <a:fillRect/>
          </a:stretch>
        </p:blipFill>
        <p:spPr>
          <a:xfrm>
            <a:off x="3289954" y="641022"/>
            <a:ext cx="5005634" cy="5920033"/>
          </a:xfrm>
        </p:spPr>
      </p:pic>
    </p:spTree>
    <p:extLst>
      <p:ext uri="{BB962C8B-B14F-4D97-AF65-F5344CB8AC3E}">
        <p14:creationId xmlns:p14="http://schemas.microsoft.com/office/powerpoint/2010/main" val="180433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E38309-EEA0-BE6B-B951-9AEDFE6B0FA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024" t="5964" r="5422" b="6011"/>
          <a:stretch>
            <a:fillRect/>
          </a:stretch>
        </p:blipFill>
        <p:spPr>
          <a:xfrm>
            <a:off x="3440784" y="612743"/>
            <a:ext cx="5024486" cy="5844618"/>
          </a:xfrm>
        </p:spPr>
      </p:pic>
    </p:spTree>
    <p:extLst>
      <p:ext uri="{BB962C8B-B14F-4D97-AF65-F5344CB8AC3E}">
        <p14:creationId xmlns:p14="http://schemas.microsoft.com/office/powerpoint/2010/main" val="2701568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ACBE28-CFE5-EA00-6A0B-0901B85ACBD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5709" t="5840" r="5511" b="5487"/>
          <a:stretch>
            <a:fillRect/>
          </a:stretch>
        </p:blipFill>
        <p:spPr>
          <a:xfrm>
            <a:off x="3384222" y="518475"/>
            <a:ext cx="5213023" cy="6136850"/>
          </a:xfrm>
        </p:spPr>
      </p:pic>
    </p:spTree>
    <p:extLst>
      <p:ext uri="{BB962C8B-B14F-4D97-AF65-F5344CB8AC3E}">
        <p14:creationId xmlns:p14="http://schemas.microsoft.com/office/powerpoint/2010/main" val="25389681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827BD-C7CA-A027-658C-9B4BA4C8BD88}"/>
              </a:ext>
            </a:extLst>
          </p:cNvPr>
          <p:cNvSpPr>
            <a:spLocks noGrp="1"/>
          </p:cNvSpPr>
          <p:nvPr>
            <p:ph type="title"/>
          </p:nvPr>
        </p:nvSpPr>
        <p:spPr>
          <a:xfrm>
            <a:off x="838200" y="2693545"/>
            <a:ext cx="10515600" cy="1325563"/>
          </a:xfrm>
        </p:spPr>
        <p:txBody>
          <a:bodyPr>
            <a:normAutofit/>
          </a:bodyPr>
          <a:lstStyle/>
          <a:p>
            <a:pPr algn="ctr"/>
            <a:r>
              <a:rPr lang="en-IN" sz="6600" dirty="0">
                <a:latin typeface="Aptos Display" panose="020B0004020202020204" pitchFamily="34" charset="0"/>
              </a:rPr>
              <a:t>Thank You !!!</a:t>
            </a:r>
          </a:p>
        </p:txBody>
      </p:sp>
    </p:spTree>
    <p:extLst>
      <p:ext uri="{BB962C8B-B14F-4D97-AF65-F5344CB8AC3E}">
        <p14:creationId xmlns:p14="http://schemas.microsoft.com/office/powerpoint/2010/main" val="1768446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18871</TotalTime>
  <Words>4500</Words>
  <Application>Microsoft Office PowerPoint</Application>
  <PresentationFormat>Widescreen</PresentationFormat>
  <Paragraphs>1411</Paragraphs>
  <Slides>78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Aptos Display</vt:lpstr>
      <vt:lpstr>Arial</vt:lpstr>
      <vt:lpstr>Calibri</vt:lpstr>
      <vt:lpstr>Calibri Light</vt:lpstr>
      <vt:lpstr>Times New Roman</vt:lpstr>
      <vt:lpstr>Wingdings</vt:lpstr>
      <vt:lpstr>Office Theme</vt:lpstr>
      <vt:lpstr>Kadi Sarva Vishwavidyalaya</vt:lpstr>
      <vt:lpstr>Introduction :- </vt:lpstr>
      <vt:lpstr>Current / Existing System</vt:lpstr>
      <vt:lpstr>PowerPoint Presentation</vt:lpstr>
      <vt:lpstr>PowerPoint Presentation</vt:lpstr>
      <vt:lpstr>PowerPoint Presentation</vt:lpstr>
      <vt:lpstr>Proposed System(Modules, Features, Scopes)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Hardware and Software Specification</vt:lpstr>
      <vt:lpstr>PowerPoint Presentation</vt:lpstr>
      <vt:lpstr>PowerPoint Presentation</vt:lpstr>
      <vt:lpstr>PowerPoint Presentation</vt:lpstr>
      <vt:lpstr>Analysis</vt:lpstr>
      <vt:lpstr>PowerPoint Presentation</vt:lpstr>
      <vt:lpstr>Process Model :- </vt:lpstr>
      <vt:lpstr>PowerPoint Presentation</vt:lpstr>
      <vt:lpstr>Development Strategy</vt:lpstr>
      <vt:lpstr>Type of System :-</vt:lpstr>
      <vt:lpstr>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Screen/ Forms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Reports </vt:lpstr>
      <vt:lpstr>Reports </vt:lpstr>
      <vt:lpstr>PowerPoint Presentation</vt:lpstr>
      <vt:lpstr>PowerPoint Presentation</vt:lpstr>
      <vt:lpstr>Testing </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tanmay darji</dc:creator>
  <cp:lastModifiedBy>tanmay darji</cp:lastModifiedBy>
  <cp:revision>2</cp:revision>
  <dcterms:created xsi:type="dcterms:W3CDTF">2026-01-03T03:33:25Z</dcterms:created>
  <dcterms:modified xsi:type="dcterms:W3CDTF">2026-04-09T08:39:40Z</dcterms:modified>
</cp:coreProperties>
</file>